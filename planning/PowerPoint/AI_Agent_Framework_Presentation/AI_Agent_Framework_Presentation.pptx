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jpg" ContentType="image/jpeg"/>
  <Default Extension="gif" ContentType="image/gif"/>
  <Default Extension="svg" ContentType="image/svg+xml"/>
  <Default Extension="webp" ContentType="image/webp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1695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0" Type="http://schemas.openxmlformats.org/officeDocument/2006/relationships/theme" Target="theme/theme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ableStyles" Target="tableStyles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6203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9692640" y="-1097280"/>
            <a:ext cx="3840480" cy="3840480"/>
          </a:xfrm>
          <a:prstGeom prst="ellipse">
            <a:avLst/>
          </a:prstGeom>
          <a:gradFill>
            <a:gsLst>
              <a:gs pos="0">
                <a:srgbClr val="35C2FF"/>
              </a:gs>
              <a:gs pos="100000">
                <a:srgbClr val="33D6A6"/>
              </a:gs>
            </a:gsLst>
            <a:lin ang="2700000" scaled="1"/>
          </a:gradFill>
          <a:ln w="12700">
            <a:solidFill>
              <a:srgbClr val="35C2FF"/>
            </a:solidFill>
          </a:ln>
        </p:spPr>
      </p:sp>
      <p:sp>
        <p:nvSpPr>
          <p:cNvPr id="3" name="Shape 3"/>
          <p:cNvSpPr/>
          <p:nvPr/>
        </p:nvSpPr>
        <p:spPr>
          <a:xfrm>
            <a:off x="658368" y="658368"/>
            <a:ext cx="1234440" cy="123444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400" b="1" dirty="0">
                <a:solidFill>
                  <a:srgbClr val="A9B5C7"/>
                </a:solidFill>
              </a:rPr>
              <a:t>LOGO
TRƯỜNG / KHOA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48840" y="713232"/>
            <a:ext cx="7223760" cy="713232"/>
          </a:xfrm>
          <a:prstGeom prst="rect">
            <a:avLst/>
          </a:prstGeom>
        </p:spPr>
        <p:txBody>
          <a:bodyPr wrap="square"/>
          <a:lstStyle/>
          <a:p>
            <a:r>
              <a:rPr lang="en-US" sz="4300" b="1" dirty="0">
                <a:solidFill>
                  <a:srgbClr val="F4F7FB"/>
                </a:solidFill>
                <a:latin typeface="Aptos Display"/>
                <a:cs typeface="Aptos Display"/>
              </a:rPr>
              <a:t>AI Agent Framework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76272" y="1444752"/>
            <a:ext cx="6583680" cy="475488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dirty="0">
                <a:solidFill>
                  <a:srgbClr val="35C2FF"/>
                </a:solidFill>
              </a:rPr>
              <a:t>với Ollama và Gemini APIs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85416" y="2029968"/>
            <a:ext cx="6126480" cy="365760"/>
          </a:xfrm>
          <a:prstGeom prst="rect">
            <a:avLst/>
          </a:prstGeom>
        </p:spPr>
        <p:txBody>
          <a:bodyPr wrap="square"/>
          <a:lstStyle/>
          <a:p>
            <a:r>
              <a:rPr lang="en-US" sz="1700" dirty="0">
                <a:solidFill>
                  <a:srgbClr val="A9B5C7"/>
                </a:solidFill>
              </a:rPr>
              <a:t>Modern C++17 / 20 / 23 / 26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2743200"/>
            <a:ext cx="5623560" cy="56692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F5B942"/>
            </a:solidFill>
          </a:ln>
        </p:spPr>
        <p:txBody>
          <a:bodyPr wrap="square" anchor="ctr"/>
          <a:lstStyle/>
          <a:p>
            <a:pPr algn="l"/>
            <a:r>
              <a:rPr lang="en-US" sz="1800" b="1" dirty="0">
                <a:solidFill>
                  <a:srgbClr val="F5B942"/>
                </a:solidFill>
              </a:rPr>
              <a:t>Giảng viên: [Họ và tên]</a:t>
            </a:r>
          </a:p>
        </p:txBody>
      </p:sp>
      <p:sp>
        <p:nvSpPr>
          <p:cNvPr id="8" name="Shape 8"/>
          <p:cNvSpPr/>
          <p:nvPr/>
        </p:nvSpPr>
        <p:spPr>
          <a:xfrm>
            <a:off x="685800" y="3822192"/>
            <a:ext cx="3337560" cy="1078992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500" dirty="0">
                <a:solidFill>
                  <a:srgbClr val="F4F7FB"/>
                </a:solidFill>
              </a:rPr>
              <a:t>Role A
[Tên thành viên] · [MSSV]
Systems / Core</a:t>
            </a:r>
          </a:p>
        </p:txBody>
      </p:sp>
      <p:sp>
        <p:nvSpPr>
          <p:cNvPr id="9" name="Shape 9"/>
          <p:cNvSpPr/>
          <p:nvPr/>
        </p:nvSpPr>
        <p:spPr>
          <a:xfrm>
            <a:off x="4425696" y="3822192"/>
            <a:ext cx="3337560" cy="1078992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500" dirty="0">
                <a:solidFill>
                  <a:srgbClr val="F4F7FB"/>
                </a:solidFill>
              </a:rPr>
              <a:t>Role B
[Tên thành viên] · [MSSV]
Tools / Data</a:t>
            </a:r>
          </a:p>
        </p:txBody>
      </p:sp>
      <p:sp>
        <p:nvSpPr>
          <p:cNvPr id="10" name="Shape 10"/>
          <p:cNvSpPr/>
          <p:nvPr/>
        </p:nvSpPr>
        <p:spPr>
          <a:xfrm>
            <a:off x="8165592" y="3822192"/>
            <a:ext cx="3337560" cy="1078992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500" dirty="0">
                <a:solidFill>
                  <a:srgbClr val="F4F7FB"/>
                </a:solidFill>
              </a:rPr>
              <a:t>Role C
[Tên thành viên] · [MSSV]
Eval / Infra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1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31" dur="indefinite" nodeType="mainSeq"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Bài trình bày đi từ kiến trúc đến bằng chứng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1792" y="1143000"/>
            <a:ext cx="10515600" cy="411480"/>
          </a:xfrm>
          <a:prstGeom prst="rect">
            <a:avLst/>
          </a:prstGeom>
        </p:spPr>
        <p:txBody>
          <a:bodyPr wrap="square"/>
          <a:lstStyle/>
          <a:p>
            <a:r>
              <a:rPr lang="en-US" sz="1800" dirty="0">
                <a:solidFill>
                  <a:srgbClr val="A9B5C7"/>
                </a:solidFill>
              </a:rPr>
              <a:t>Mỗi phần trả lời một câu hỏi và kết thúc bằng evidence có thể kiểm tra.</a:t>
            </a:r>
          </a:p>
        </p:txBody>
      </p:sp>
      <p:sp>
        <p:nvSpPr>
          <p:cNvPr id="4" name="Shape 4"/>
          <p:cNvSpPr/>
          <p:nvPr/>
        </p:nvSpPr>
        <p:spPr>
          <a:xfrm>
            <a:off x="2542032" y="2395728"/>
            <a:ext cx="475488" cy="438912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5" name="Shape 5"/>
          <p:cNvSpPr/>
          <p:nvPr/>
        </p:nvSpPr>
        <p:spPr>
          <a:xfrm>
            <a:off x="4864608" y="2395728"/>
            <a:ext cx="475488" cy="438912"/>
          </a:xfrm>
          <a:prstGeom prst="rightArrow">
            <a:avLst/>
          </a:prstGeom>
          <a:solidFill>
            <a:srgbClr val="33D6A6"/>
          </a:solidFill>
          <a:ln w="12700">
            <a:solidFill>
              <a:srgbClr val="33D6A6"/>
            </a:solidFill>
          </a:ln>
        </p:spPr>
      </p:sp>
      <p:sp>
        <p:nvSpPr>
          <p:cNvPr id="6" name="Shape 6"/>
          <p:cNvSpPr/>
          <p:nvPr/>
        </p:nvSpPr>
        <p:spPr>
          <a:xfrm>
            <a:off x="7187184" y="2395728"/>
            <a:ext cx="475488" cy="438912"/>
          </a:xfrm>
          <a:prstGeom prst="rightArrow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</p:spPr>
      </p:sp>
      <p:sp>
        <p:nvSpPr>
          <p:cNvPr id="7" name="Shape 7"/>
          <p:cNvSpPr/>
          <p:nvPr/>
        </p:nvSpPr>
        <p:spPr>
          <a:xfrm>
            <a:off x="9509760" y="2395728"/>
            <a:ext cx="475488" cy="438912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8" name="Shape 8"/>
          <p:cNvSpPr/>
          <p:nvPr/>
        </p:nvSpPr>
        <p:spPr>
          <a:xfrm>
            <a:off x="502920" y="1874520"/>
            <a:ext cx="1993392" cy="146304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4F7FB"/>
                </a:solidFill>
              </a:rPr>
              <a:t>AGENT CORE
ReAct · history
error contract</a:t>
            </a:r>
          </a:p>
        </p:txBody>
      </p:sp>
      <p:sp>
        <p:nvSpPr>
          <p:cNvPr id="9" name="Shape 9"/>
          <p:cNvSpPr/>
          <p:nvPr/>
        </p:nvSpPr>
        <p:spPr>
          <a:xfrm>
            <a:off x="2825496" y="1874520"/>
            <a:ext cx="1993392" cy="146304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4F7FB"/>
                </a:solidFill>
              </a:rPr>
              <a:t>OOP &amp; C++
4 patterns
ownership</a:t>
            </a:r>
          </a:p>
        </p:txBody>
      </p:sp>
      <p:sp>
        <p:nvSpPr>
          <p:cNvPr id="10" name="Shape 10"/>
          <p:cNvSpPr/>
          <p:nvPr/>
        </p:nvSpPr>
        <p:spPr>
          <a:xfrm>
            <a:off x="5148072" y="1874520"/>
            <a:ext cx="1993392" cy="146304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4F7FB"/>
                </a:solidFill>
              </a:rPr>
              <a:t>TOOLS &amp; VECTOR
Registry · SQLite
semantic search</a:t>
            </a:r>
          </a:p>
        </p:txBody>
      </p:sp>
      <p:sp>
        <p:nvSpPr>
          <p:cNvPr id="11" name="Shape 11"/>
          <p:cNvSpPr/>
          <p:nvPr/>
        </p:nvSpPr>
        <p:spPr>
          <a:xfrm>
            <a:off x="7470648" y="1874520"/>
            <a:ext cx="1993392" cy="146304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4F7FB"/>
                </a:solidFill>
              </a:rPr>
              <a:t>EVALUATION
Harness · trace
Multi-agent</a:t>
            </a:r>
          </a:p>
        </p:txBody>
      </p:sp>
      <p:sp>
        <p:nvSpPr>
          <p:cNvPr id="12" name="Shape 12"/>
          <p:cNvSpPr/>
          <p:nvPr/>
        </p:nvSpPr>
        <p:spPr>
          <a:xfrm>
            <a:off x="9793224" y="1874520"/>
            <a:ext cx="1901952" cy="146304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600" b="1" dirty="0">
                <a:solidFill>
                  <a:srgbClr val="F4F7FB"/>
                </a:solidFill>
              </a:rPr>
              <a:t>EVIDENCE
CTest 5/5
Benchmark 7/10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43000" y="4343400"/>
            <a:ext cx="9875520" cy="59436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300" b="1" dirty="0">
                <a:solidFill>
                  <a:srgbClr val="33D6A6"/>
                </a:solidFill>
              </a:rPr>
              <a:t>Code chạy được  →  Failure được giải thích  →  Requirement có bằng chứng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35C2FF"/>
                </a:solidFill>
              </a:rPr>
              <a:t>Role A · Systems / Core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2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37" dur="indefinite" nodeType="mainSeq">
                <p:childTnLst>
                  <p:par>
                    <p:cTn id="35" fill="hold">
                      <p:stCondLst>
                        <p:cond delay="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22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6" dur="26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" dur="26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2" dur="26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5" dur="26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7" dur="42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42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Sáu khái niệm giúp đọc toàn bộ hệ thống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907792" y="1810512"/>
            <a:ext cx="457200" cy="566928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3000" b="1" dirty="0">
                <a:solidFill>
                  <a:srgbClr val="35C2FF"/>
                </a:solidFill>
              </a:rPr>
              <a:t>+</a:t>
            </a:r>
          </a:p>
        </p:txBody>
      </p:sp>
      <p:sp>
        <p:nvSpPr>
          <p:cNvPr id="4" name="Shape 4"/>
          <p:cNvSpPr/>
          <p:nvPr/>
        </p:nvSpPr>
        <p:spPr>
          <a:xfrm>
            <a:off x="5623560" y="1920240"/>
            <a:ext cx="594360" cy="457200"/>
          </a:xfrm>
          <a:prstGeom prst="rightArrow">
            <a:avLst/>
          </a:prstGeom>
          <a:solidFill>
            <a:srgbClr val="33D6A6"/>
          </a:solidFill>
          <a:ln w="12700">
            <a:solidFill>
              <a:srgbClr val="33D6A6"/>
            </a:solidFill>
          </a:ln>
        </p:spPr>
      </p:sp>
      <p:sp>
        <p:nvSpPr>
          <p:cNvPr id="5" name="Shape 5"/>
          <p:cNvSpPr/>
          <p:nvPr/>
        </p:nvSpPr>
        <p:spPr>
          <a:xfrm>
            <a:off x="8394192" y="1920240"/>
            <a:ext cx="594360" cy="457200"/>
          </a:xfrm>
          <a:prstGeom prst="rightArrow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8119872" y="1143000"/>
            <a:ext cx="1234440" cy="2286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000" dirty="0">
                <a:solidFill>
                  <a:srgbClr val="F5B942"/>
                </a:solidFill>
              </a:rPr>
              <a:t>vận hành theo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1417320"/>
            <a:ext cx="2240280" cy="15087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LLM
Mô hình sinh quyết định hoặc câu trả lời</a:t>
            </a:r>
          </a:p>
        </p:txBody>
      </p:sp>
      <p:sp>
        <p:nvSpPr>
          <p:cNvPr id="8" name="Shape 8"/>
          <p:cNvSpPr/>
          <p:nvPr/>
        </p:nvSpPr>
        <p:spPr>
          <a:xfrm>
            <a:off x="3456432" y="1417320"/>
            <a:ext cx="2240280" cy="15087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TOOL
Chức năng có input, output và lỗi rõ ràng</a:t>
            </a:r>
          </a:p>
        </p:txBody>
      </p:sp>
      <p:sp>
        <p:nvSpPr>
          <p:cNvPr id="9" name="Shape 9"/>
          <p:cNvSpPr/>
          <p:nvPr/>
        </p:nvSpPr>
        <p:spPr>
          <a:xfrm>
            <a:off x="6227064" y="1417320"/>
            <a:ext cx="2240280" cy="15087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AI AGENT
LLM + vòng điều khiển + trạng thái + tools</a:t>
            </a:r>
          </a:p>
        </p:txBody>
      </p:sp>
      <p:sp>
        <p:nvSpPr>
          <p:cNvPr id="10" name="Shape 10"/>
          <p:cNvSpPr/>
          <p:nvPr/>
        </p:nvSpPr>
        <p:spPr>
          <a:xfrm>
            <a:off x="8997696" y="1417320"/>
            <a:ext cx="2468880" cy="15087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ReAct
Think → Act → Observe rồi lặp hoặc kết thúc</a:t>
            </a:r>
          </a:p>
        </p:txBody>
      </p:sp>
      <p:sp>
        <p:nvSpPr>
          <p:cNvPr id="11" name="Shape 11"/>
          <p:cNvSpPr/>
          <p:nvPr/>
        </p:nvSpPr>
        <p:spPr>
          <a:xfrm>
            <a:off x="5184648" y="4206240"/>
            <a:ext cx="731520" cy="475488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600200" y="3611880"/>
            <a:ext cx="3566160" cy="16459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4F7FB"/>
                </a:solidFill>
              </a:rPr>
              <a:t>HARNESS
Bộ chạy task, gọi evaluator và tổng hợp kết quả</a:t>
            </a:r>
          </a:p>
        </p:txBody>
      </p:sp>
      <p:sp>
        <p:nvSpPr>
          <p:cNvPr id="13" name="Shape 13"/>
          <p:cNvSpPr/>
          <p:nvPr/>
        </p:nvSpPr>
        <p:spPr>
          <a:xfrm>
            <a:off x="5943600" y="3611880"/>
            <a:ext cx="4480560" cy="16459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4F7FB"/>
                </a:solidFill>
              </a:rPr>
              <a:t>TRAJECTORY
Nhật ký từng bước: action, arguments, result, latency và token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35C2FF"/>
                </a:solidFill>
              </a:rPr>
              <a:t>Role A · Systems / Core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3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5" dur="indefinite" nodeType="mainSeq"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2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42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42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42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Từ chatbot sang Agent có khả năng hành động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1792" y="1170432"/>
            <a:ext cx="10241280" cy="438912"/>
          </a:xfrm>
          <a:prstGeom prst="rect">
            <a:avLst/>
          </a:prstGeom>
        </p:spPr>
        <p:txBody>
          <a:bodyPr wrap="square"/>
          <a:lstStyle/>
          <a:p>
            <a:r>
              <a:rPr lang="en-US" sz="1800" dirty="0">
                <a:solidFill>
                  <a:srgbClr val="A9B5C7"/>
                </a:solidFill>
              </a:rPr>
              <a:t>LLM đơn thuần chỉ sinh văn bản — Agent biến quyết định thành hành động có kiểm chứng.</a:t>
            </a:r>
          </a:p>
        </p:txBody>
      </p:sp>
      <p:sp>
        <p:nvSpPr>
          <p:cNvPr id="4" name="Shape 4"/>
          <p:cNvSpPr/>
          <p:nvPr/>
        </p:nvSpPr>
        <p:spPr>
          <a:xfrm>
            <a:off x="685800" y="2240280"/>
            <a:ext cx="2057400" cy="12801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THINK
LLM chọn bước tiếp theo</a:t>
            </a:r>
          </a:p>
        </p:txBody>
      </p:sp>
      <p:sp>
        <p:nvSpPr>
          <p:cNvPr id="5" name="Shape 5"/>
          <p:cNvSpPr/>
          <p:nvPr/>
        </p:nvSpPr>
        <p:spPr>
          <a:xfrm>
            <a:off x="2898648" y="2606040"/>
            <a:ext cx="594360" cy="50292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6" name="Shape 6"/>
          <p:cNvSpPr/>
          <p:nvPr/>
        </p:nvSpPr>
        <p:spPr>
          <a:xfrm>
            <a:off x="3657600" y="2240280"/>
            <a:ext cx="2057400" cy="12801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ACT
Framework chạy tool</a:t>
            </a:r>
          </a:p>
        </p:txBody>
      </p:sp>
      <p:sp>
        <p:nvSpPr>
          <p:cNvPr id="7" name="Shape 7"/>
          <p:cNvSpPr/>
          <p:nvPr/>
        </p:nvSpPr>
        <p:spPr>
          <a:xfrm>
            <a:off x="5870448" y="2606040"/>
            <a:ext cx="594360" cy="502920"/>
          </a:xfrm>
          <a:prstGeom prst="rightArrow">
            <a:avLst/>
          </a:prstGeom>
          <a:solidFill>
            <a:srgbClr val="33D6A6"/>
          </a:solidFill>
          <a:ln w="12700">
            <a:solidFill>
              <a:srgbClr val="33D6A6"/>
            </a:solidFill>
          </a:ln>
        </p:spPr>
      </p:sp>
      <p:sp>
        <p:nvSpPr>
          <p:cNvPr id="8" name="Shape 8"/>
          <p:cNvSpPr/>
          <p:nvPr/>
        </p:nvSpPr>
        <p:spPr>
          <a:xfrm>
            <a:off x="6629400" y="2240280"/>
            <a:ext cx="2057400" cy="12801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OBSERVE
Kết quả vào history</a:t>
            </a:r>
          </a:p>
        </p:txBody>
      </p:sp>
      <p:sp>
        <p:nvSpPr>
          <p:cNvPr id="9" name="Shape 9"/>
          <p:cNvSpPr/>
          <p:nvPr/>
        </p:nvSpPr>
        <p:spPr>
          <a:xfrm>
            <a:off x="8842248" y="2606040"/>
            <a:ext cx="594360" cy="502920"/>
          </a:xfrm>
          <a:prstGeom prst="rightArrow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</p:spPr>
      </p:sp>
      <p:sp>
        <p:nvSpPr>
          <p:cNvPr id="10" name="Shape 10"/>
          <p:cNvSpPr/>
          <p:nvPr/>
        </p:nvSpPr>
        <p:spPr>
          <a:xfrm>
            <a:off x="9601200" y="2240280"/>
            <a:ext cx="1920240" cy="12801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CONTINUE
hoặc FINISH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011680" y="4572000"/>
            <a:ext cx="8138160" cy="59436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400" b="1" dirty="0">
                <a:solidFill>
                  <a:srgbClr val="33D6A6"/>
                </a:solidFill>
              </a:rPr>
              <a:t>Mở rộng được  ·  Lỗi rõ ràng  ·  Đánh giá tái lập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A · Systems / Core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4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34" dur="indefinite" nodeType="mainSeq"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2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8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4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2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4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4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Các tầng được tách bằng contract rõ ràng</a:t>
            </a:r>
          </a:p>
        </p:txBody>
      </p:sp>
      <p:sp>
        <p:nvSpPr>
          <p:cNvPr id="3" name="Shape 3"/>
          <p:cNvSpPr/>
          <p:nvPr/>
        </p:nvSpPr>
        <p:spPr>
          <a:xfrm>
            <a:off x="731520" y="1600200"/>
            <a:ext cx="2011680" cy="34747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LLM CLIENT
GeminiClient
OllamaClient
text + image
config + usage</a:t>
            </a:r>
          </a:p>
        </p:txBody>
      </p:sp>
      <p:sp>
        <p:nvSpPr>
          <p:cNvPr id="4" name="Shape 4"/>
          <p:cNvSpPr/>
          <p:nvPr/>
        </p:nvSpPr>
        <p:spPr>
          <a:xfrm>
            <a:off x="2880360" y="2971800"/>
            <a:ext cx="548640" cy="50292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5" name="Shape 5"/>
          <p:cNvSpPr/>
          <p:nvPr/>
        </p:nvSpPr>
        <p:spPr>
          <a:xfrm>
            <a:off x="3566160" y="1600200"/>
            <a:ext cx="2011680" cy="34747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AGENT CORE
AgentLoop
LoopDetector
SkillLoader
ReAct + history</a:t>
            </a:r>
          </a:p>
        </p:txBody>
      </p:sp>
      <p:sp>
        <p:nvSpPr>
          <p:cNvPr id="6" name="Shape 6"/>
          <p:cNvSpPr/>
          <p:nvPr/>
        </p:nvSpPr>
        <p:spPr>
          <a:xfrm>
            <a:off x="5715000" y="2971800"/>
            <a:ext cx="548640" cy="502920"/>
          </a:xfrm>
          <a:prstGeom prst="rightArrow">
            <a:avLst/>
          </a:prstGeom>
          <a:solidFill>
            <a:srgbClr val="33D6A6"/>
          </a:solidFill>
          <a:ln w="12700">
            <a:solidFill>
              <a:srgbClr val="33D6A6"/>
            </a:solidFill>
          </a:ln>
        </p:spPr>
      </p:sp>
      <p:sp>
        <p:nvSpPr>
          <p:cNvPr id="7" name="Shape 7"/>
          <p:cNvSpPr/>
          <p:nvPr/>
        </p:nvSpPr>
        <p:spPr>
          <a:xfrm>
            <a:off x="6400800" y="1600200"/>
            <a:ext cx="2011680" cy="34747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TOOLS
ToolRegistry
Factory + policy
Concrete tools
ToolError</a:t>
            </a:r>
          </a:p>
        </p:txBody>
      </p:sp>
      <p:sp>
        <p:nvSpPr>
          <p:cNvPr id="8" name="Shape 8"/>
          <p:cNvSpPr/>
          <p:nvPr/>
        </p:nvSpPr>
        <p:spPr>
          <a:xfrm>
            <a:off x="8549640" y="2971800"/>
            <a:ext cx="548640" cy="502920"/>
          </a:xfrm>
          <a:prstGeom prst="rightArrow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</p:spPr>
      </p:sp>
      <p:sp>
        <p:nvSpPr>
          <p:cNvPr id="9" name="Shape 9"/>
          <p:cNvSpPr/>
          <p:nvPr/>
        </p:nvSpPr>
        <p:spPr>
          <a:xfrm>
            <a:off x="9235440" y="1600200"/>
            <a:ext cx="2194560" cy="34747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EVALUATION
HarnessRunner
Evaluator Strategy
Trajectory export
StepHook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17320" y="5376672"/>
            <a:ext cx="9326880" cy="438912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900" dirty="0">
                <a:solidFill>
                  <a:srgbClr val="A9B5C7"/>
                </a:solidFill>
              </a:rPr>
              <a:t>Agent phát sự kiện; Harness quan sát mà không tạo dependency ngược.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A · Systems / Core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5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AgentLoop điều phối LLM, tool và history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508760"/>
            <a:ext cx="5074920" cy="429768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l"/>
            <a:r>
              <a:rPr lang="en-US" sz="1900" dirty="0">
                <a:solidFill>
                  <a:srgbClr val="F4F7FB"/>
                </a:solidFill>
              </a:rPr>
              <a:t>LLM CLIENT
• Text và ảnh base64 trong một interface
• Endpoint, model, temperature
• Max tokens và timeout từ config
• Gemini / Ollama cùng contract</a:t>
            </a:r>
          </a:p>
        </p:txBody>
      </p:sp>
      <p:sp>
        <p:nvSpPr>
          <p:cNvPr id="4" name="Shape 4"/>
          <p:cNvSpPr/>
          <p:nvPr/>
        </p:nvSpPr>
        <p:spPr>
          <a:xfrm>
            <a:off x="6172200" y="1508760"/>
            <a:ext cx="5303520" cy="429768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l"/>
            <a:r>
              <a:rPr lang="en-US" sz="1900" dirty="0">
                <a:solidFill>
                  <a:srgbClr val="F4F7FB"/>
                </a:solidFill>
              </a:rPr>
              <a:t>PARSER + HISTORY
• JSON và fenced JSON
• Escaped arguments không bị cắt
• Role: system → user → assistant → tool
• JSON hỏng → PARSE_ERROR, không chạy tool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A · Systems / Core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6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13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300" b="1" dirty="0">
                <a:solidFill>
                  <a:srgbClr val="F4F7FB"/>
                </a:solidFill>
              </a:rPr>
              <a:t>Loop Detector và Skill System giữ Agent đúng hướng</a:t>
            </a:r>
          </a:p>
        </p:txBody>
      </p:sp>
      <p:sp>
        <p:nvSpPr>
          <p:cNvPr id="3" name="Shape 3"/>
          <p:cNvSpPr/>
          <p:nvPr/>
        </p:nvSpPr>
        <p:spPr>
          <a:xfrm>
            <a:off x="914400" y="1920240"/>
            <a:ext cx="1828800" cy="1828800"/>
          </a:xfrm>
          <a:prstGeom prst="ellipse">
            <a:avLst/>
          </a:prstGeom>
          <a:solidFill>
            <a:srgbClr val="162033"/>
          </a:solidFill>
          <a:ln w="2540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F4F7FB"/>
                </a:solidFill>
              </a:rPr>
              <a:t>Action
history</a:t>
            </a:r>
          </a:p>
        </p:txBody>
      </p:sp>
      <p:sp>
        <p:nvSpPr>
          <p:cNvPr id="4" name="Shape 4"/>
          <p:cNvSpPr/>
          <p:nvPr/>
        </p:nvSpPr>
        <p:spPr>
          <a:xfrm>
            <a:off x="2926080" y="2542032"/>
            <a:ext cx="822960" cy="50292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5" name="Shape 5"/>
          <p:cNvSpPr/>
          <p:nvPr/>
        </p:nvSpPr>
        <p:spPr>
          <a:xfrm>
            <a:off x="3931920" y="1600200"/>
            <a:ext cx="2743200" cy="251460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rgbClr val="F4F7FB"/>
                </a:solidFill>
              </a:rPr>
              <a:t>LOOP DETECTOR
Generic repeat
Ping-pong A ↔ B
Warning → Critical</a:t>
            </a:r>
          </a:p>
        </p:txBody>
      </p:sp>
      <p:sp>
        <p:nvSpPr>
          <p:cNvPr id="6" name="Shape 6"/>
          <p:cNvSpPr/>
          <p:nvPr/>
        </p:nvSpPr>
        <p:spPr>
          <a:xfrm>
            <a:off x="6858000" y="2542032"/>
            <a:ext cx="822960" cy="502920"/>
          </a:xfrm>
          <a:prstGeom prst="rightArrow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</p:spPr>
      </p:sp>
      <p:sp>
        <p:nvSpPr>
          <p:cNvPr id="7" name="Shape 7"/>
          <p:cNvSpPr/>
          <p:nvPr/>
        </p:nvSpPr>
        <p:spPr>
          <a:xfrm>
            <a:off x="7909560" y="1600200"/>
            <a:ext cx="3337560" cy="251460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rgbClr val="F4F7FB"/>
                </a:solidFill>
              </a:rPr>
              <a:t>SKILL LOADER
error_recovery
step_verifier
task_planner
Chọn theo keyword mỗi run</a:t>
            </a:r>
          </a:p>
        </p:txBody>
      </p:sp>
      <p:sp>
        <p:nvSpPr>
          <p:cNvPr id="8" name="Shape 8"/>
          <p:cNvSpPr/>
          <p:nvPr/>
        </p:nvSpPr>
        <p:spPr>
          <a:xfrm>
            <a:off x="1965960" y="4736592"/>
            <a:ext cx="3474720" cy="7315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FF6B6B"/>
            </a:solidFill>
          </a:ln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FF6B6B"/>
                </a:solidFill>
              </a:rPr>
              <a:t>Critical → dừng an toàn</a:t>
            </a:r>
          </a:p>
        </p:txBody>
      </p:sp>
      <p:sp>
        <p:nvSpPr>
          <p:cNvPr id="9" name="Shape 9"/>
          <p:cNvSpPr/>
          <p:nvPr/>
        </p:nvSpPr>
        <p:spPr>
          <a:xfrm>
            <a:off x="6766560" y="4736592"/>
            <a:ext cx="3474720" cy="7315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33D6A6"/>
                </a:solidFill>
              </a:rPr>
              <a:t>Không khớp → task_planner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A · Systems / Core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7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16" dur="indefinite" nodeType="mainSeq"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53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450" fill="hold"/>
                                        <p:tgtEl>
                                          <p:spTgt spid="3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Bốn design pattern nằm trên production path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554480"/>
            <a:ext cx="2578608" cy="3566160"/>
          </a:xfrm>
          <a:prstGeom prst="roundRect">
            <a:avLst/>
          </a:prstGeom>
          <a:solidFill>
            <a:srgbClr val="162033"/>
          </a:solidFill>
          <a:ln w="2032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rgbClr val="F4F7FB"/>
                </a:solidFill>
              </a:rPr>
              <a:t>STRATEGY
Evaluator
Tool
Đổi implementation
không đổi caller</a:t>
            </a:r>
          </a:p>
        </p:txBody>
      </p:sp>
      <p:sp>
        <p:nvSpPr>
          <p:cNvPr id="4" name="Shape 4"/>
          <p:cNvSpPr/>
          <p:nvPr/>
        </p:nvSpPr>
        <p:spPr>
          <a:xfrm>
            <a:off x="3429000" y="1554480"/>
            <a:ext cx="2578608" cy="3566160"/>
          </a:xfrm>
          <a:prstGeom prst="roundRect">
            <a:avLst/>
          </a:prstGeom>
          <a:solidFill>
            <a:srgbClr val="162033"/>
          </a:solidFill>
          <a:ln w="2032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rgbClr val="F4F7FB"/>
                </a:solidFill>
              </a:rPr>
              <a:t>TEMPLATE METHOD
AgentLoop::run()
Skeleton cố định,
primitive có thể override</a:t>
            </a:r>
          </a:p>
        </p:txBody>
      </p:sp>
      <p:sp>
        <p:nvSpPr>
          <p:cNvPr id="5" name="Shape 5"/>
          <p:cNvSpPr/>
          <p:nvPr/>
        </p:nvSpPr>
        <p:spPr>
          <a:xfrm>
            <a:off x="6172200" y="1554480"/>
            <a:ext cx="2578608" cy="3566160"/>
          </a:xfrm>
          <a:prstGeom prst="roundRect">
            <a:avLst/>
          </a:prstGeom>
          <a:solidFill>
            <a:srgbClr val="162033"/>
          </a:solidFill>
          <a:ln w="2032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rgbClr val="F4F7FB"/>
                </a:solidFill>
              </a:rPr>
              <a:t>REGISTRY / FACTORY
ToolRegistry
Lookup instance
Tạo instance mới</a:t>
            </a:r>
          </a:p>
        </p:txBody>
      </p:sp>
      <p:sp>
        <p:nvSpPr>
          <p:cNvPr id="6" name="Shape 6"/>
          <p:cNvSpPr/>
          <p:nvPr/>
        </p:nvSpPr>
        <p:spPr>
          <a:xfrm>
            <a:off x="8915400" y="1554480"/>
            <a:ext cx="2578608" cy="3566160"/>
          </a:xfrm>
          <a:prstGeom prst="roundRect">
            <a:avLst/>
          </a:prstGeom>
          <a:solidFill>
            <a:srgbClr val="162033"/>
          </a:solidFill>
          <a:ln w="2032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rgbClr val="F4F7FB"/>
                </a:solidFill>
              </a:rPr>
              <a:t>OBSERVER / HOOK
StepHook
Harness ghi trace,
Agent không biết Harness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34440" y="5440680"/>
            <a:ext cx="9692640" cy="384048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800" dirty="0">
                <a:solidFill>
                  <a:srgbClr val="A9B5C7"/>
                </a:solidFill>
              </a:rPr>
              <a:t>Pattern được chứng minh bằng luồng chạy và focused tests — không chỉ nằm trong sơ đồ.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B · Tools / Data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8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88136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Modern C++ làm rõ ownership và contract</a:t>
            </a:r>
          </a:p>
        </p:txBody>
      </p:sp>
      <p:sp>
        <p:nvSpPr>
          <p:cNvPr id="3" name="Shape 3"/>
          <p:cNvSpPr/>
          <p:nvPr/>
        </p:nvSpPr>
        <p:spPr>
          <a:xfrm>
            <a:off x="1051560" y="2880360"/>
            <a:ext cx="9966960" cy="18288"/>
          </a:xfrm>
          <a:prstGeom prst="line">
            <a:avLst/>
          </a:prstGeom>
          <a:solidFill>
            <a:srgbClr val="35C2FF"/>
          </a:solidFill>
          <a:ln w="25400">
            <a:solidFill>
              <a:srgbClr val="35C2FF"/>
            </a:solidFill>
          </a:ln>
        </p:spPr>
      </p:sp>
      <p:sp>
        <p:nvSpPr>
          <p:cNvPr id="4" name="Shape 4"/>
          <p:cNvSpPr/>
          <p:nvPr/>
        </p:nvSpPr>
        <p:spPr>
          <a:xfrm>
            <a:off x="914400" y="2633472"/>
            <a:ext cx="502920" cy="502920"/>
          </a:xfrm>
          <a:prstGeom prst="ellipse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5" name="Shape 5"/>
          <p:cNvSpPr/>
          <p:nvPr/>
        </p:nvSpPr>
        <p:spPr>
          <a:xfrm>
            <a:off x="3977640" y="2633472"/>
            <a:ext cx="502920" cy="502920"/>
          </a:xfrm>
          <a:prstGeom prst="ellipse">
            <a:avLst/>
          </a:prstGeom>
          <a:solidFill>
            <a:srgbClr val="33D6A6"/>
          </a:solidFill>
          <a:ln w="12700">
            <a:solidFill>
              <a:srgbClr val="33D6A6"/>
            </a:solidFill>
          </a:ln>
        </p:spPr>
      </p:sp>
      <p:sp>
        <p:nvSpPr>
          <p:cNvPr id="6" name="Shape 6"/>
          <p:cNvSpPr/>
          <p:nvPr/>
        </p:nvSpPr>
        <p:spPr>
          <a:xfrm>
            <a:off x="7040880" y="2633472"/>
            <a:ext cx="502920" cy="502920"/>
          </a:xfrm>
          <a:prstGeom prst="ellipse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</p:spPr>
      </p:sp>
      <p:sp>
        <p:nvSpPr>
          <p:cNvPr id="7" name="Shape 7"/>
          <p:cNvSpPr/>
          <p:nvPr/>
        </p:nvSpPr>
        <p:spPr>
          <a:xfrm>
            <a:off x="10104120" y="2633472"/>
            <a:ext cx="502920" cy="50292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594360" y="1645920"/>
            <a:ext cx="1143000" cy="4572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500" b="1" dirty="0">
                <a:solidFill>
                  <a:srgbClr val="35C2FF"/>
                </a:solidFill>
              </a:rPr>
              <a:t>C++17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20040" y="3337560"/>
            <a:ext cx="1828800" cy="128016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smart pointers
filesystem
variant · optional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57600" y="1645920"/>
            <a:ext cx="1143000" cy="4572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500" b="1" dirty="0">
                <a:solidFill>
                  <a:srgbClr val="33D6A6"/>
                </a:solidFill>
              </a:rPr>
              <a:t>C++20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37560" y="3337560"/>
            <a:ext cx="1828800" cy="100584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ranges
views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720840" y="1645920"/>
            <a:ext cx="1143000" cy="4572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500" b="1" dirty="0">
                <a:solidFill>
                  <a:srgbClr val="F5B942"/>
                </a:solidFill>
              </a:rPr>
              <a:t>C++23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00800" y="3337560"/>
            <a:ext cx="1828800" cy="100584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std::expected
std::println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784080" y="1645920"/>
            <a:ext cx="1143000" cy="45720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500" b="1" dirty="0">
                <a:solidFill>
                  <a:srgbClr val="FF6B6B"/>
                </a:solidFill>
              </a:rPr>
              <a:t>C++26</a:t>
            </a:r>
          </a:p>
        </p:txBody>
      </p:sp>
      <p:sp>
        <p:nvSpPr>
          <p:cNvPr id="15" name="Shape 15"/>
          <p:cNvSpPr/>
          <p:nvPr/>
        </p:nvSpPr>
        <p:spPr>
          <a:xfrm>
            <a:off x="8915400" y="3337560"/>
            <a:ext cx="2971800" cy="123444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FF6B6B"/>
            </a:solidFill>
          </a:ln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F4F7FB"/>
                </a:solidFill>
                <a:latin typeface="Cascadia Mono"/>
                <a:cs typeface="Cascadia Mono"/>
              </a:rPr>
              <a:t>= delete("owns worker threads")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52560" y="4800600"/>
            <a:ext cx="2697480" cy="347472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400" dirty="0">
                <a:solidFill>
                  <a:srgbClr val="A9B5C7"/>
                </a:solidFill>
              </a:rPr>
              <a:t>Không claim std::inplace_vector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B · Tools /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9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300" b="1" dirty="0">
                <a:solidFill>
                  <a:srgbClr val="F4F7FB"/>
                </a:solidFill>
              </a:rPr>
              <a:t>ToolRegistry mở rộng tool mà không sửa Agent Core</a:t>
            </a:r>
          </a:p>
        </p:txBody>
      </p:sp>
      <p:sp>
        <p:nvSpPr>
          <p:cNvPr id="3" name="Shape 3"/>
          <p:cNvSpPr/>
          <p:nvPr/>
        </p:nvSpPr>
        <p:spPr>
          <a:xfrm>
            <a:off x="4663440" y="2194560"/>
            <a:ext cx="2834640" cy="1920240"/>
          </a:xfrm>
          <a:prstGeom prst="ellipse">
            <a:avLst/>
          </a:prstGeom>
          <a:solidFill>
            <a:srgbClr val="162033"/>
          </a:solidFill>
          <a:ln w="2540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F4F7FB"/>
                </a:solidFill>
              </a:rPr>
              <a:t>ToolRegistry
lookup · create · catalog</a:t>
            </a:r>
          </a:p>
        </p:txBody>
      </p:sp>
      <p:sp>
        <p:nvSpPr>
          <p:cNvPr id="4" name="Shape 4"/>
          <p:cNvSpPr/>
          <p:nvPr/>
        </p:nvSpPr>
        <p:spPr>
          <a:xfrm>
            <a:off x="2423160" y="2697480"/>
            <a:ext cx="1554480" cy="50292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2651760" y="2395728"/>
            <a:ext cx="960120" cy="256032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300" dirty="0">
                <a:solidFill>
                  <a:srgbClr val="35C2FF"/>
                </a:solidFill>
              </a:rPr>
              <a:t>register</a:t>
            </a:r>
          </a:p>
        </p:txBody>
      </p:sp>
      <p:sp>
        <p:nvSpPr>
          <p:cNvPr id="6" name="Shape 6"/>
          <p:cNvSpPr/>
          <p:nvPr/>
        </p:nvSpPr>
        <p:spPr>
          <a:xfrm>
            <a:off x="594360" y="2194560"/>
            <a:ext cx="2057400" cy="15087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F4F7FB"/>
                </a:solidFill>
              </a:rPr>
              <a:t>Concrete Tool
name · description
execute(arguments)</a:t>
            </a:r>
          </a:p>
        </p:txBody>
      </p:sp>
      <p:sp>
        <p:nvSpPr>
          <p:cNvPr id="7" name="Shape 7"/>
          <p:cNvSpPr/>
          <p:nvPr/>
        </p:nvSpPr>
        <p:spPr>
          <a:xfrm>
            <a:off x="8183880" y="2697480"/>
            <a:ext cx="1554480" cy="502920"/>
          </a:xfrm>
          <a:prstGeom prst="rightArrow">
            <a:avLst/>
          </a:prstGeom>
          <a:solidFill>
            <a:srgbClr val="33D6A6"/>
          </a:solidFill>
          <a:ln w="12700">
            <a:solidFill>
              <a:srgbClr val="33D6A6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8412480" y="2395728"/>
            <a:ext cx="960120" cy="256032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300" dirty="0">
                <a:solidFill>
                  <a:srgbClr val="33D6A6"/>
                </a:solidFill>
              </a:rPr>
              <a:t>catalog</a:t>
            </a:r>
          </a:p>
        </p:txBody>
      </p:sp>
      <p:sp>
        <p:nvSpPr>
          <p:cNvPr id="9" name="Shape 9"/>
          <p:cNvSpPr/>
          <p:nvPr/>
        </p:nvSpPr>
        <p:spPr>
          <a:xfrm>
            <a:off x="9509760" y="2194560"/>
            <a:ext cx="2057400" cy="15087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F4F7FB"/>
                </a:solidFill>
              </a:rPr>
              <a:t>System Prompt
Tên và mô tả
khớp runtime</a:t>
            </a:r>
          </a:p>
        </p:txBody>
      </p:sp>
      <p:sp>
        <p:nvSpPr>
          <p:cNvPr id="10" name="Shape 10"/>
          <p:cNvSpPr/>
          <p:nvPr/>
        </p:nvSpPr>
        <p:spPr>
          <a:xfrm>
            <a:off x="960120" y="4663440"/>
            <a:ext cx="2880360" cy="6858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5B942"/>
                </a:solidFill>
              </a:rPr>
              <a:t>Alias normalization</a:t>
            </a:r>
          </a:p>
        </p:txBody>
      </p:sp>
      <p:sp>
        <p:nvSpPr>
          <p:cNvPr id="11" name="Shape 11"/>
          <p:cNvSpPr/>
          <p:nvPr/>
        </p:nvSpPr>
        <p:spPr>
          <a:xfrm>
            <a:off x="4663440" y="4663440"/>
            <a:ext cx="2880360" cy="6858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FF6B6B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F6B6B"/>
                </a:solidFill>
              </a:rPr>
              <a:t>Allow / deny policy</a:t>
            </a:r>
          </a:p>
        </p:txBody>
      </p:sp>
      <p:sp>
        <p:nvSpPr>
          <p:cNvPr id="12" name="Shape 12"/>
          <p:cNvSpPr/>
          <p:nvPr/>
        </p:nvSpPr>
        <p:spPr>
          <a:xfrm>
            <a:off x="8366760" y="4663440"/>
            <a:ext cx="2880360" cy="6858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35C2FF"/>
                </a:solidFill>
              </a:rPr>
              <a:t>Fresh-instance factory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B · Tools / Data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10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53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Bộ tool đáp ứng requirement bắt buộc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325880"/>
            <a:ext cx="2743200" cy="411480"/>
          </a:xfrm>
          <a:prstGeom prst="rect">
            <a:avLst/>
          </a:prstGeom>
        </p:spPr>
        <p:txBody>
          <a:bodyPr wrap="square"/>
          <a:lstStyle/>
          <a:p>
            <a:r>
              <a:rPr lang="en-US" sz="2200" b="1" dirty="0">
                <a:solidFill>
                  <a:srgbClr val="35C2FF"/>
                </a:solidFill>
              </a:rPr>
              <a:t>5 nhóm bắt buộc</a:t>
            </a:r>
          </a:p>
        </p:txBody>
      </p:sp>
      <p:sp>
        <p:nvSpPr>
          <p:cNvPr id="4" name="Shape 4"/>
          <p:cNvSpPr/>
          <p:nvPr/>
        </p:nvSpPr>
        <p:spPr>
          <a:xfrm>
            <a:off x="685800" y="1874520"/>
            <a:ext cx="1920240" cy="114300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Shell
execute_shell</a:t>
            </a:r>
          </a:p>
        </p:txBody>
      </p:sp>
      <p:sp>
        <p:nvSpPr>
          <p:cNvPr id="5" name="Shape 5"/>
          <p:cNvSpPr/>
          <p:nvPr/>
        </p:nvSpPr>
        <p:spPr>
          <a:xfrm>
            <a:off x="2788920" y="1874520"/>
            <a:ext cx="1920240" cy="114300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File
read · write · append</a:t>
            </a:r>
          </a:p>
        </p:txBody>
      </p:sp>
      <p:sp>
        <p:nvSpPr>
          <p:cNvPr id="6" name="Shape 6"/>
          <p:cNvSpPr/>
          <p:nvPr/>
        </p:nvSpPr>
        <p:spPr>
          <a:xfrm>
            <a:off x="4892040" y="1874520"/>
            <a:ext cx="1920240" cy="114300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Web Search
DuckDuckGo / Wiki</a:t>
            </a:r>
          </a:p>
        </p:txBody>
      </p:sp>
      <p:sp>
        <p:nvSpPr>
          <p:cNvPr id="7" name="Shape 7"/>
          <p:cNvSpPr/>
          <p:nvPr/>
        </p:nvSpPr>
        <p:spPr>
          <a:xfrm>
            <a:off x="6995160" y="1874520"/>
            <a:ext cx="1920240" cy="114300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600" dirty="0">
                <a:solidFill>
                  <a:srgbClr val="F4F7FB"/>
                </a:solidFill>
              </a:rPr>
              <a:t>Memory
memory_save
memory_search</a:t>
            </a:r>
          </a:p>
        </p:txBody>
      </p:sp>
      <p:sp>
        <p:nvSpPr>
          <p:cNvPr id="8" name="Shape 8"/>
          <p:cNvSpPr/>
          <p:nvPr/>
        </p:nvSpPr>
        <p:spPr>
          <a:xfrm>
            <a:off x="9098280" y="1874520"/>
            <a:ext cx="1920240" cy="114300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dirty="0">
                <a:solidFill>
                  <a:srgbClr val="F4F7FB"/>
                </a:solidFill>
              </a:rPr>
              <a:t>Calculator
biểu thức số học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3657600"/>
            <a:ext cx="2743200" cy="411480"/>
          </a:xfrm>
          <a:prstGeom prst="rect">
            <a:avLst/>
          </a:prstGeom>
        </p:spPr>
        <p:txBody>
          <a:bodyPr wrap="square"/>
          <a:lstStyle/>
          <a:p>
            <a:r>
              <a:rPr lang="en-US" sz="2200" b="1" dirty="0">
                <a:solidFill>
                  <a:srgbClr val="F5B942"/>
                </a:solidFill>
              </a:rPr>
              <a:t>3 tool bổ sung</a:t>
            </a:r>
          </a:p>
        </p:txBody>
      </p:sp>
      <p:sp>
        <p:nvSpPr>
          <p:cNvPr id="10" name="Shape 10"/>
          <p:cNvSpPr/>
          <p:nvPr/>
        </p:nvSpPr>
        <p:spPr>
          <a:xfrm>
            <a:off x="685800" y="4251960"/>
            <a:ext cx="2423160" cy="91440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900" b="1" dirty="0">
                <a:solidFill>
                  <a:srgbClr val="F4F7FB"/>
                </a:solidFill>
              </a:rPr>
              <a:t>Time</a:t>
            </a:r>
          </a:p>
        </p:txBody>
      </p:sp>
      <p:sp>
        <p:nvSpPr>
          <p:cNvPr id="11" name="Shape 11"/>
          <p:cNvSpPr/>
          <p:nvPr/>
        </p:nvSpPr>
        <p:spPr>
          <a:xfrm>
            <a:off x="3429000" y="4251960"/>
            <a:ext cx="2423160" cy="91440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900" b="1" dirty="0">
                <a:solidFill>
                  <a:srgbClr val="F4F7FB"/>
                </a:solidFill>
              </a:rPr>
              <a:t>JSON</a:t>
            </a:r>
          </a:p>
        </p:txBody>
      </p:sp>
      <p:sp>
        <p:nvSpPr>
          <p:cNvPr id="12" name="Shape 12"/>
          <p:cNvSpPr/>
          <p:nvPr/>
        </p:nvSpPr>
        <p:spPr>
          <a:xfrm>
            <a:off x="6172200" y="4251960"/>
            <a:ext cx="2423160" cy="91440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900" b="1" dirty="0">
                <a:solidFill>
                  <a:srgbClr val="F4F7FB"/>
                </a:solidFill>
              </a:rPr>
              <a:t>Git</a:t>
            </a:r>
          </a:p>
        </p:txBody>
      </p:sp>
      <p:sp>
        <p:nvSpPr>
          <p:cNvPr id="13" name="Shape 13"/>
          <p:cNvSpPr/>
          <p:nvPr/>
        </p:nvSpPr>
        <p:spPr>
          <a:xfrm>
            <a:off x="8915400" y="4251960"/>
            <a:ext cx="2148840" cy="91440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FF6B6B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F6B6B"/>
                </a:solidFill>
              </a:rPr>
              <a:t>Failure → ToolError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B · Tools / 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11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3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969264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Vector Search thay thế tìm kiếm từ khóa</a:t>
            </a:r>
          </a:p>
        </p:txBody>
      </p:sp>
      <p:sp>
        <p:nvSpPr>
          <p:cNvPr id="3" name="Shape 3"/>
          <p:cNvSpPr/>
          <p:nvPr/>
        </p:nvSpPr>
        <p:spPr>
          <a:xfrm>
            <a:off x="10241280" y="475488"/>
            <a:ext cx="1325880" cy="438912"/>
          </a:xfrm>
          <a:prstGeom prst="roundRect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500" b="1" dirty="0">
                <a:solidFill>
                  <a:srgbClr val="0B1220"/>
                </a:solidFill>
              </a:rPr>
              <a:t>BONUS +4</a:t>
            </a:r>
          </a:p>
        </p:txBody>
      </p:sp>
      <p:sp>
        <p:nvSpPr>
          <p:cNvPr id="4" name="Shape 4"/>
          <p:cNvSpPr/>
          <p:nvPr/>
        </p:nvSpPr>
        <p:spPr>
          <a:xfrm>
            <a:off x="548640" y="1828800"/>
            <a:ext cx="1783080" cy="201168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F4F7FB"/>
                </a:solidFill>
              </a:rPr>
              <a:t>1
Văn bản</a:t>
            </a:r>
          </a:p>
        </p:txBody>
      </p:sp>
      <p:sp>
        <p:nvSpPr>
          <p:cNvPr id="5" name="Shape 5"/>
          <p:cNvSpPr/>
          <p:nvPr/>
        </p:nvSpPr>
        <p:spPr>
          <a:xfrm>
            <a:off x="2395728" y="2542032"/>
            <a:ext cx="475488" cy="50292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6" name="Shape 6"/>
          <p:cNvSpPr/>
          <p:nvPr/>
        </p:nvSpPr>
        <p:spPr>
          <a:xfrm>
            <a:off x="2926080" y="1828800"/>
            <a:ext cx="1874520" cy="201168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4F7FB"/>
                </a:solidFill>
              </a:rPr>
              <a:t>2
Ollama
nomic-embed-text</a:t>
            </a:r>
          </a:p>
        </p:txBody>
      </p:sp>
      <p:sp>
        <p:nvSpPr>
          <p:cNvPr id="7" name="Shape 7"/>
          <p:cNvSpPr/>
          <p:nvPr/>
        </p:nvSpPr>
        <p:spPr>
          <a:xfrm>
            <a:off x="4864608" y="2542032"/>
            <a:ext cx="475488" cy="50292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8" name="Shape 8"/>
          <p:cNvSpPr/>
          <p:nvPr/>
        </p:nvSpPr>
        <p:spPr>
          <a:xfrm>
            <a:off x="5394960" y="1828800"/>
            <a:ext cx="1783080" cy="201168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4F7FB"/>
                </a:solidFill>
              </a:rPr>
              <a:t>3
Embedding
vector</a:t>
            </a:r>
          </a:p>
        </p:txBody>
      </p:sp>
      <p:sp>
        <p:nvSpPr>
          <p:cNvPr id="9" name="Shape 9"/>
          <p:cNvSpPr/>
          <p:nvPr/>
        </p:nvSpPr>
        <p:spPr>
          <a:xfrm>
            <a:off x="7242048" y="2542032"/>
            <a:ext cx="475488" cy="502920"/>
          </a:xfrm>
          <a:prstGeom prst="rightArrow">
            <a:avLst/>
          </a:prstGeom>
          <a:solidFill>
            <a:srgbClr val="33D6A6"/>
          </a:solidFill>
          <a:ln w="12700">
            <a:solidFill>
              <a:srgbClr val="33D6A6"/>
            </a:solidFill>
          </a:ln>
        </p:spPr>
      </p:sp>
      <p:sp>
        <p:nvSpPr>
          <p:cNvPr id="10" name="Shape 10"/>
          <p:cNvSpPr/>
          <p:nvPr/>
        </p:nvSpPr>
        <p:spPr>
          <a:xfrm>
            <a:off x="7772400" y="1828800"/>
            <a:ext cx="1783080" cy="201168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4F7FB"/>
                </a:solidFill>
              </a:rPr>
              <a:t>4
SQLite
text + vector</a:t>
            </a:r>
          </a:p>
        </p:txBody>
      </p:sp>
      <p:sp>
        <p:nvSpPr>
          <p:cNvPr id="11" name="Shape 11"/>
          <p:cNvSpPr/>
          <p:nvPr/>
        </p:nvSpPr>
        <p:spPr>
          <a:xfrm>
            <a:off x="9619488" y="2542032"/>
            <a:ext cx="475488" cy="502920"/>
          </a:xfrm>
          <a:prstGeom prst="rightArrow">
            <a:avLst/>
          </a:prstGeom>
          <a:solidFill>
            <a:srgbClr val="33D6A6"/>
          </a:solidFill>
          <a:ln w="12700">
            <a:solidFill>
              <a:srgbClr val="33D6A6"/>
            </a:solidFill>
          </a:ln>
        </p:spPr>
      </p:sp>
      <p:sp>
        <p:nvSpPr>
          <p:cNvPr id="12" name="Shape 12"/>
          <p:cNvSpPr/>
          <p:nvPr/>
        </p:nvSpPr>
        <p:spPr>
          <a:xfrm>
            <a:off x="10149840" y="1828800"/>
            <a:ext cx="1508760" cy="201168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4F7FB"/>
                </a:solidFill>
              </a:rPr>
              <a:t>5
Cosine
similarity</a:t>
            </a:r>
          </a:p>
        </p:txBody>
      </p:sp>
      <p:sp>
        <p:nvSpPr>
          <p:cNvPr id="13" name="Shape 13"/>
          <p:cNvSpPr/>
          <p:nvPr/>
        </p:nvSpPr>
        <p:spPr>
          <a:xfrm>
            <a:off x="777240" y="4572000"/>
            <a:ext cx="4754880" cy="77724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2100" b="1" dirty="0">
                <a:solidFill>
                  <a:srgbClr val="33D6A6"/>
                </a:solidFill>
              </a:rPr>
              <a:t>Production: OllamaEmbedder</a:t>
            </a:r>
          </a:p>
        </p:txBody>
      </p:sp>
      <p:sp>
        <p:nvSpPr>
          <p:cNvPr id="14" name="Shape 14"/>
          <p:cNvSpPr/>
          <p:nvPr/>
        </p:nvSpPr>
        <p:spPr>
          <a:xfrm>
            <a:off x="6400800" y="4343400"/>
            <a:ext cx="4983480" cy="1234440"/>
          </a:xfrm>
          <a:prstGeom prst="roundRect">
            <a:avLst/>
          </a:prstGeom>
          <a:solidFill>
            <a:srgbClr val="162033"/>
          </a:solidFill>
          <a:ln w="1651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5B942"/>
                </a:solidFill>
              </a:rPr>
              <a:t>Offline test: HashEmbedder
Không tự fallback trong production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B · Tools / Data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12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3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3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8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3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3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afterEffect">
                                  <p:stCondLst>
                                    <p:cond delay="9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43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78992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Harness biến một lần chạy thành evidence</a:t>
            </a:r>
          </a:p>
        </p:txBody>
      </p:sp>
      <p:sp>
        <p:nvSpPr>
          <p:cNvPr id="3" name="Shape 3"/>
          <p:cNvSpPr/>
          <p:nvPr/>
        </p:nvSpPr>
        <p:spPr>
          <a:xfrm>
            <a:off x="594360" y="1874520"/>
            <a:ext cx="1691640" cy="1325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SETUP
Dọn artifact</a:t>
            </a:r>
          </a:p>
        </p:txBody>
      </p:sp>
      <p:sp>
        <p:nvSpPr>
          <p:cNvPr id="4" name="Shape 4"/>
          <p:cNvSpPr/>
          <p:nvPr/>
        </p:nvSpPr>
        <p:spPr>
          <a:xfrm>
            <a:off x="2350008" y="2286000"/>
            <a:ext cx="502920" cy="50292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5" name="Shape 5"/>
          <p:cNvSpPr/>
          <p:nvPr/>
        </p:nvSpPr>
        <p:spPr>
          <a:xfrm>
            <a:off x="2907792" y="1874520"/>
            <a:ext cx="1691640" cy="1325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RUN
AgentLoop</a:t>
            </a:r>
          </a:p>
        </p:txBody>
      </p:sp>
      <p:sp>
        <p:nvSpPr>
          <p:cNvPr id="6" name="Shape 6"/>
          <p:cNvSpPr/>
          <p:nvPr/>
        </p:nvSpPr>
        <p:spPr>
          <a:xfrm>
            <a:off x="4663440" y="2286000"/>
            <a:ext cx="502920" cy="502920"/>
          </a:xfrm>
          <a:prstGeom prst="rightArrow">
            <a:avLst/>
          </a:prstGeom>
          <a:solidFill>
            <a:srgbClr val="33D6A6"/>
          </a:solidFill>
          <a:ln w="12700">
            <a:solidFill>
              <a:srgbClr val="33D6A6"/>
            </a:solidFill>
          </a:ln>
        </p:spPr>
      </p:sp>
      <p:sp>
        <p:nvSpPr>
          <p:cNvPr id="7" name="Shape 7"/>
          <p:cNvSpPr/>
          <p:nvPr/>
        </p:nvSpPr>
        <p:spPr>
          <a:xfrm>
            <a:off x="5221224" y="1874520"/>
            <a:ext cx="1691640" cy="1325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EVALUATE
Hậu điều kiện</a:t>
            </a:r>
          </a:p>
        </p:txBody>
      </p:sp>
      <p:sp>
        <p:nvSpPr>
          <p:cNvPr id="8" name="Shape 8"/>
          <p:cNvSpPr/>
          <p:nvPr/>
        </p:nvSpPr>
        <p:spPr>
          <a:xfrm>
            <a:off x="6976872" y="2286000"/>
            <a:ext cx="502920" cy="502920"/>
          </a:xfrm>
          <a:prstGeom prst="rightArrow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</p:spPr>
      </p:sp>
      <p:sp>
        <p:nvSpPr>
          <p:cNvPr id="9" name="Shape 9"/>
          <p:cNvSpPr/>
          <p:nvPr/>
        </p:nvSpPr>
        <p:spPr>
          <a:xfrm>
            <a:off x="7534656" y="1874520"/>
            <a:ext cx="1691640" cy="1325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RECORD
Trajectory</a:t>
            </a:r>
          </a:p>
        </p:txBody>
      </p:sp>
      <p:sp>
        <p:nvSpPr>
          <p:cNvPr id="10" name="Shape 10"/>
          <p:cNvSpPr/>
          <p:nvPr/>
        </p:nvSpPr>
        <p:spPr>
          <a:xfrm>
            <a:off x="9290304" y="2286000"/>
            <a:ext cx="502920" cy="50292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11" name="Shape 11"/>
          <p:cNvSpPr/>
          <p:nvPr/>
        </p:nvSpPr>
        <p:spPr>
          <a:xfrm>
            <a:off x="9848088" y="1874520"/>
            <a:ext cx="1737360" cy="132588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F4F7FB"/>
                </a:solidFill>
              </a:rPr>
              <a:t>CLEANUP
Kết thúc sạch</a:t>
            </a:r>
          </a:p>
        </p:txBody>
      </p:sp>
      <p:sp>
        <p:nvSpPr>
          <p:cNvPr id="12" name="Shape 12"/>
          <p:cNvSpPr/>
          <p:nvPr/>
        </p:nvSpPr>
        <p:spPr>
          <a:xfrm>
            <a:off x="1097280" y="4160520"/>
            <a:ext cx="2926080" cy="9601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2500" b="1" dirty="0">
                <a:solidFill>
                  <a:srgbClr val="35C2FF"/>
                </a:solidFill>
              </a:rPr>
              <a:t>4 SIMPLE</a:t>
            </a:r>
          </a:p>
        </p:txBody>
      </p:sp>
      <p:sp>
        <p:nvSpPr>
          <p:cNvPr id="13" name="Shape 13"/>
          <p:cNvSpPr/>
          <p:nvPr/>
        </p:nvSpPr>
        <p:spPr>
          <a:xfrm>
            <a:off x="4617720" y="4160520"/>
            <a:ext cx="2926080" cy="9601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2500" b="1" dirty="0">
                <a:solidFill>
                  <a:srgbClr val="33D6A6"/>
                </a:solidFill>
              </a:rPr>
              <a:t>4 MEDIUM</a:t>
            </a:r>
          </a:p>
        </p:txBody>
      </p:sp>
      <p:sp>
        <p:nvSpPr>
          <p:cNvPr id="14" name="Shape 14"/>
          <p:cNvSpPr/>
          <p:nvPr/>
        </p:nvSpPr>
        <p:spPr>
          <a:xfrm>
            <a:off x="8138160" y="4160520"/>
            <a:ext cx="2926080" cy="96012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2500" b="1" dirty="0">
                <a:solidFill>
                  <a:srgbClr val="F5B942"/>
                </a:solidFill>
              </a:rPr>
              <a:t>2 HARD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874520" y="5440680"/>
            <a:ext cx="8412480" cy="384048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800" dirty="0">
                <a:solidFill>
                  <a:srgbClr val="A9B5C7"/>
                </a:solidFill>
              </a:rPr>
              <a:t>Success rate đo model thật — không phải unit-test score.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C · Eval / Infra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13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0" presetClass="entr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fill="hold" grpId="0" nodeType="afterEffect">
                                  <p:stCondLst>
                                    <p:cond delay="8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109728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300" b="1" dirty="0">
                <a:solidFill>
                  <a:srgbClr val="F4F7FB"/>
                </a:solidFill>
              </a:rPr>
              <a:t>Trajectory giải thích vì sao task PASS hoặc FAIL</a:t>
            </a:r>
          </a:p>
        </p:txBody>
      </p:sp>
      <p:sp>
        <p:nvSpPr>
          <p:cNvPr id="3" name="Shape 3"/>
          <p:cNvSpPr/>
          <p:nvPr/>
        </p:nvSpPr>
        <p:spPr>
          <a:xfrm>
            <a:off x="685800" y="1417320"/>
            <a:ext cx="3246120" cy="41605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l"/>
            <a:r>
              <a:rPr lang="en-US" sz="1800" dirty="0">
                <a:solidFill>
                  <a:srgbClr val="F4F7FB"/>
                </a:solidFill>
              </a:rPr>
              <a:t>EVALUATOR STRATEGY
KeywordEvaluator
Nội dung có từ khóa đúng?
FunctionalEvaluator
File và hậu điều kiện có thật?</a:t>
            </a:r>
          </a:p>
        </p:txBody>
      </p:sp>
      <p:sp>
        <p:nvSpPr>
          <p:cNvPr id="4" name="Shape 4"/>
          <p:cNvSpPr/>
          <p:nvPr/>
        </p:nvSpPr>
        <p:spPr>
          <a:xfrm>
            <a:off x="4160520" y="2971800"/>
            <a:ext cx="777240" cy="54864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5" name="Shape 5"/>
          <p:cNvSpPr/>
          <p:nvPr/>
        </p:nvSpPr>
        <p:spPr>
          <a:xfrm>
            <a:off x="5166360" y="1417320"/>
            <a:ext cx="6309360" cy="41605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l"/>
            <a:r>
              <a:rPr lang="en-US" sz="1800" dirty="0">
                <a:solidFill>
                  <a:srgbClr val="F4F7FB"/>
                </a:solidFill>
              </a:rPr>
              <a:t>TRAJECTORY JSON
✓ action và tool name
✓ arguments và result
✓ success và latency
✓ token usage khi provider cung cấp
✓ final answer
Final answer được ghi lại nhưng không tính là tool step.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C · Eval / Infra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14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13" dur="indefinite" nodeType="mainSeq"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2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969264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400" b="1" dirty="0">
                <a:solidFill>
                  <a:srgbClr val="F4F7FB"/>
                </a:solidFill>
              </a:rPr>
              <a:t>Hai worker phối hợp qua message queue</a:t>
            </a:r>
          </a:p>
        </p:txBody>
      </p:sp>
      <p:sp>
        <p:nvSpPr>
          <p:cNvPr id="3" name="Shape 3"/>
          <p:cNvSpPr/>
          <p:nvPr/>
        </p:nvSpPr>
        <p:spPr>
          <a:xfrm>
            <a:off x="10241280" y="475488"/>
            <a:ext cx="1325880" cy="438912"/>
          </a:xfrm>
          <a:prstGeom prst="roundRect">
            <a:avLst/>
          </a:prstGeom>
          <a:solidFill>
            <a:srgbClr val="F5B942"/>
          </a:solidFill>
          <a:ln w="1270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500" b="1" dirty="0">
                <a:solidFill>
                  <a:srgbClr val="0B1220"/>
                </a:solidFill>
              </a:rPr>
              <a:t>BONUS +3</a:t>
            </a:r>
          </a:p>
        </p:txBody>
      </p:sp>
      <p:sp>
        <p:nvSpPr>
          <p:cNvPr id="4" name="Shape 4"/>
          <p:cNvSpPr/>
          <p:nvPr/>
        </p:nvSpPr>
        <p:spPr>
          <a:xfrm>
            <a:off x="685800" y="2057400"/>
            <a:ext cx="2148840" cy="182880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F4F7FB"/>
                </a:solidFill>
              </a:rPr>
              <a:t>HarnessRunner
Chia task
Tổng hợp report</a:t>
            </a:r>
          </a:p>
        </p:txBody>
      </p:sp>
      <p:sp>
        <p:nvSpPr>
          <p:cNvPr id="5" name="Shape 5"/>
          <p:cNvSpPr/>
          <p:nvPr/>
        </p:nvSpPr>
        <p:spPr>
          <a:xfrm>
            <a:off x="2971800" y="2697480"/>
            <a:ext cx="822960" cy="50292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6" name="Shape 6"/>
          <p:cNvSpPr/>
          <p:nvPr/>
        </p:nvSpPr>
        <p:spPr>
          <a:xfrm>
            <a:off x="3931920" y="1691640"/>
            <a:ext cx="2880360" cy="256032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rgbClr val="F4F7FB"/>
                </a:solidFill>
              </a:rPr>
              <a:t>MultiAgentRunner
std::queue
mutex
condition_variable
stop + join</a:t>
            </a:r>
          </a:p>
        </p:txBody>
      </p:sp>
      <p:sp>
        <p:nvSpPr>
          <p:cNvPr id="7" name="Shape 7"/>
          <p:cNvSpPr/>
          <p:nvPr/>
        </p:nvSpPr>
        <p:spPr>
          <a:xfrm>
            <a:off x="6949440" y="2057400"/>
            <a:ext cx="731520" cy="457200"/>
          </a:xfrm>
          <a:prstGeom prst="rightArrow">
            <a:avLst/>
          </a:prstGeom>
          <a:solidFill>
            <a:srgbClr val="33D6A6"/>
          </a:solidFill>
          <a:ln w="12700">
            <a:solidFill>
              <a:srgbClr val="33D6A6"/>
            </a:solidFill>
          </a:ln>
        </p:spPr>
      </p:sp>
      <p:sp>
        <p:nvSpPr>
          <p:cNvPr id="8" name="Shape 8"/>
          <p:cNvSpPr/>
          <p:nvPr/>
        </p:nvSpPr>
        <p:spPr>
          <a:xfrm>
            <a:off x="6949440" y="3429000"/>
            <a:ext cx="731520" cy="457200"/>
          </a:xfrm>
          <a:prstGeom prst="rightArrow">
            <a:avLst/>
          </a:prstGeom>
          <a:solidFill>
            <a:srgbClr val="35C2FF"/>
          </a:solidFill>
          <a:ln w="12700">
            <a:solidFill>
              <a:srgbClr val="35C2FF"/>
            </a:solidFill>
          </a:ln>
        </p:spPr>
      </p:sp>
      <p:sp>
        <p:nvSpPr>
          <p:cNvPr id="9" name="Shape 9"/>
          <p:cNvSpPr/>
          <p:nvPr/>
        </p:nvSpPr>
        <p:spPr>
          <a:xfrm>
            <a:off x="7818120" y="1371600"/>
            <a:ext cx="3566160" cy="15087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33D6A6"/>
                </a:solidFill>
              </a:rPr>
              <a:t>CALCULATOR WORKER
47 × 23</a:t>
            </a:r>
          </a:p>
        </p:txBody>
      </p:sp>
      <p:sp>
        <p:nvSpPr>
          <p:cNvPr id="10" name="Shape 10"/>
          <p:cNvSpPr/>
          <p:nvPr/>
        </p:nvSpPr>
        <p:spPr>
          <a:xfrm>
            <a:off x="7818120" y="3246120"/>
            <a:ext cx="3566160" cy="1508760"/>
          </a:xfrm>
          <a:prstGeom prst="roundRect">
            <a:avLst/>
          </a:prstGeom>
          <a:solidFill>
            <a:srgbClr val="162033"/>
          </a:solidFill>
          <a:ln w="1905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35C2FF"/>
                </a:solidFill>
              </a:rPr>
              <a:t>RESEARCHER WORKER
Tìm thủ đô Nhật Bản</a:t>
            </a:r>
          </a:p>
        </p:txBody>
      </p:sp>
      <p:sp>
        <p:nvSpPr>
          <p:cNvPr id="11" name="Shape 11"/>
          <p:cNvSpPr/>
          <p:nvPr/>
        </p:nvSpPr>
        <p:spPr>
          <a:xfrm>
            <a:off x="3474720" y="4983480"/>
            <a:ext cx="5212080" cy="685800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800" b="1" dirty="0">
                <a:solidFill>
                  <a:srgbClr val="33D6A6"/>
                </a:solidFill>
              </a:rPr>
              <a:t>Hai kết quả → report; worker failure không biến thành PASS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C · Eval / Infra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15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53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8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48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21B2E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4360" y="411480"/>
            <a:ext cx="6858000" cy="685800"/>
          </a:xfrm>
          <a:prstGeom prst="rect">
            <a:avLst/>
          </a:prstGeom>
        </p:spPr>
        <p:txBody>
          <a:bodyPr wrap="square"/>
          <a:lstStyle/>
          <a:p>
            <a:r>
              <a:rPr lang="en-US" sz="3600" b="1" dirty="0">
                <a:solidFill>
                  <a:srgbClr val="F4F7FB"/>
                </a:solidFill>
              </a:rPr>
              <a:t>Benchmark thật đạt 7/10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543800" y="530352"/>
            <a:ext cx="3977640" cy="384048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800" dirty="0">
                <a:solidFill>
                  <a:srgbClr val="35C2FF"/>
                </a:solidFill>
              </a:rPr>
              <a:t>Gemini · gemma-4-31b-it</a:t>
            </a:r>
          </a:p>
        </p:txBody>
      </p:sp>
      <p:sp>
        <p:nvSpPr>
          <p:cNvPr id="4" name="Shape 4"/>
          <p:cNvSpPr/>
          <p:nvPr/>
        </p:nvSpPr>
        <p:spPr>
          <a:xfrm>
            <a:off x="685800" y="1508760"/>
            <a:ext cx="3383280" cy="3337560"/>
          </a:xfrm>
          <a:prstGeom prst="roundRect">
            <a:avLst/>
          </a:prstGeom>
          <a:solidFill>
            <a:srgbClr val="162033"/>
          </a:solidFill>
          <a:ln w="2540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3000" b="1" dirty="0">
                <a:solidFill>
                  <a:srgbClr val="33D6A6"/>
                </a:solidFill>
              </a:rPr>
              <a:t>7 / 10
FINAL PASS
70%</a:t>
            </a:r>
          </a:p>
        </p:txBody>
      </p:sp>
      <p:sp>
        <p:nvSpPr>
          <p:cNvPr id="5" name="Shape 5"/>
          <p:cNvSpPr/>
          <p:nvPr/>
        </p:nvSpPr>
        <p:spPr>
          <a:xfrm>
            <a:off x="4389120" y="1508760"/>
            <a:ext cx="3383280" cy="3337560"/>
          </a:xfrm>
          <a:prstGeom prst="roundRect">
            <a:avLst/>
          </a:prstGeom>
          <a:solidFill>
            <a:srgbClr val="162033"/>
          </a:solidFill>
          <a:ln w="2540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2800" b="1" dirty="0">
                <a:solidFill>
                  <a:srgbClr val="35C2FF"/>
                </a:solidFill>
              </a:rPr>
              <a:t>70%
EVALUATOR
SCORE</a:t>
            </a:r>
          </a:p>
        </p:txBody>
      </p:sp>
      <p:sp>
        <p:nvSpPr>
          <p:cNvPr id="6" name="Shape 6"/>
          <p:cNvSpPr/>
          <p:nvPr/>
        </p:nvSpPr>
        <p:spPr>
          <a:xfrm>
            <a:off x="8092440" y="1508760"/>
            <a:ext cx="3383280" cy="3337560"/>
          </a:xfrm>
          <a:prstGeom prst="roundRect">
            <a:avLst/>
          </a:prstGeom>
          <a:solidFill>
            <a:srgbClr val="162033"/>
          </a:solidFill>
          <a:ln w="2540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2800" b="1" dirty="0">
                <a:solidFill>
                  <a:srgbClr val="F5B942"/>
                </a:solidFill>
              </a:rPr>
              <a:t>90%
ACTION-LEVEL
SCORE</a:t>
            </a:r>
          </a:p>
        </p:txBody>
      </p:sp>
      <p:sp>
        <p:nvSpPr>
          <p:cNvPr id="7" name="Shape 7"/>
          <p:cNvSpPr/>
          <p:nvPr/>
        </p:nvSpPr>
        <p:spPr>
          <a:xfrm>
            <a:off x="685800" y="5166360"/>
            <a:ext cx="10972800" cy="658368"/>
          </a:xfrm>
          <a:prstGeom prst="roundRect">
            <a:avLst/>
          </a:prstGeom>
          <a:solidFill>
            <a:srgbClr val="162033"/>
          </a:solidFill>
          <a:ln w="1524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1800" dirty="0">
                <a:solidFill>
                  <a:srgbClr val="F4F7FB"/>
                </a:solidFill>
              </a:rPr>
              <a:t>run_20260820_002933_100  ·  source: llm  ·  không dùng fixture fallback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C · Eval / Infra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16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16" dur="indefinite" nodeType="mainSeq"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53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50" fill="hold"/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53" presetClass="entr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" dur="550" fill="hold"/>
                                        <p:tgtEl>
                                          <p:spTgt spid="5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53" presetClass="entr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550" fill="hold"/>
                                        <p:tgtEl>
                                          <p:spTgt spid="6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100000">
              <a:srgbClr val="16203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594360"/>
            <a:ext cx="10789920" cy="77724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3600" b="1" dirty="0">
                <a:solidFill>
                  <a:srgbClr val="F4F7FB"/>
                </a:solidFill>
              </a:rPr>
              <a:t>Requirement kỹ thuật đã có bằng chứng kiểm thử</a:t>
            </a:r>
          </a:p>
        </p:txBody>
      </p:sp>
      <p:sp>
        <p:nvSpPr>
          <p:cNvPr id="3" name="Shape 3"/>
          <p:cNvSpPr/>
          <p:nvPr/>
        </p:nvSpPr>
        <p:spPr>
          <a:xfrm>
            <a:off x="777240" y="1828800"/>
            <a:ext cx="3337560" cy="1417320"/>
          </a:xfrm>
          <a:prstGeom prst="roundRect">
            <a:avLst/>
          </a:prstGeom>
          <a:solidFill>
            <a:srgbClr val="162033"/>
          </a:solidFill>
          <a:ln w="2159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2500" b="1" dirty="0">
                <a:solidFill>
                  <a:srgbClr val="33D6A6"/>
                </a:solidFill>
              </a:rPr>
              <a:t>CTest
5 / 5 PASS</a:t>
            </a:r>
          </a:p>
        </p:txBody>
      </p:sp>
      <p:sp>
        <p:nvSpPr>
          <p:cNvPr id="4" name="Shape 4"/>
          <p:cNvSpPr/>
          <p:nvPr/>
        </p:nvSpPr>
        <p:spPr>
          <a:xfrm>
            <a:off x="4434840" y="1828800"/>
            <a:ext cx="3337560" cy="1417320"/>
          </a:xfrm>
          <a:prstGeom prst="roundRect">
            <a:avLst/>
          </a:prstGeom>
          <a:solidFill>
            <a:srgbClr val="162033"/>
          </a:solidFill>
          <a:ln w="2159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2300" b="1" dirty="0">
                <a:solidFill>
                  <a:srgbClr val="35C2FF"/>
                </a:solidFill>
              </a:rPr>
              <a:t>Vector
Live acceptance PASS</a:t>
            </a:r>
          </a:p>
        </p:txBody>
      </p:sp>
      <p:sp>
        <p:nvSpPr>
          <p:cNvPr id="5" name="Shape 5"/>
          <p:cNvSpPr/>
          <p:nvPr/>
        </p:nvSpPr>
        <p:spPr>
          <a:xfrm>
            <a:off x="8092440" y="1828800"/>
            <a:ext cx="3337560" cy="1417320"/>
          </a:xfrm>
          <a:prstGeom prst="roundRect">
            <a:avLst/>
          </a:prstGeom>
          <a:solidFill>
            <a:srgbClr val="162033"/>
          </a:solidFill>
          <a:ln w="21590">
            <a:solidFill>
              <a:srgbClr val="F5B942"/>
            </a:solidFill>
          </a:ln>
        </p:spPr>
        <p:txBody>
          <a:bodyPr wrap="square" anchor="ctr"/>
          <a:lstStyle/>
          <a:p>
            <a:pPr algn="ctr"/>
            <a:r>
              <a:rPr lang="en-US" sz="2300" b="1" dirty="0">
                <a:solidFill>
                  <a:srgbClr val="F5B942"/>
                </a:solidFill>
              </a:rPr>
              <a:t>Multi-agent
Focused test PASS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280" y="3977640"/>
            <a:ext cx="9966960" cy="50292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300" b="1" dirty="0">
                <a:solidFill>
                  <a:srgbClr val="F4F7FB"/>
                </a:solidFill>
              </a:rPr>
              <a:t>4 design patterns  ·  4 Mermaid diagrams  ·  Benchmark thật 7/10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28800" y="4709160"/>
            <a:ext cx="8503920" cy="41148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1800" dirty="0">
                <a:solidFill>
                  <a:srgbClr val="A9B5C7"/>
                </a:solidFill>
              </a:rPr>
              <a:t>Không claim GUI/VLM hoàn chỉnh hoặc benchmark 10/10</a:t>
            </a:r>
          </a:p>
        </p:txBody>
      </p:sp>
      <p:sp>
        <p:nvSpPr>
          <p:cNvPr id="8" name="Shape 8"/>
          <p:cNvSpPr/>
          <p:nvPr/>
        </p:nvSpPr>
        <p:spPr>
          <a:xfrm>
            <a:off x="3749040" y="5303520"/>
            <a:ext cx="4709160" cy="713232"/>
          </a:xfrm>
          <a:prstGeom prst="roundRect">
            <a:avLst/>
          </a:prstGeom>
          <a:gradFill>
            <a:gsLst>
              <a:gs pos="0">
                <a:srgbClr val="35C2FF"/>
              </a:gs>
              <a:gs pos="100000">
                <a:srgbClr val="33D6A6"/>
              </a:gs>
            </a:gsLst>
            <a:lin ang="0" scaled="1"/>
          </a:gradFill>
          <a:ln w="12700">
            <a:solidFill>
              <a:srgbClr val="35C2FF"/>
            </a:solidFill>
          </a:ln>
        </p:spPr>
        <p:txBody>
          <a:bodyPr wrap="square" anchor="ctr"/>
          <a:lstStyle/>
          <a:p>
            <a:pPr algn="ctr"/>
            <a:r>
              <a:rPr lang="en-US" sz="2000" b="1" dirty="0">
                <a:solidFill>
                  <a:srgbClr val="0B1220"/>
                </a:solidFill>
              </a:rPr>
              <a:t>Requirement → Code → Test → Evidence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1792" y="6263640"/>
            <a:ext cx="3108960" cy="274320"/>
          </a:xfrm>
          <a:prstGeom prst="rect">
            <a:avLst/>
          </a:prstGeom>
        </p:spPr>
        <p:txBody>
          <a:bodyPr wrap="square"/>
          <a:lstStyle/>
          <a:p>
            <a:r>
              <a:rPr lang="en-US" sz="1100" dirty="0">
                <a:solidFill>
                  <a:srgbClr val="A9B5C7"/>
                </a:solidFill>
              </a:rPr>
              <a:t>Role C · Eval / Infra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17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2" dur="indefinite" nodeType="mainSeq">
                <p:childTnLst>
                  <p:par>
                    <p:cTn id="20" fill="hold">
                      <p:stCondLst>
                        <p:cond delay="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6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8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48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48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10" presetClass="entr" fill="hold" grpId="0" nodeType="afterEffect">
                                  <p:stCondLst>
                                    <p:cond delay="15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53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B1220"/>
            </a:gs>
            <a:gs pos="55000">
              <a:srgbClr val="162033"/>
            </a:gs>
            <a:gs pos="100000">
              <a:srgbClr val="0B1220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914400" y="4434840"/>
            <a:ext cx="2926080" cy="2926080"/>
          </a:xfrm>
          <a:prstGeom prst="ellipse">
            <a:avLst/>
          </a:prstGeom>
          <a:gradFill>
            <a:gsLst>
              <a:gs pos="0">
                <a:srgbClr val="35C2FF"/>
              </a:gs>
              <a:gs pos="100000">
                <a:srgbClr val="33D6A6"/>
              </a:gs>
            </a:gsLst>
            <a:lin ang="2700000" scaled="1"/>
          </a:gradFill>
          <a:ln w="12700">
            <a:solidFill>
              <a:srgbClr val="35C2FF"/>
            </a:solidFill>
          </a:ln>
        </p:spPr>
      </p:sp>
      <p:sp>
        <p:nvSpPr>
          <p:cNvPr id="3" name="Shape 3"/>
          <p:cNvSpPr/>
          <p:nvPr/>
        </p:nvSpPr>
        <p:spPr>
          <a:xfrm>
            <a:off x="10469880" y="-1051560"/>
            <a:ext cx="2834640" cy="2834640"/>
          </a:xfrm>
          <a:prstGeom prst="ellipse">
            <a:avLst/>
          </a:prstGeom>
          <a:gradFill>
            <a:gsLst>
              <a:gs pos="0">
                <a:srgbClr val="F5B942"/>
              </a:gs>
              <a:gs pos="100000">
                <a:srgbClr val="35C2FF"/>
              </a:gs>
            </a:gsLst>
            <a:lin ang="8100000" scaled="1"/>
          </a:gradFill>
          <a:ln w="12700">
            <a:solidFill>
              <a:srgbClr val="F5B942"/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1280160" y="1874520"/>
            <a:ext cx="9646920" cy="960120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5400" b="1" dirty="0">
                <a:solidFill>
                  <a:srgbClr val="F4F7FB"/>
                </a:solidFill>
                <a:latin typeface="Aptos Display"/>
                <a:cs typeface="Aptos Display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828800" y="2971800"/>
            <a:ext cx="8549640" cy="566928"/>
          </a:xfrm>
          <a:prstGeom prst="rect">
            <a:avLst/>
          </a:prstGeom>
        </p:spPr>
        <p:txBody>
          <a:bodyPr wrap="square"/>
          <a:lstStyle/>
          <a:p>
            <a:pPr algn="ctr"/>
            <a:r>
              <a:rPr lang="en-US" sz="2500" dirty="0">
                <a:solidFill>
                  <a:srgbClr val="35C2FF"/>
                </a:solidFill>
              </a:rPr>
              <a:t>Cảm ơn thầy/cô và các bạn đã lắng nghe</a:t>
            </a:r>
          </a:p>
        </p:txBody>
      </p:sp>
      <p:sp>
        <p:nvSpPr>
          <p:cNvPr id="6" name="Shape 6"/>
          <p:cNvSpPr/>
          <p:nvPr/>
        </p:nvSpPr>
        <p:spPr>
          <a:xfrm>
            <a:off x="3794760" y="3977640"/>
            <a:ext cx="4617720" cy="658368"/>
          </a:xfrm>
          <a:prstGeom prst="roundRect">
            <a:avLst/>
          </a:prstGeom>
          <a:solidFill>
            <a:srgbClr val="162033"/>
          </a:solidFill>
          <a:ln w="17780">
            <a:solidFill>
              <a:srgbClr val="33D6A6"/>
            </a:solidFill>
          </a:ln>
        </p:spPr>
        <p:txBody>
          <a:bodyPr wrap="square" anchor="ctr"/>
          <a:lstStyle/>
          <a:p>
            <a:pPr algn="ctr"/>
            <a:r>
              <a:rPr lang="en-US" sz="1700" b="1" dirty="0">
                <a:solidFill>
                  <a:srgbClr val="33D6A6"/>
                </a:solidFill>
              </a:rPr>
              <a:t>AI Agent Framework · Role A · Role B · Role 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064240" y="6263640"/>
            <a:ext cx="457200" cy="274320"/>
          </a:xfrm>
          <a:prstGeom prst="rect">
            <a:avLst/>
          </a:prstGeom>
        </p:spPr>
        <p:txBody>
          <a:bodyPr wrap="square"/>
          <a:lstStyle/>
          <a:p>
            <a:pPr algn="r"/>
            <a:r>
              <a:rPr lang="en-US" sz="1100" dirty="0">
                <a:solidFill>
                  <a:srgbClr val="A9B5C7"/>
                </a:solidFill>
              </a:rPr>
              <a:t>18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19" dur="indefinite" nodeType="mainSeq"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3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0" presetClass="entr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53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" dur="650" fill="hold"/>
                                        <p:tgtEl>
                                          <p:spTgt spid="4"/>
                                        </p:tgtEl>
                                      </p:cBhvr>
                                      <p:by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10" presetClass="entr" fill="hold" grpId="0" nodeType="afterEffect">
                                  <p:stCondLst>
                                    <p:cond delay="14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SlideJ Theme">
  <a:themeElements>
    <a:clrScheme name="SlideJ">
      <a:dk1>
        <a:srgbClr val="0B1220"/>
      </a:dk1>
      <a:lt1>
        <a:srgbClr val="F4F7FB"/>
      </a:lt1>
      <a:dk2>
        <a:srgbClr val="162033"/>
      </a:dk2>
      <a:lt2>
        <a:srgbClr val="A9B5C7"/>
      </a:lt2>
      <a:accent1>
        <a:srgbClr val="35C2FF"/>
      </a:accent1>
      <a:accent2>
        <a:srgbClr val="33D6A6"/>
      </a:accent2>
      <a:accent3>
        <a:srgbClr val="F5B942"/>
      </a:accent3>
      <a:accent4>
        <a:srgbClr val="FF6B6B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lideJ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SlideJ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</a:ln>
        <a:ln w="12700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SlideJ</Application>
  <Slides>18</Slides>
  <ScaleCrop>false</ScaleCrop>
  <LinksUpToDate>false</LinksUpToDate>
  <SharedDoc>false</SharedDoc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 Agent Framework với Ollama và Gemini</dc:title>
  <dc:creator>Role A · Role B · Role C</dc:creator>
  <cp:lastModifiedBy>Role A · Role B · Role C</cp:lastModifiedBy>
  <dcterms:created xsi:type="dcterms:W3CDTF">2026-08-20T15:20:41.647Z</dcterms:created>
  <dcterms:modified xsi:type="dcterms:W3CDTF">2026-08-20T15:20:41.647Z</dcterms:modified>
  <cp:revision>1</cp:revision>
</cp:coreProperties>
</file>