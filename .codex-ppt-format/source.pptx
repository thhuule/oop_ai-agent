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Aptos Bold" charset="1" panose="020B0004020202020204"/>
      <p:regular r:id="rId24"/>
    </p:embeddedFont>
    <p:embeddedFont>
      <p:font typeface="Aptos" charset="1" panose="020B0004020202020204"/>
      <p:regular r:id="rId25"/>
    </p:embeddedFont>
    <p:embeddedFont>
      <p:font typeface="Arimo" charset="1" panose="020B060402020202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40798" y="-1656740"/>
            <a:ext cx="5784285" cy="5784285"/>
            <a:chOff x="0" y="0"/>
            <a:chExt cx="7712380" cy="77123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12329" cy="7712329"/>
            </a:xfrm>
            <a:custGeom>
              <a:avLst/>
              <a:gdLst/>
              <a:ahLst/>
              <a:cxnLst/>
              <a:rect r="r" b="b" t="t" l="l"/>
              <a:pathLst>
                <a:path h="7712329" w="7712329">
                  <a:moveTo>
                    <a:pt x="0" y="3856228"/>
                  </a:moveTo>
                  <a:cubicBezTo>
                    <a:pt x="0" y="1726438"/>
                    <a:pt x="1726438" y="0"/>
                    <a:pt x="3856228" y="0"/>
                  </a:cubicBezTo>
                  <a:cubicBezTo>
                    <a:pt x="5986018" y="0"/>
                    <a:pt x="7712329" y="1726438"/>
                    <a:pt x="7712329" y="3856228"/>
                  </a:cubicBezTo>
                  <a:cubicBezTo>
                    <a:pt x="7712329" y="5986018"/>
                    <a:pt x="5985891" y="7712329"/>
                    <a:pt x="3856228" y="7712329"/>
                  </a:cubicBezTo>
                  <a:cubicBezTo>
                    <a:pt x="1726566" y="7712329"/>
                    <a:pt x="0" y="5985891"/>
                    <a:pt x="0" y="3856228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5C2FF">
                    <a:alpha val="100000"/>
                  </a:srgbClr>
                </a:gs>
                <a:gs pos="100000">
                  <a:srgbClr val="33D6A6">
                    <a:alpha val="100000"/>
                  </a:srgbClr>
                </a:gs>
              </a:gsLst>
              <a:lin ang="2700000"/>
            </a:gradFill>
            <a:ln w="19065" cap="sq">
              <a:solidFill>
                <a:srgbClr val="35C2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90844" y="98661"/>
            <a:ext cx="3661750" cy="3155136"/>
            <a:chOff x="0" y="0"/>
            <a:chExt cx="2911796" cy="25089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11872" cy="2509016"/>
            </a:xfrm>
            <a:custGeom>
              <a:avLst/>
              <a:gdLst/>
              <a:ahLst/>
              <a:cxnLst/>
              <a:rect r="r" b="b" t="t" l="l"/>
              <a:pathLst>
                <a:path h="2509016" w="2911872">
                  <a:moveTo>
                    <a:pt x="0" y="418212"/>
                  </a:moveTo>
                  <a:cubicBezTo>
                    <a:pt x="0" y="187198"/>
                    <a:pt x="217256" y="0"/>
                    <a:pt x="485363" y="0"/>
                  </a:cubicBezTo>
                  <a:lnTo>
                    <a:pt x="2426521" y="0"/>
                  </a:lnTo>
                  <a:cubicBezTo>
                    <a:pt x="2694480" y="0"/>
                    <a:pt x="2911872" y="187198"/>
                    <a:pt x="2911872" y="418212"/>
                  </a:cubicBezTo>
                  <a:lnTo>
                    <a:pt x="2911872" y="2090805"/>
                  </a:lnTo>
                  <a:cubicBezTo>
                    <a:pt x="2911872" y="2321691"/>
                    <a:pt x="2694628" y="2509016"/>
                    <a:pt x="2426521" y="2509016"/>
                  </a:cubicBezTo>
                  <a:lnTo>
                    <a:pt x="485363" y="2509016"/>
                  </a:lnTo>
                  <a:cubicBezTo>
                    <a:pt x="217256" y="2508889"/>
                    <a:pt x="0" y="2321691"/>
                    <a:pt x="0" y="2090805"/>
                  </a:cubicBezTo>
                  <a:close/>
                </a:path>
              </a:pathLst>
            </a:custGeom>
            <a:blipFill>
              <a:blip r:embed="rId2"/>
              <a:stretch>
                <a:fillRect l="0" t="-8028" r="0" b="-8028"/>
              </a:stretch>
            </a:blipFill>
            <a:ln w="28597" cap="sq">
              <a:gradFill>
                <a:gsLst>
                  <a:gs pos="0">
                    <a:srgbClr val="F5B942">
                      <a:alpha val="100000"/>
                    </a:srgbClr>
                  </a:gs>
                  <a:gs pos="100000">
                    <a:srgbClr val="35C2FF">
                      <a:alpha val="100000"/>
                    </a:srgbClr>
                  </a:gs>
                </a:gsLst>
                <a:lin ang="8100000"/>
              </a:gra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911796" cy="2518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1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474248" y="4099193"/>
            <a:ext cx="8739416" cy="902286"/>
            <a:chOff x="0" y="0"/>
            <a:chExt cx="11286414" cy="11652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86363" cy="1165221"/>
            </a:xfrm>
            <a:custGeom>
              <a:avLst/>
              <a:gdLst/>
              <a:ahLst/>
              <a:cxnLst/>
              <a:rect r="r" b="b" t="t" l="l"/>
              <a:pathLst>
                <a:path h="1165221" w="11286363">
                  <a:moveTo>
                    <a:pt x="0" y="194182"/>
                  </a:moveTo>
                  <a:cubicBezTo>
                    <a:pt x="0" y="86995"/>
                    <a:pt x="86995" y="0"/>
                    <a:pt x="194183" y="0"/>
                  </a:cubicBezTo>
                  <a:lnTo>
                    <a:pt x="11092180" y="0"/>
                  </a:lnTo>
                  <a:cubicBezTo>
                    <a:pt x="11199495" y="0"/>
                    <a:pt x="11286363" y="86995"/>
                    <a:pt x="11286363" y="194182"/>
                  </a:cubicBezTo>
                  <a:lnTo>
                    <a:pt x="11286363" y="971039"/>
                  </a:lnTo>
                  <a:cubicBezTo>
                    <a:pt x="11286363" y="1078353"/>
                    <a:pt x="11199368" y="1165221"/>
                    <a:pt x="11092180" y="1165221"/>
                  </a:cubicBezTo>
                  <a:lnTo>
                    <a:pt x="194183" y="1165221"/>
                  </a:lnTo>
                  <a:cubicBezTo>
                    <a:pt x="86995" y="1165221"/>
                    <a:pt x="0" y="1078353"/>
                    <a:pt x="0" y="971039"/>
                  </a:cubicBezTo>
                  <a:close/>
                </a:path>
              </a:pathLst>
            </a:custGeom>
            <a:solidFill>
              <a:srgbClr val="162033"/>
            </a:solidFill>
            <a:ln w="22878" cap="sq">
              <a:solidFill>
                <a:srgbClr val="F5B942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1286414" cy="1165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F5B94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Giảng viên: Trần Duy Quang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54175" y="6222161"/>
            <a:ext cx="5038849" cy="1648351"/>
            <a:chOff x="0" y="0"/>
            <a:chExt cx="6718465" cy="21978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18427" cy="2197738"/>
            </a:xfrm>
            <a:custGeom>
              <a:avLst/>
              <a:gdLst/>
              <a:ahLst/>
              <a:cxnLst/>
              <a:rect r="r" b="b" t="t" l="l"/>
              <a:pathLst>
                <a:path h="2197738" w="6718427">
                  <a:moveTo>
                    <a:pt x="0" y="366268"/>
                  </a:moveTo>
                  <a:cubicBezTo>
                    <a:pt x="0" y="163957"/>
                    <a:pt x="163957" y="0"/>
                    <a:pt x="366268" y="0"/>
                  </a:cubicBezTo>
                  <a:lnTo>
                    <a:pt x="6352159" y="0"/>
                  </a:lnTo>
                  <a:cubicBezTo>
                    <a:pt x="6554470" y="0"/>
                    <a:pt x="6718427" y="163957"/>
                    <a:pt x="6718427" y="366268"/>
                  </a:cubicBezTo>
                  <a:lnTo>
                    <a:pt x="6718427" y="1831469"/>
                  </a:lnTo>
                  <a:cubicBezTo>
                    <a:pt x="6718427" y="2033781"/>
                    <a:pt x="6554470" y="2197738"/>
                    <a:pt x="6352159" y="2197738"/>
                  </a:cubicBezTo>
                  <a:lnTo>
                    <a:pt x="366268" y="2197738"/>
                  </a:lnTo>
                  <a:cubicBezTo>
                    <a:pt x="163957" y="2197864"/>
                    <a:pt x="0" y="2033780"/>
                    <a:pt x="0" y="1831469"/>
                  </a:cubicBezTo>
                  <a:close/>
                </a:path>
              </a:pathLst>
            </a:custGeom>
            <a:solidFill>
              <a:srgbClr val="162033"/>
            </a:solidFill>
            <a:ln w="28597" cap="sq">
              <a:solidFill>
                <a:srgbClr val="35C2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6718465" cy="2197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2"/>
                </a:lnSpc>
              </a:pPr>
              <a:r>
                <a:rPr lang="en-US" sz="245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Lê Hữu Anh Thư </a:t>
              </a:r>
            </a:p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 [MSSV]</a:t>
              </a:r>
            </a:p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Systems / Core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461835" y="6222161"/>
            <a:ext cx="5038849" cy="1648351"/>
            <a:chOff x="0" y="0"/>
            <a:chExt cx="6718465" cy="21978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18427" cy="2197738"/>
            </a:xfrm>
            <a:custGeom>
              <a:avLst/>
              <a:gdLst/>
              <a:ahLst/>
              <a:cxnLst/>
              <a:rect r="r" b="b" t="t" l="l"/>
              <a:pathLst>
                <a:path h="2197738" w="6718427">
                  <a:moveTo>
                    <a:pt x="0" y="366268"/>
                  </a:moveTo>
                  <a:cubicBezTo>
                    <a:pt x="0" y="163957"/>
                    <a:pt x="163957" y="0"/>
                    <a:pt x="366268" y="0"/>
                  </a:cubicBezTo>
                  <a:lnTo>
                    <a:pt x="6352159" y="0"/>
                  </a:lnTo>
                  <a:cubicBezTo>
                    <a:pt x="6554470" y="0"/>
                    <a:pt x="6718427" y="163957"/>
                    <a:pt x="6718427" y="366268"/>
                  </a:cubicBezTo>
                  <a:lnTo>
                    <a:pt x="6718427" y="1831469"/>
                  </a:lnTo>
                  <a:cubicBezTo>
                    <a:pt x="6718427" y="2033781"/>
                    <a:pt x="6554470" y="2197738"/>
                    <a:pt x="6352159" y="2197738"/>
                  </a:cubicBezTo>
                  <a:lnTo>
                    <a:pt x="366268" y="2197738"/>
                  </a:lnTo>
                  <a:cubicBezTo>
                    <a:pt x="163957" y="2197864"/>
                    <a:pt x="0" y="2033780"/>
                    <a:pt x="0" y="1831469"/>
                  </a:cubicBezTo>
                  <a:close/>
                </a:path>
              </a:pathLst>
            </a:custGeom>
            <a:solidFill>
              <a:srgbClr val="162033"/>
            </a:solidFill>
            <a:ln w="28597" cap="sq">
              <a:solidFill>
                <a:srgbClr val="35C2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6718465" cy="2197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2"/>
                </a:lnSpc>
              </a:pPr>
              <a:r>
                <a:rPr lang="en-US" sz="245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Nguyễn Hiếu Thiện </a:t>
              </a:r>
            </a:p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 [MSSV]</a:t>
              </a:r>
            </a:p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Tools / Data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021374" y="6222161"/>
            <a:ext cx="5038849" cy="1648351"/>
            <a:chOff x="0" y="0"/>
            <a:chExt cx="6718465" cy="219780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718427" cy="2197738"/>
            </a:xfrm>
            <a:custGeom>
              <a:avLst/>
              <a:gdLst/>
              <a:ahLst/>
              <a:cxnLst/>
              <a:rect r="r" b="b" t="t" l="l"/>
              <a:pathLst>
                <a:path h="2197738" w="6718427">
                  <a:moveTo>
                    <a:pt x="0" y="366268"/>
                  </a:moveTo>
                  <a:cubicBezTo>
                    <a:pt x="0" y="163957"/>
                    <a:pt x="163957" y="0"/>
                    <a:pt x="366268" y="0"/>
                  </a:cubicBezTo>
                  <a:lnTo>
                    <a:pt x="6352159" y="0"/>
                  </a:lnTo>
                  <a:cubicBezTo>
                    <a:pt x="6554470" y="0"/>
                    <a:pt x="6718427" y="163957"/>
                    <a:pt x="6718427" y="366268"/>
                  </a:cubicBezTo>
                  <a:lnTo>
                    <a:pt x="6718427" y="1831469"/>
                  </a:lnTo>
                  <a:cubicBezTo>
                    <a:pt x="6718427" y="2033781"/>
                    <a:pt x="6554470" y="2197738"/>
                    <a:pt x="6352159" y="2197738"/>
                  </a:cubicBezTo>
                  <a:lnTo>
                    <a:pt x="366268" y="2197738"/>
                  </a:lnTo>
                  <a:cubicBezTo>
                    <a:pt x="163957" y="2197864"/>
                    <a:pt x="0" y="2033780"/>
                    <a:pt x="0" y="1831469"/>
                  </a:cubicBezTo>
                  <a:close/>
                </a:path>
              </a:pathLst>
            </a:custGeom>
            <a:solidFill>
              <a:srgbClr val="162033"/>
            </a:solidFill>
            <a:ln w="28597" cap="sq">
              <a:solidFill>
                <a:srgbClr val="35C2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6718465" cy="2197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2"/>
                </a:lnSpc>
              </a:pPr>
              <a:r>
                <a:rPr lang="en-US" sz="245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Nguyễn Huy Khánh</a:t>
              </a:r>
              <a:r>
                <a:rPr lang="en-US" sz="245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</a:p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[MSSV]</a:t>
              </a:r>
            </a:p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Eval / Infra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4912100" y="1028700"/>
            <a:ext cx="8138319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66"/>
              </a:lnSpc>
            </a:pPr>
            <a:r>
              <a:rPr lang="en-US" sz="7055" b="true">
                <a:solidFill>
                  <a:srgbClr val="F4F7FB"/>
                </a:solidFill>
                <a:latin typeface="Aptos Bold"/>
                <a:ea typeface="Aptos Bold"/>
                <a:cs typeface="Aptos Bold"/>
                <a:sym typeface="Aptos Bold"/>
              </a:rPr>
              <a:t>AI Agent Framework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993774" y="2524423"/>
            <a:ext cx="9700365" cy="819150"/>
            <a:chOff x="0" y="0"/>
            <a:chExt cx="12933820" cy="1092200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0"/>
              <a:ext cx="1293382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9"/>
                </a:lnSpc>
              </a:pPr>
              <a:r>
                <a:rPr lang="en-US" sz="2399">
                  <a:solidFill>
                    <a:srgbClr val="A9B5C7"/>
                  </a:solidFill>
                  <a:latin typeface="Aptos"/>
                  <a:ea typeface="Aptos"/>
                  <a:cs typeface="Aptos"/>
                  <a:sym typeface="Aptos"/>
                </a:rPr>
                <a:t>với Ollama và Gemini APIs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457562" y="609600"/>
              <a:ext cx="12018696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A9B5C7"/>
                  </a:solidFill>
                  <a:latin typeface="Aptos"/>
                  <a:ea typeface="Aptos"/>
                  <a:cs typeface="Aptos"/>
                  <a:sym typeface="Aptos"/>
                </a:rPr>
                <a:t>Modern C++17 / 20 / 23 / 26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700773" y="9448524"/>
            <a:ext cx="503453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A9B5C7"/>
                </a:solidFill>
                <a:latin typeface="Aptos"/>
                <a:ea typeface="Aptos"/>
                <a:cs typeface="Aptos"/>
                <a:sym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3675" y="653901"/>
            <a:ext cx="16289188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F4F7FB"/>
                </a:solidFill>
                <a:latin typeface="Aptos Bold"/>
                <a:ea typeface="Aptos Bold"/>
                <a:cs typeface="Aptos Bold"/>
                <a:sym typeface="Aptos Bold"/>
              </a:rPr>
              <a:t>Roadmap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4861" y="1761563"/>
            <a:ext cx="1560285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A9B5C7"/>
                </a:solidFill>
                <a:latin typeface="Aptos"/>
                <a:ea typeface="Aptos"/>
                <a:cs typeface="Aptos"/>
                <a:sym typeface="Aptos"/>
              </a:rPr>
              <a:t>Mỗi phần trả lời một câu hỏi và kết thúc bằng evidence có thể kiểm tra. ###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220017" y="4036934"/>
            <a:ext cx="732854" cy="677951"/>
            <a:chOff x="0" y="0"/>
            <a:chExt cx="977138" cy="9039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77138" cy="903986"/>
            </a:xfrm>
            <a:custGeom>
              <a:avLst/>
              <a:gdLst/>
              <a:ahLst/>
              <a:cxnLst/>
              <a:rect r="r" b="b" t="t" l="l"/>
              <a:pathLst>
                <a:path h="903986" w="977138">
                  <a:moveTo>
                    <a:pt x="0" y="225933"/>
                  </a:moveTo>
                  <a:lnTo>
                    <a:pt x="525145" y="225933"/>
                  </a:lnTo>
                  <a:lnTo>
                    <a:pt x="525145" y="0"/>
                  </a:lnTo>
                  <a:lnTo>
                    <a:pt x="977138" y="451993"/>
                  </a:lnTo>
                  <a:lnTo>
                    <a:pt x="525145" y="903986"/>
                  </a:lnTo>
                  <a:lnTo>
                    <a:pt x="525145" y="677926"/>
                  </a:lnTo>
                  <a:lnTo>
                    <a:pt x="0" y="677926"/>
                  </a:lnTo>
                  <a:close/>
                </a:path>
              </a:pathLst>
            </a:custGeom>
            <a:solidFill>
              <a:srgbClr val="35C2FF"/>
            </a:solidFill>
            <a:ln w="19065" cap="sq">
              <a:solidFill>
                <a:srgbClr val="35C2F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972633" y="4036934"/>
            <a:ext cx="732854" cy="677951"/>
            <a:chOff x="0" y="0"/>
            <a:chExt cx="977138" cy="90393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7138" cy="903986"/>
            </a:xfrm>
            <a:custGeom>
              <a:avLst/>
              <a:gdLst/>
              <a:ahLst/>
              <a:cxnLst/>
              <a:rect r="r" b="b" t="t" l="l"/>
              <a:pathLst>
                <a:path h="903986" w="977138">
                  <a:moveTo>
                    <a:pt x="0" y="225933"/>
                  </a:moveTo>
                  <a:lnTo>
                    <a:pt x="525145" y="225933"/>
                  </a:lnTo>
                  <a:lnTo>
                    <a:pt x="525145" y="0"/>
                  </a:lnTo>
                  <a:lnTo>
                    <a:pt x="977138" y="451993"/>
                  </a:lnTo>
                  <a:lnTo>
                    <a:pt x="525145" y="903986"/>
                  </a:lnTo>
                  <a:lnTo>
                    <a:pt x="525145" y="677926"/>
                  </a:lnTo>
                  <a:lnTo>
                    <a:pt x="0" y="677926"/>
                  </a:lnTo>
                  <a:close/>
                </a:path>
              </a:pathLst>
            </a:custGeom>
            <a:solidFill>
              <a:srgbClr val="33D6A6"/>
            </a:solidFill>
            <a:ln w="19065" cap="sq">
              <a:solidFill>
                <a:srgbClr val="33D6A6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732722" y="4036934"/>
            <a:ext cx="732854" cy="677951"/>
            <a:chOff x="0" y="0"/>
            <a:chExt cx="977138" cy="9039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7138" cy="903986"/>
            </a:xfrm>
            <a:custGeom>
              <a:avLst/>
              <a:gdLst/>
              <a:ahLst/>
              <a:cxnLst/>
              <a:rect r="r" b="b" t="t" l="l"/>
              <a:pathLst>
                <a:path h="903986" w="977138">
                  <a:moveTo>
                    <a:pt x="0" y="225933"/>
                  </a:moveTo>
                  <a:lnTo>
                    <a:pt x="525145" y="225933"/>
                  </a:lnTo>
                  <a:lnTo>
                    <a:pt x="525145" y="0"/>
                  </a:lnTo>
                  <a:lnTo>
                    <a:pt x="977138" y="451993"/>
                  </a:lnTo>
                  <a:lnTo>
                    <a:pt x="525145" y="903986"/>
                  </a:lnTo>
                  <a:lnTo>
                    <a:pt x="525145" y="677926"/>
                  </a:lnTo>
                  <a:lnTo>
                    <a:pt x="0" y="677926"/>
                  </a:lnTo>
                  <a:close/>
                </a:path>
              </a:pathLst>
            </a:custGeom>
            <a:solidFill>
              <a:srgbClr val="F5B942"/>
            </a:solidFill>
            <a:ln w="19065" cap="sq">
              <a:solidFill>
                <a:srgbClr val="F5B942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479091" y="4036934"/>
            <a:ext cx="732854" cy="677951"/>
            <a:chOff x="0" y="0"/>
            <a:chExt cx="977138" cy="9039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77138" cy="903986"/>
            </a:xfrm>
            <a:custGeom>
              <a:avLst/>
              <a:gdLst/>
              <a:ahLst/>
              <a:cxnLst/>
              <a:rect r="r" b="b" t="t" l="l"/>
              <a:pathLst>
                <a:path h="903986" w="977138">
                  <a:moveTo>
                    <a:pt x="0" y="225933"/>
                  </a:moveTo>
                  <a:lnTo>
                    <a:pt x="525145" y="225933"/>
                  </a:lnTo>
                  <a:lnTo>
                    <a:pt x="525145" y="0"/>
                  </a:lnTo>
                  <a:lnTo>
                    <a:pt x="977138" y="451993"/>
                  </a:lnTo>
                  <a:lnTo>
                    <a:pt x="525145" y="903986"/>
                  </a:lnTo>
                  <a:lnTo>
                    <a:pt x="525145" y="677926"/>
                  </a:lnTo>
                  <a:lnTo>
                    <a:pt x="0" y="677926"/>
                  </a:lnTo>
                  <a:close/>
                </a:path>
              </a:pathLst>
            </a:custGeom>
            <a:solidFill>
              <a:srgbClr val="35C2FF"/>
            </a:solidFill>
            <a:ln w="19065" cap="sq">
              <a:solidFill>
                <a:srgbClr val="35C2FF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92295" y="3247671"/>
            <a:ext cx="3018196" cy="2222790"/>
            <a:chOff x="0" y="0"/>
            <a:chExt cx="4028034" cy="29664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28059" cy="2966472"/>
            </a:xfrm>
            <a:custGeom>
              <a:avLst/>
              <a:gdLst/>
              <a:ahLst/>
              <a:cxnLst/>
              <a:rect r="r" b="b" t="t" l="l"/>
              <a:pathLst>
                <a:path h="2966472" w="4028059">
                  <a:moveTo>
                    <a:pt x="0" y="494412"/>
                  </a:moveTo>
                  <a:cubicBezTo>
                    <a:pt x="0" y="221361"/>
                    <a:pt x="221361" y="0"/>
                    <a:pt x="494411" y="0"/>
                  </a:cubicBezTo>
                  <a:lnTo>
                    <a:pt x="3533648" y="0"/>
                  </a:lnTo>
                  <a:cubicBezTo>
                    <a:pt x="3806698" y="0"/>
                    <a:pt x="4028059" y="221361"/>
                    <a:pt x="4028059" y="494412"/>
                  </a:cubicBezTo>
                  <a:lnTo>
                    <a:pt x="4028059" y="2472060"/>
                  </a:lnTo>
                  <a:cubicBezTo>
                    <a:pt x="4028059" y="2745111"/>
                    <a:pt x="3806698" y="2966472"/>
                    <a:pt x="3533648" y="2966472"/>
                  </a:cubicBezTo>
                  <a:lnTo>
                    <a:pt x="494411" y="2966472"/>
                  </a:lnTo>
                  <a:cubicBezTo>
                    <a:pt x="221361" y="2966472"/>
                    <a:pt x="0" y="2745111"/>
                    <a:pt x="0" y="2472060"/>
                  </a:cubicBezTo>
                  <a:close/>
                </a:path>
              </a:pathLst>
            </a:custGeom>
            <a:solidFill>
              <a:srgbClr val="162033"/>
            </a:solidFill>
            <a:ln w="28597" cap="sq">
              <a:solidFill>
                <a:srgbClr val="35C2F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4028034" cy="2966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AGENT CORE</a:t>
              </a:r>
            </a:p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ReAct · history</a:t>
              </a:r>
            </a:p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error contract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951608" y="3264515"/>
            <a:ext cx="3021025" cy="2224869"/>
            <a:chOff x="0" y="0"/>
            <a:chExt cx="4028034" cy="29664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28059" cy="2966466"/>
            </a:xfrm>
            <a:custGeom>
              <a:avLst/>
              <a:gdLst/>
              <a:ahLst/>
              <a:cxnLst/>
              <a:rect r="r" b="b" t="t" l="l"/>
              <a:pathLst>
                <a:path h="2966466" w="4028059">
                  <a:moveTo>
                    <a:pt x="0" y="494411"/>
                  </a:moveTo>
                  <a:cubicBezTo>
                    <a:pt x="0" y="221361"/>
                    <a:pt x="221361" y="0"/>
                    <a:pt x="494411" y="0"/>
                  </a:cubicBezTo>
                  <a:lnTo>
                    <a:pt x="3533648" y="0"/>
                  </a:lnTo>
                  <a:cubicBezTo>
                    <a:pt x="3806698" y="0"/>
                    <a:pt x="4028059" y="221361"/>
                    <a:pt x="4028059" y="494411"/>
                  </a:cubicBezTo>
                  <a:lnTo>
                    <a:pt x="4028059" y="2472055"/>
                  </a:lnTo>
                  <a:cubicBezTo>
                    <a:pt x="4028059" y="2745105"/>
                    <a:pt x="3806698" y="2966466"/>
                    <a:pt x="3533648" y="2966466"/>
                  </a:cubicBezTo>
                  <a:lnTo>
                    <a:pt x="494411" y="2966466"/>
                  </a:lnTo>
                  <a:cubicBezTo>
                    <a:pt x="221361" y="2966466"/>
                    <a:pt x="0" y="2745105"/>
                    <a:pt x="0" y="2472055"/>
                  </a:cubicBezTo>
                  <a:close/>
                </a:path>
              </a:pathLst>
            </a:custGeom>
            <a:solidFill>
              <a:srgbClr val="162033"/>
            </a:solidFill>
            <a:ln w="28597" cap="sq">
              <a:solidFill>
                <a:srgbClr val="33D6A6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4028034" cy="2966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OOP &amp; C++</a:t>
              </a:r>
            </a:p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 patterns</a:t>
              </a:r>
            </a:p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ownership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705487" y="3247671"/>
            <a:ext cx="3021025" cy="2224869"/>
            <a:chOff x="0" y="0"/>
            <a:chExt cx="4028034" cy="296649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028059" cy="2966466"/>
            </a:xfrm>
            <a:custGeom>
              <a:avLst/>
              <a:gdLst/>
              <a:ahLst/>
              <a:cxnLst/>
              <a:rect r="r" b="b" t="t" l="l"/>
              <a:pathLst>
                <a:path h="2966466" w="4028059">
                  <a:moveTo>
                    <a:pt x="0" y="494411"/>
                  </a:moveTo>
                  <a:cubicBezTo>
                    <a:pt x="0" y="221361"/>
                    <a:pt x="221361" y="0"/>
                    <a:pt x="494411" y="0"/>
                  </a:cubicBezTo>
                  <a:lnTo>
                    <a:pt x="3533648" y="0"/>
                  </a:lnTo>
                  <a:cubicBezTo>
                    <a:pt x="3806698" y="0"/>
                    <a:pt x="4028059" y="221361"/>
                    <a:pt x="4028059" y="494411"/>
                  </a:cubicBezTo>
                  <a:lnTo>
                    <a:pt x="4028059" y="2472055"/>
                  </a:lnTo>
                  <a:cubicBezTo>
                    <a:pt x="4028059" y="2745105"/>
                    <a:pt x="3806698" y="2966466"/>
                    <a:pt x="3533648" y="2966466"/>
                  </a:cubicBezTo>
                  <a:lnTo>
                    <a:pt x="494411" y="2966466"/>
                  </a:lnTo>
                  <a:cubicBezTo>
                    <a:pt x="221361" y="2966466"/>
                    <a:pt x="0" y="2745105"/>
                    <a:pt x="0" y="2472055"/>
                  </a:cubicBezTo>
                  <a:close/>
                </a:path>
              </a:pathLst>
            </a:custGeom>
            <a:solidFill>
              <a:srgbClr val="162033"/>
            </a:solidFill>
            <a:ln w="28597" cap="sq">
              <a:solidFill>
                <a:srgbClr val="F5B942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4028034" cy="2966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TOOLS &amp; VECTOR</a:t>
              </a:r>
            </a:p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Registry · SQLite</a:t>
              </a:r>
            </a:p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semantic search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465576" y="3247671"/>
            <a:ext cx="3021025" cy="2224869"/>
            <a:chOff x="0" y="0"/>
            <a:chExt cx="4028034" cy="29664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028059" cy="2966466"/>
            </a:xfrm>
            <a:custGeom>
              <a:avLst/>
              <a:gdLst/>
              <a:ahLst/>
              <a:cxnLst/>
              <a:rect r="r" b="b" t="t" l="l"/>
              <a:pathLst>
                <a:path h="2966466" w="4028059">
                  <a:moveTo>
                    <a:pt x="0" y="494411"/>
                  </a:moveTo>
                  <a:cubicBezTo>
                    <a:pt x="0" y="221361"/>
                    <a:pt x="221361" y="0"/>
                    <a:pt x="494411" y="0"/>
                  </a:cubicBezTo>
                  <a:lnTo>
                    <a:pt x="3533648" y="0"/>
                  </a:lnTo>
                  <a:cubicBezTo>
                    <a:pt x="3806698" y="0"/>
                    <a:pt x="4028059" y="221361"/>
                    <a:pt x="4028059" y="494411"/>
                  </a:cubicBezTo>
                  <a:lnTo>
                    <a:pt x="4028059" y="2472055"/>
                  </a:lnTo>
                  <a:cubicBezTo>
                    <a:pt x="4028059" y="2745105"/>
                    <a:pt x="3806698" y="2966466"/>
                    <a:pt x="3533648" y="2966466"/>
                  </a:cubicBezTo>
                  <a:lnTo>
                    <a:pt x="494411" y="2966466"/>
                  </a:lnTo>
                  <a:cubicBezTo>
                    <a:pt x="221361" y="2966466"/>
                    <a:pt x="0" y="2745105"/>
                    <a:pt x="0" y="2472055"/>
                  </a:cubicBezTo>
                  <a:close/>
                </a:path>
              </a:pathLst>
            </a:custGeom>
            <a:solidFill>
              <a:srgbClr val="162033"/>
            </a:solidFill>
            <a:ln w="28597" cap="sq">
              <a:solidFill>
                <a:srgbClr val="35C2F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4028034" cy="2966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EVALUATION</a:t>
              </a:r>
            </a:p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Harness · trace</a:t>
              </a:r>
            </a:p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Multi-agent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211944" y="3247671"/>
            <a:ext cx="2883760" cy="2224869"/>
            <a:chOff x="0" y="0"/>
            <a:chExt cx="3845014" cy="296649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845052" cy="2966466"/>
            </a:xfrm>
            <a:custGeom>
              <a:avLst/>
              <a:gdLst/>
              <a:ahLst/>
              <a:cxnLst/>
              <a:rect r="r" b="b" t="t" l="l"/>
              <a:pathLst>
                <a:path h="2966466" w="3845052">
                  <a:moveTo>
                    <a:pt x="0" y="494411"/>
                  </a:moveTo>
                  <a:cubicBezTo>
                    <a:pt x="0" y="221361"/>
                    <a:pt x="221361" y="0"/>
                    <a:pt x="494411" y="0"/>
                  </a:cubicBezTo>
                  <a:lnTo>
                    <a:pt x="3350641" y="0"/>
                  </a:lnTo>
                  <a:cubicBezTo>
                    <a:pt x="3623691" y="0"/>
                    <a:pt x="3845052" y="221361"/>
                    <a:pt x="3845052" y="494411"/>
                  </a:cubicBezTo>
                  <a:lnTo>
                    <a:pt x="3845052" y="2472055"/>
                  </a:lnTo>
                  <a:cubicBezTo>
                    <a:pt x="3845052" y="2745105"/>
                    <a:pt x="3623691" y="2966466"/>
                    <a:pt x="3350641" y="2966466"/>
                  </a:cubicBezTo>
                  <a:lnTo>
                    <a:pt x="494411" y="2966466"/>
                  </a:lnTo>
                  <a:cubicBezTo>
                    <a:pt x="221361" y="2966466"/>
                    <a:pt x="0" y="2745105"/>
                    <a:pt x="0" y="2472055"/>
                  </a:cubicBezTo>
                  <a:close/>
                </a:path>
              </a:pathLst>
            </a:custGeom>
            <a:solidFill>
              <a:srgbClr val="162033"/>
            </a:solidFill>
            <a:ln w="28597" cap="sq">
              <a:solidFill>
                <a:srgbClr val="33D6A6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3845014" cy="2966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EVIDENCE</a:t>
              </a:r>
            </a:p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CTest 5/5</a:t>
              </a:r>
            </a:p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Benchmark 7/10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807283" y="6565916"/>
            <a:ext cx="1464198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3"/>
              </a:lnSpc>
            </a:pPr>
            <a:r>
              <a:rPr lang="en-US" sz="3452" b="true">
                <a:solidFill>
                  <a:srgbClr val="33D6A6"/>
                </a:solidFill>
                <a:latin typeface="Aptos Bold"/>
                <a:ea typeface="Aptos Bold"/>
                <a:cs typeface="Aptos Bold"/>
                <a:sym typeface="Aptos Bold"/>
              </a:rPr>
              <a:t>Code chạy được  →  Failure được giải thích  →  Requirement có bằng chứng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700773" y="9448524"/>
            <a:ext cx="503453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A9B5C7"/>
                </a:solidFill>
                <a:latin typeface="Aptos"/>
                <a:ea typeface="Aptos"/>
                <a:cs typeface="Aptos"/>
                <a:sym typeface="Aptos"/>
              </a:rPr>
              <a:t>2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3675" y="653901"/>
            <a:ext cx="16151924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F4F7FB"/>
                </a:solidFill>
                <a:latin typeface="Aptos Bold"/>
                <a:ea typeface="Aptos Bold"/>
                <a:cs typeface="Aptos Bold"/>
                <a:sym typeface="Aptos Bold"/>
              </a:rPr>
              <a:t>Sáu khái niệm giúp đọc toàn bộ hệ thống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862655" y="2880284"/>
            <a:ext cx="503453" cy="75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4"/>
              </a:lnSpc>
            </a:pPr>
            <a:r>
              <a:rPr lang="en-US" sz="4503" b="true">
                <a:solidFill>
                  <a:srgbClr val="35C2FF"/>
                </a:solidFill>
                <a:latin typeface="Aptos Bold"/>
                <a:ea typeface="Aptos Bold"/>
                <a:cs typeface="Aptos Bold"/>
                <a:sym typeface="Aptos Bold"/>
              </a:rPr>
              <a:t>+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794517" y="2873083"/>
            <a:ext cx="1113558" cy="705402"/>
            <a:chOff x="0" y="0"/>
            <a:chExt cx="1484744" cy="9405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84667" cy="940562"/>
            </a:xfrm>
            <a:custGeom>
              <a:avLst/>
              <a:gdLst/>
              <a:ahLst/>
              <a:cxnLst/>
              <a:rect r="r" b="b" t="t" l="l"/>
              <a:pathLst>
                <a:path h="940562" w="1484667">
                  <a:moveTo>
                    <a:pt x="0" y="235077"/>
                  </a:moveTo>
                  <a:lnTo>
                    <a:pt x="910167" y="235077"/>
                  </a:lnTo>
                  <a:lnTo>
                    <a:pt x="910167" y="0"/>
                  </a:lnTo>
                  <a:lnTo>
                    <a:pt x="1484667" y="470281"/>
                  </a:lnTo>
                  <a:lnTo>
                    <a:pt x="910167" y="940562"/>
                  </a:lnTo>
                  <a:lnTo>
                    <a:pt x="910167" y="705358"/>
                  </a:lnTo>
                  <a:lnTo>
                    <a:pt x="0" y="705358"/>
                  </a:lnTo>
                  <a:close/>
                </a:path>
              </a:pathLst>
            </a:custGeom>
            <a:solidFill>
              <a:srgbClr val="33D6A6"/>
            </a:solidFill>
            <a:ln w="19065" cap="sq">
              <a:solidFill>
                <a:srgbClr val="33D6A6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285421" y="2873083"/>
            <a:ext cx="1569339" cy="705402"/>
            <a:chOff x="0" y="0"/>
            <a:chExt cx="2092451" cy="9405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92342" cy="940562"/>
            </a:xfrm>
            <a:custGeom>
              <a:avLst/>
              <a:gdLst/>
              <a:ahLst/>
              <a:cxnLst/>
              <a:rect r="r" b="b" t="t" l="l"/>
              <a:pathLst>
                <a:path h="940562" w="2092342">
                  <a:moveTo>
                    <a:pt x="0" y="235077"/>
                  </a:moveTo>
                  <a:lnTo>
                    <a:pt x="1282700" y="235077"/>
                  </a:lnTo>
                  <a:lnTo>
                    <a:pt x="1282700" y="0"/>
                  </a:lnTo>
                  <a:lnTo>
                    <a:pt x="2092342" y="470281"/>
                  </a:lnTo>
                  <a:lnTo>
                    <a:pt x="1282700" y="940562"/>
                  </a:lnTo>
                  <a:lnTo>
                    <a:pt x="1282700" y="705358"/>
                  </a:lnTo>
                  <a:lnTo>
                    <a:pt x="0" y="705358"/>
                  </a:lnTo>
                  <a:close/>
                </a:path>
              </a:pathLst>
            </a:custGeom>
            <a:solidFill>
              <a:srgbClr val="F5B942"/>
            </a:solidFill>
            <a:ln w="19065" cap="sq">
              <a:solidFill>
                <a:srgbClr val="F5B942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471012" y="2113340"/>
            <a:ext cx="3391643" cy="2293506"/>
            <a:chOff x="0" y="0"/>
            <a:chExt cx="4522191" cy="30580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22216" cy="3058033"/>
            </a:xfrm>
            <a:custGeom>
              <a:avLst/>
              <a:gdLst/>
              <a:ahLst/>
              <a:cxnLst/>
              <a:rect r="r" b="b" t="t" l="l"/>
              <a:pathLst>
                <a:path h="3058033" w="4522216">
                  <a:moveTo>
                    <a:pt x="0" y="509651"/>
                  </a:moveTo>
                  <a:cubicBezTo>
                    <a:pt x="0" y="228219"/>
                    <a:pt x="228219" y="0"/>
                    <a:pt x="509651" y="0"/>
                  </a:cubicBezTo>
                  <a:lnTo>
                    <a:pt x="4012565" y="0"/>
                  </a:lnTo>
                  <a:cubicBezTo>
                    <a:pt x="4293997" y="0"/>
                    <a:pt x="4522216" y="228219"/>
                    <a:pt x="4522216" y="509651"/>
                  </a:cubicBezTo>
                  <a:lnTo>
                    <a:pt x="4522216" y="2548382"/>
                  </a:lnTo>
                  <a:cubicBezTo>
                    <a:pt x="4522216" y="2829814"/>
                    <a:pt x="4293997" y="3058033"/>
                    <a:pt x="4012565" y="3058033"/>
                  </a:cubicBezTo>
                  <a:lnTo>
                    <a:pt x="509651" y="3058033"/>
                  </a:lnTo>
                  <a:cubicBezTo>
                    <a:pt x="228219" y="3058033"/>
                    <a:pt x="0" y="2829814"/>
                    <a:pt x="0" y="2548382"/>
                  </a:cubicBezTo>
                  <a:close/>
                </a:path>
              </a:pathLst>
            </a:custGeom>
            <a:solidFill>
              <a:srgbClr val="162033"/>
            </a:solidFill>
            <a:ln w="28597" cap="sq">
              <a:solidFill>
                <a:srgbClr val="35C2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4522191" cy="3058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2"/>
                </a:lnSpc>
              </a:pPr>
              <a:r>
                <a:rPr lang="en-US" sz="255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LLM</a:t>
              </a:r>
            </a:p>
            <a:p>
              <a:pPr algn="ctr">
                <a:lnSpc>
                  <a:spcPts val="3062"/>
                </a:lnSpc>
              </a:pPr>
              <a:r>
                <a:rPr lang="en-US" sz="255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Mô hình sinh quyết định hoặc câu trả lời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02874" y="2113340"/>
            <a:ext cx="3391643" cy="2293506"/>
            <a:chOff x="0" y="0"/>
            <a:chExt cx="4522191" cy="30580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22216" cy="3058033"/>
            </a:xfrm>
            <a:custGeom>
              <a:avLst/>
              <a:gdLst/>
              <a:ahLst/>
              <a:cxnLst/>
              <a:rect r="r" b="b" t="t" l="l"/>
              <a:pathLst>
                <a:path h="3058033" w="4522216">
                  <a:moveTo>
                    <a:pt x="0" y="509651"/>
                  </a:moveTo>
                  <a:cubicBezTo>
                    <a:pt x="0" y="228219"/>
                    <a:pt x="228219" y="0"/>
                    <a:pt x="509651" y="0"/>
                  </a:cubicBezTo>
                  <a:lnTo>
                    <a:pt x="4012565" y="0"/>
                  </a:lnTo>
                  <a:cubicBezTo>
                    <a:pt x="4293997" y="0"/>
                    <a:pt x="4522216" y="228219"/>
                    <a:pt x="4522216" y="509651"/>
                  </a:cubicBezTo>
                  <a:lnTo>
                    <a:pt x="4522216" y="2548382"/>
                  </a:lnTo>
                  <a:cubicBezTo>
                    <a:pt x="4522216" y="2829814"/>
                    <a:pt x="4293997" y="3058033"/>
                    <a:pt x="4012565" y="3058033"/>
                  </a:cubicBezTo>
                  <a:lnTo>
                    <a:pt x="509651" y="3058033"/>
                  </a:lnTo>
                  <a:cubicBezTo>
                    <a:pt x="228219" y="3058033"/>
                    <a:pt x="0" y="2829814"/>
                    <a:pt x="0" y="2548382"/>
                  </a:cubicBezTo>
                  <a:close/>
                </a:path>
              </a:pathLst>
            </a:custGeom>
            <a:solidFill>
              <a:srgbClr val="162033"/>
            </a:solidFill>
            <a:ln w="28597" cap="sq">
              <a:solidFill>
                <a:srgbClr val="33D6A6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4522191" cy="3058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2"/>
                </a:lnSpc>
              </a:pPr>
              <a:r>
                <a:rPr lang="en-US" sz="255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TOOL</a:t>
              </a:r>
            </a:p>
            <a:p>
              <a:pPr algn="ctr">
                <a:lnSpc>
                  <a:spcPts val="3062"/>
                </a:lnSpc>
              </a:pPr>
              <a:r>
                <a:rPr lang="en-US" sz="255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Chức năng có input, output và lỗi rõ ràng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890730" y="2113340"/>
            <a:ext cx="3391643" cy="2293506"/>
            <a:chOff x="0" y="0"/>
            <a:chExt cx="4522191" cy="30580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522216" cy="3058033"/>
            </a:xfrm>
            <a:custGeom>
              <a:avLst/>
              <a:gdLst/>
              <a:ahLst/>
              <a:cxnLst/>
              <a:rect r="r" b="b" t="t" l="l"/>
              <a:pathLst>
                <a:path h="3058033" w="4522216">
                  <a:moveTo>
                    <a:pt x="0" y="509651"/>
                  </a:moveTo>
                  <a:cubicBezTo>
                    <a:pt x="0" y="228219"/>
                    <a:pt x="228219" y="0"/>
                    <a:pt x="509651" y="0"/>
                  </a:cubicBezTo>
                  <a:lnTo>
                    <a:pt x="4012565" y="0"/>
                  </a:lnTo>
                  <a:cubicBezTo>
                    <a:pt x="4293997" y="0"/>
                    <a:pt x="4522216" y="228219"/>
                    <a:pt x="4522216" y="509651"/>
                  </a:cubicBezTo>
                  <a:lnTo>
                    <a:pt x="4522216" y="2548382"/>
                  </a:lnTo>
                  <a:cubicBezTo>
                    <a:pt x="4522216" y="2829814"/>
                    <a:pt x="4293997" y="3058033"/>
                    <a:pt x="4012565" y="3058033"/>
                  </a:cubicBezTo>
                  <a:lnTo>
                    <a:pt x="509651" y="3058033"/>
                  </a:lnTo>
                  <a:cubicBezTo>
                    <a:pt x="228219" y="3058033"/>
                    <a:pt x="0" y="2829814"/>
                    <a:pt x="0" y="2548382"/>
                  </a:cubicBezTo>
                  <a:close/>
                </a:path>
              </a:pathLst>
            </a:custGeom>
            <a:solidFill>
              <a:srgbClr val="162033"/>
            </a:solidFill>
            <a:ln w="28597" cap="sq">
              <a:solidFill>
                <a:srgbClr val="F5B94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4522191" cy="3058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2"/>
                </a:lnSpc>
              </a:pPr>
              <a:r>
                <a:rPr lang="en-US" sz="255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 AGENT</a:t>
              </a:r>
            </a:p>
            <a:p>
              <a:pPr algn="ctr">
                <a:lnSpc>
                  <a:spcPts val="3062"/>
                </a:lnSpc>
              </a:pPr>
              <a:r>
                <a:rPr lang="en-US" sz="255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LLM + vòng điều khiển + trạng thái + tools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854760" y="2113340"/>
            <a:ext cx="3734810" cy="2293506"/>
            <a:chOff x="0" y="0"/>
            <a:chExt cx="4979746" cy="305800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79670" cy="3058033"/>
            </a:xfrm>
            <a:custGeom>
              <a:avLst/>
              <a:gdLst/>
              <a:ahLst/>
              <a:cxnLst/>
              <a:rect r="r" b="b" t="t" l="l"/>
              <a:pathLst>
                <a:path h="3058033" w="4979670">
                  <a:moveTo>
                    <a:pt x="0" y="509651"/>
                  </a:moveTo>
                  <a:cubicBezTo>
                    <a:pt x="0" y="228219"/>
                    <a:pt x="228219" y="0"/>
                    <a:pt x="509651" y="0"/>
                  </a:cubicBezTo>
                  <a:lnTo>
                    <a:pt x="4470019" y="0"/>
                  </a:lnTo>
                  <a:cubicBezTo>
                    <a:pt x="4751451" y="0"/>
                    <a:pt x="4979670" y="228219"/>
                    <a:pt x="4979670" y="509651"/>
                  </a:cubicBezTo>
                  <a:lnTo>
                    <a:pt x="4979670" y="2548382"/>
                  </a:lnTo>
                  <a:cubicBezTo>
                    <a:pt x="4979670" y="2829814"/>
                    <a:pt x="4751451" y="3058033"/>
                    <a:pt x="4470019" y="3058033"/>
                  </a:cubicBezTo>
                  <a:lnTo>
                    <a:pt x="509651" y="3058033"/>
                  </a:lnTo>
                  <a:cubicBezTo>
                    <a:pt x="228219" y="3058033"/>
                    <a:pt x="0" y="2829814"/>
                    <a:pt x="0" y="2548382"/>
                  </a:cubicBezTo>
                  <a:close/>
                </a:path>
              </a:pathLst>
            </a:custGeom>
            <a:solidFill>
              <a:srgbClr val="162033"/>
            </a:solidFill>
            <a:ln w="28597" cap="sq">
              <a:solidFill>
                <a:srgbClr val="35C2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4979746" cy="3058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2"/>
                </a:lnSpc>
              </a:pPr>
              <a:r>
                <a:rPr lang="en-US" sz="255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ReAct</a:t>
              </a:r>
            </a:p>
            <a:p>
              <a:pPr algn="ctr">
                <a:lnSpc>
                  <a:spcPts val="3062"/>
                </a:lnSpc>
              </a:pPr>
              <a:r>
                <a:rPr lang="en-US" sz="255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Think → Act → Observe rồi lặp hoặc kết thúc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773524" y="6304759"/>
            <a:ext cx="1117206" cy="732854"/>
            <a:chOff x="0" y="0"/>
            <a:chExt cx="1489608" cy="97713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89583" cy="977138"/>
            </a:xfrm>
            <a:custGeom>
              <a:avLst/>
              <a:gdLst/>
              <a:ahLst/>
              <a:cxnLst/>
              <a:rect r="r" b="b" t="t" l="l"/>
              <a:pathLst>
                <a:path h="977138" w="1489583">
                  <a:moveTo>
                    <a:pt x="0" y="244348"/>
                  </a:moveTo>
                  <a:lnTo>
                    <a:pt x="1001014" y="244348"/>
                  </a:lnTo>
                  <a:lnTo>
                    <a:pt x="1001014" y="0"/>
                  </a:lnTo>
                  <a:lnTo>
                    <a:pt x="1489583" y="488569"/>
                  </a:lnTo>
                  <a:lnTo>
                    <a:pt x="1001014" y="977138"/>
                  </a:lnTo>
                  <a:lnTo>
                    <a:pt x="1001014" y="732917"/>
                  </a:lnTo>
                  <a:lnTo>
                    <a:pt x="0" y="732917"/>
                  </a:lnTo>
                  <a:close/>
                </a:path>
              </a:pathLst>
            </a:custGeom>
            <a:solidFill>
              <a:srgbClr val="35C2FF"/>
            </a:solidFill>
            <a:ln w="19065" cap="sq">
              <a:solidFill>
                <a:srgbClr val="35C2F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2387879" y="5407762"/>
            <a:ext cx="5382016" cy="2499408"/>
            <a:chOff x="0" y="0"/>
            <a:chExt cx="7176021" cy="333254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176135" cy="3332607"/>
            </a:xfrm>
            <a:custGeom>
              <a:avLst/>
              <a:gdLst/>
              <a:ahLst/>
              <a:cxnLst/>
              <a:rect r="r" b="b" t="t" l="l"/>
              <a:pathLst>
                <a:path h="3332607" w="7176135">
                  <a:moveTo>
                    <a:pt x="0" y="555498"/>
                  </a:moveTo>
                  <a:cubicBezTo>
                    <a:pt x="0" y="248666"/>
                    <a:pt x="248666" y="0"/>
                    <a:pt x="555498" y="0"/>
                  </a:cubicBezTo>
                  <a:lnTo>
                    <a:pt x="6620637" y="0"/>
                  </a:lnTo>
                  <a:cubicBezTo>
                    <a:pt x="6927342" y="0"/>
                    <a:pt x="7176135" y="248666"/>
                    <a:pt x="7176135" y="555498"/>
                  </a:cubicBezTo>
                  <a:lnTo>
                    <a:pt x="7176135" y="2777109"/>
                  </a:lnTo>
                  <a:cubicBezTo>
                    <a:pt x="7176135" y="3083814"/>
                    <a:pt x="6927469" y="3332607"/>
                    <a:pt x="6620637" y="3332607"/>
                  </a:cubicBezTo>
                  <a:lnTo>
                    <a:pt x="555498" y="3332607"/>
                  </a:lnTo>
                  <a:cubicBezTo>
                    <a:pt x="248666" y="3332607"/>
                    <a:pt x="0" y="3083814"/>
                    <a:pt x="0" y="2777109"/>
                  </a:cubicBezTo>
                  <a:close/>
                </a:path>
              </a:pathLst>
            </a:custGeom>
            <a:solidFill>
              <a:srgbClr val="162033"/>
            </a:solidFill>
            <a:ln w="28597" cap="sq">
              <a:solidFill>
                <a:srgbClr val="33D6A6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7176021" cy="33325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HARNESS</a:t>
              </a:r>
            </a:p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Bộ chạy task, gọi evaluator và tổng hợp kết quả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908075" y="5407762"/>
            <a:ext cx="6754692" cy="2499408"/>
            <a:chOff x="0" y="0"/>
            <a:chExt cx="9006256" cy="333254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006332" cy="3332607"/>
            </a:xfrm>
            <a:custGeom>
              <a:avLst/>
              <a:gdLst/>
              <a:ahLst/>
              <a:cxnLst/>
              <a:rect r="r" b="b" t="t" l="l"/>
              <a:pathLst>
                <a:path h="3332607" w="9006332">
                  <a:moveTo>
                    <a:pt x="0" y="555498"/>
                  </a:moveTo>
                  <a:cubicBezTo>
                    <a:pt x="0" y="248666"/>
                    <a:pt x="248666" y="0"/>
                    <a:pt x="555498" y="0"/>
                  </a:cubicBezTo>
                  <a:lnTo>
                    <a:pt x="8450834" y="0"/>
                  </a:lnTo>
                  <a:cubicBezTo>
                    <a:pt x="8757539" y="0"/>
                    <a:pt x="9006332" y="248666"/>
                    <a:pt x="9006332" y="555498"/>
                  </a:cubicBezTo>
                  <a:lnTo>
                    <a:pt x="9006332" y="2777109"/>
                  </a:lnTo>
                  <a:cubicBezTo>
                    <a:pt x="9006332" y="3083814"/>
                    <a:pt x="8757665" y="3332607"/>
                    <a:pt x="8450834" y="3332607"/>
                  </a:cubicBezTo>
                  <a:lnTo>
                    <a:pt x="555498" y="3332607"/>
                  </a:lnTo>
                  <a:cubicBezTo>
                    <a:pt x="248666" y="3332607"/>
                    <a:pt x="0" y="3083814"/>
                    <a:pt x="0" y="2777109"/>
                  </a:cubicBezTo>
                  <a:close/>
                </a:path>
              </a:pathLst>
            </a:custGeom>
            <a:solidFill>
              <a:srgbClr val="162033"/>
            </a:solidFill>
            <a:ln w="28597" cap="sq">
              <a:solidFill>
                <a:srgbClr val="35C2FF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9006256" cy="33325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TRAJECTORY</a:t>
              </a:r>
            </a:p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Nhật ký từng bước: action, arguments, result, latency và token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6700773" y="9448524"/>
            <a:ext cx="503453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A9B5C7"/>
                </a:solidFill>
                <a:latin typeface="Aptos"/>
                <a:ea typeface="Aptos"/>
                <a:cs typeface="Aptos"/>
                <a:sym typeface="Aptos"/>
              </a:rPr>
              <a:t>3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3675" y="653901"/>
            <a:ext cx="16151924" cy="94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F4F7FB"/>
                </a:solidFill>
                <a:latin typeface="Aptos Bold"/>
                <a:ea typeface="Aptos Bold"/>
                <a:cs typeface="Aptos Bold"/>
                <a:sym typeface="Aptos Bold"/>
              </a:rPr>
              <a:t>Từ chatbot sang Agent có khả năng hành động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4861" y="1802740"/>
            <a:ext cx="15191051" cy="567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A9B5C7"/>
                </a:solidFill>
                <a:latin typeface="Aptos"/>
                <a:ea typeface="Aptos"/>
                <a:cs typeface="Aptos"/>
                <a:sym typeface="Aptos"/>
              </a:rPr>
              <a:t>LLM đơn thuần chỉ sinh văn bản — Agent biến quyết định thành hành động có kiểm chứng.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15203" y="3348752"/>
            <a:ext cx="3117113" cy="1950339"/>
            <a:chOff x="0" y="0"/>
            <a:chExt cx="4156151" cy="26004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56202" cy="2600452"/>
            </a:xfrm>
            <a:custGeom>
              <a:avLst/>
              <a:gdLst/>
              <a:ahLst/>
              <a:cxnLst/>
              <a:rect r="r" b="b" t="t" l="l"/>
              <a:pathLst>
                <a:path h="2600452" w="4156202">
                  <a:moveTo>
                    <a:pt x="0" y="433451"/>
                  </a:moveTo>
                  <a:cubicBezTo>
                    <a:pt x="0" y="194056"/>
                    <a:pt x="194056" y="0"/>
                    <a:pt x="433451" y="0"/>
                  </a:cubicBezTo>
                  <a:lnTo>
                    <a:pt x="3722751" y="0"/>
                  </a:lnTo>
                  <a:cubicBezTo>
                    <a:pt x="3962146" y="0"/>
                    <a:pt x="4156202" y="194056"/>
                    <a:pt x="4156202" y="433451"/>
                  </a:cubicBezTo>
                  <a:lnTo>
                    <a:pt x="4156202" y="2167001"/>
                  </a:lnTo>
                  <a:cubicBezTo>
                    <a:pt x="4156202" y="2406396"/>
                    <a:pt x="3962146" y="2600452"/>
                    <a:pt x="3722751" y="2600452"/>
                  </a:cubicBezTo>
                  <a:lnTo>
                    <a:pt x="433451" y="2600452"/>
                  </a:lnTo>
                  <a:cubicBezTo>
                    <a:pt x="194056" y="2600452"/>
                    <a:pt x="0" y="2406396"/>
                    <a:pt x="0" y="2167001"/>
                  </a:cubicBezTo>
                  <a:close/>
                </a:path>
              </a:pathLst>
            </a:custGeom>
            <a:solidFill>
              <a:srgbClr val="162033"/>
            </a:solidFill>
            <a:ln w="28597" cap="sq">
              <a:solidFill>
                <a:srgbClr val="35C2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4156151" cy="2600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2"/>
                </a:lnSpc>
              </a:pPr>
              <a:r>
                <a:rPr lang="en-US" sz="255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THINK</a:t>
              </a:r>
            </a:p>
            <a:p>
              <a:pPr algn="ctr">
                <a:lnSpc>
                  <a:spcPts val="3062"/>
                </a:lnSpc>
              </a:pPr>
              <a:r>
                <a:rPr lang="en-US" sz="255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LLM chọn bước tiếp theo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341838" y="3902583"/>
            <a:ext cx="911304" cy="774030"/>
            <a:chOff x="0" y="0"/>
            <a:chExt cx="1215072" cy="1032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15009" cy="1032002"/>
            </a:xfrm>
            <a:custGeom>
              <a:avLst/>
              <a:gdLst/>
              <a:ahLst/>
              <a:cxnLst/>
              <a:rect r="r" b="b" t="t" l="l"/>
              <a:pathLst>
                <a:path h="1032002" w="1215009">
                  <a:moveTo>
                    <a:pt x="0" y="258064"/>
                  </a:moveTo>
                  <a:lnTo>
                    <a:pt x="699008" y="258064"/>
                  </a:lnTo>
                  <a:lnTo>
                    <a:pt x="699008" y="0"/>
                  </a:lnTo>
                  <a:lnTo>
                    <a:pt x="1215009" y="516001"/>
                  </a:lnTo>
                  <a:lnTo>
                    <a:pt x="699008" y="1032002"/>
                  </a:lnTo>
                  <a:lnTo>
                    <a:pt x="699008" y="774065"/>
                  </a:lnTo>
                  <a:lnTo>
                    <a:pt x="0" y="774065"/>
                  </a:lnTo>
                  <a:close/>
                </a:path>
              </a:pathLst>
            </a:custGeom>
            <a:solidFill>
              <a:srgbClr val="35C2FF"/>
            </a:solidFill>
            <a:ln w="19065" cap="sq">
              <a:solidFill>
                <a:srgbClr val="35C2F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476389" y="3348752"/>
            <a:ext cx="3117113" cy="1950339"/>
            <a:chOff x="0" y="0"/>
            <a:chExt cx="4156151" cy="26004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56202" cy="2600452"/>
            </a:xfrm>
            <a:custGeom>
              <a:avLst/>
              <a:gdLst/>
              <a:ahLst/>
              <a:cxnLst/>
              <a:rect r="r" b="b" t="t" l="l"/>
              <a:pathLst>
                <a:path h="2600452" w="4156202">
                  <a:moveTo>
                    <a:pt x="0" y="433451"/>
                  </a:moveTo>
                  <a:cubicBezTo>
                    <a:pt x="0" y="194056"/>
                    <a:pt x="194056" y="0"/>
                    <a:pt x="433451" y="0"/>
                  </a:cubicBezTo>
                  <a:lnTo>
                    <a:pt x="3722751" y="0"/>
                  </a:lnTo>
                  <a:cubicBezTo>
                    <a:pt x="3962146" y="0"/>
                    <a:pt x="4156202" y="194056"/>
                    <a:pt x="4156202" y="433451"/>
                  </a:cubicBezTo>
                  <a:lnTo>
                    <a:pt x="4156202" y="2167001"/>
                  </a:lnTo>
                  <a:cubicBezTo>
                    <a:pt x="4156202" y="2406396"/>
                    <a:pt x="3962146" y="2600452"/>
                    <a:pt x="3722751" y="2600452"/>
                  </a:cubicBezTo>
                  <a:lnTo>
                    <a:pt x="433451" y="2600452"/>
                  </a:lnTo>
                  <a:cubicBezTo>
                    <a:pt x="194056" y="2600452"/>
                    <a:pt x="0" y="2406396"/>
                    <a:pt x="0" y="2167001"/>
                  </a:cubicBezTo>
                  <a:close/>
                </a:path>
              </a:pathLst>
            </a:custGeom>
            <a:solidFill>
              <a:srgbClr val="162033"/>
            </a:solidFill>
            <a:ln w="28597" cap="sq">
              <a:solidFill>
                <a:srgbClr val="33D6A6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4156151" cy="2600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2"/>
                </a:lnSpc>
              </a:pPr>
              <a:r>
                <a:rPr lang="en-US" sz="255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ACT</a:t>
              </a:r>
            </a:p>
            <a:p>
              <a:pPr algn="ctr">
                <a:lnSpc>
                  <a:spcPts val="3062"/>
                </a:lnSpc>
              </a:pPr>
              <a:r>
                <a:rPr lang="en-US" sz="255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Framework chạy tool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803024" y="3902583"/>
            <a:ext cx="911304" cy="774030"/>
            <a:chOff x="0" y="0"/>
            <a:chExt cx="1215072" cy="10320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15009" cy="1032002"/>
            </a:xfrm>
            <a:custGeom>
              <a:avLst/>
              <a:gdLst/>
              <a:ahLst/>
              <a:cxnLst/>
              <a:rect r="r" b="b" t="t" l="l"/>
              <a:pathLst>
                <a:path h="1032002" w="1215009">
                  <a:moveTo>
                    <a:pt x="0" y="258064"/>
                  </a:moveTo>
                  <a:lnTo>
                    <a:pt x="699008" y="258064"/>
                  </a:lnTo>
                  <a:lnTo>
                    <a:pt x="699008" y="0"/>
                  </a:lnTo>
                  <a:lnTo>
                    <a:pt x="1215009" y="516001"/>
                  </a:lnTo>
                  <a:lnTo>
                    <a:pt x="699008" y="1032002"/>
                  </a:lnTo>
                  <a:lnTo>
                    <a:pt x="699008" y="774065"/>
                  </a:lnTo>
                  <a:lnTo>
                    <a:pt x="0" y="774065"/>
                  </a:lnTo>
                  <a:close/>
                </a:path>
              </a:pathLst>
            </a:custGeom>
            <a:solidFill>
              <a:srgbClr val="33D6A6"/>
            </a:solidFill>
            <a:ln w="19065" cap="sq">
              <a:solidFill>
                <a:srgbClr val="33D6A6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937575" y="3348752"/>
            <a:ext cx="3117113" cy="1950339"/>
            <a:chOff x="0" y="0"/>
            <a:chExt cx="4156151" cy="26004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56202" cy="2600452"/>
            </a:xfrm>
            <a:custGeom>
              <a:avLst/>
              <a:gdLst/>
              <a:ahLst/>
              <a:cxnLst/>
              <a:rect r="r" b="b" t="t" l="l"/>
              <a:pathLst>
                <a:path h="2600452" w="4156202">
                  <a:moveTo>
                    <a:pt x="0" y="433451"/>
                  </a:moveTo>
                  <a:cubicBezTo>
                    <a:pt x="0" y="194056"/>
                    <a:pt x="194056" y="0"/>
                    <a:pt x="433451" y="0"/>
                  </a:cubicBezTo>
                  <a:lnTo>
                    <a:pt x="3722751" y="0"/>
                  </a:lnTo>
                  <a:cubicBezTo>
                    <a:pt x="3962146" y="0"/>
                    <a:pt x="4156202" y="194056"/>
                    <a:pt x="4156202" y="433451"/>
                  </a:cubicBezTo>
                  <a:lnTo>
                    <a:pt x="4156202" y="2167001"/>
                  </a:lnTo>
                  <a:cubicBezTo>
                    <a:pt x="4156202" y="2406396"/>
                    <a:pt x="3962146" y="2600452"/>
                    <a:pt x="3722751" y="2600452"/>
                  </a:cubicBezTo>
                  <a:lnTo>
                    <a:pt x="433451" y="2600452"/>
                  </a:lnTo>
                  <a:cubicBezTo>
                    <a:pt x="194056" y="2600452"/>
                    <a:pt x="0" y="2406396"/>
                    <a:pt x="0" y="2167001"/>
                  </a:cubicBezTo>
                  <a:close/>
                </a:path>
              </a:pathLst>
            </a:custGeom>
            <a:solidFill>
              <a:srgbClr val="162033"/>
            </a:solidFill>
            <a:ln w="28597" cap="sq">
              <a:solidFill>
                <a:srgbClr val="F5B94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4156151" cy="2600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2"/>
                </a:lnSpc>
              </a:pPr>
              <a:r>
                <a:rPr lang="en-US" sz="255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OBSERVE</a:t>
              </a:r>
            </a:p>
            <a:p>
              <a:pPr algn="ctr">
                <a:lnSpc>
                  <a:spcPts val="3062"/>
                </a:lnSpc>
              </a:pPr>
              <a:r>
                <a:rPr lang="en-US" sz="255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Kết quả vào history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264210" y="3902583"/>
            <a:ext cx="911304" cy="774030"/>
            <a:chOff x="0" y="0"/>
            <a:chExt cx="1215072" cy="1032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15009" cy="1032002"/>
            </a:xfrm>
            <a:custGeom>
              <a:avLst/>
              <a:gdLst/>
              <a:ahLst/>
              <a:cxnLst/>
              <a:rect r="r" b="b" t="t" l="l"/>
              <a:pathLst>
                <a:path h="1032002" w="1215009">
                  <a:moveTo>
                    <a:pt x="0" y="258064"/>
                  </a:moveTo>
                  <a:lnTo>
                    <a:pt x="699008" y="258064"/>
                  </a:lnTo>
                  <a:lnTo>
                    <a:pt x="699008" y="0"/>
                  </a:lnTo>
                  <a:lnTo>
                    <a:pt x="1215009" y="516001"/>
                  </a:lnTo>
                  <a:lnTo>
                    <a:pt x="699008" y="1032002"/>
                  </a:lnTo>
                  <a:lnTo>
                    <a:pt x="699008" y="774065"/>
                  </a:lnTo>
                  <a:lnTo>
                    <a:pt x="0" y="774065"/>
                  </a:lnTo>
                  <a:close/>
                </a:path>
              </a:pathLst>
            </a:custGeom>
            <a:solidFill>
              <a:srgbClr val="F5B942"/>
            </a:solidFill>
            <a:ln w="19065" cap="sq">
              <a:solidFill>
                <a:srgbClr val="F5B942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4398762" y="3348752"/>
            <a:ext cx="2911211" cy="1950339"/>
            <a:chOff x="0" y="0"/>
            <a:chExt cx="3881615" cy="26004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81628" cy="2600452"/>
            </a:xfrm>
            <a:custGeom>
              <a:avLst/>
              <a:gdLst/>
              <a:ahLst/>
              <a:cxnLst/>
              <a:rect r="r" b="b" t="t" l="l"/>
              <a:pathLst>
                <a:path h="2600452" w="3881628">
                  <a:moveTo>
                    <a:pt x="0" y="433451"/>
                  </a:moveTo>
                  <a:cubicBezTo>
                    <a:pt x="0" y="194056"/>
                    <a:pt x="194056" y="0"/>
                    <a:pt x="433451" y="0"/>
                  </a:cubicBezTo>
                  <a:lnTo>
                    <a:pt x="3448177" y="0"/>
                  </a:lnTo>
                  <a:cubicBezTo>
                    <a:pt x="3687572" y="0"/>
                    <a:pt x="3881628" y="194056"/>
                    <a:pt x="3881628" y="433451"/>
                  </a:cubicBezTo>
                  <a:lnTo>
                    <a:pt x="3881628" y="2167001"/>
                  </a:lnTo>
                  <a:cubicBezTo>
                    <a:pt x="3881628" y="2406396"/>
                    <a:pt x="3687572" y="2600452"/>
                    <a:pt x="3448177" y="2600452"/>
                  </a:cubicBezTo>
                  <a:lnTo>
                    <a:pt x="433451" y="2600452"/>
                  </a:lnTo>
                  <a:cubicBezTo>
                    <a:pt x="194056" y="2600452"/>
                    <a:pt x="0" y="2406396"/>
                    <a:pt x="0" y="2167001"/>
                  </a:cubicBezTo>
                  <a:close/>
                </a:path>
              </a:pathLst>
            </a:custGeom>
            <a:solidFill>
              <a:srgbClr val="162033"/>
            </a:solidFill>
            <a:ln w="28597" cap="sq">
              <a:solidFill>
                <a:srgbClr val="35C2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3881615" cy="2600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2"/>
                </a:lnSpc>
              </a:pPr>
              <a:r>
                <a:rPr lang="en-US" sz="255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CONTINUE</a:t>
              </a:r>
            </a:p>
            <a:p>
              <a:pPr algn="ctr">
                <a:lnSpc>
                  <a:spcPts val="3062"/>
                </a:lnSpc>
              </a:pPr>
              <a:r>
                <a:rPr lang="en-US" sz="255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hoặc FINISH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3111322" y="6909083"/>
            <a:ext cx="12033904" cy="800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true">
                <a:solidFill>
                  <a:srgbClr val="33D6A6"/>
                </a:solidFill>
                <a:latin typeface="Aptos Bold"/>
                <a:ea typeface="Aptos Bold"/>
                <a:cs typeface="Aptos Bold"/>
                <a:sym typeface="Aptos Bold"/>
              </a:rPr>
              <a:t>Mở rộng được  ·  Lỗi rõ ràng  ·  Đánh giá tái lập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4861" y="9448524"/>
            <a:ext cx="4484208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9B5C7"/>
                </a:solidFill>
                <a:latin typeface="Aptos"/>
                <a:ea typeface="Aptos"/>
                <a:cs typeface="Aptos"/>
                <a:sym typeface="Aptos"/>
              </a:rPr>
              <a:t>Role A · Systems / Core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700773" y="9448524"/>
            <a:ext cx="503453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A9B5C7"/>
                </a:solidFill>
                <a:latin typeface="Aptos"/>
                <a:ea typeface="Aptos"/>
                <a:cs typeface="Aptos"/>
                <a:sym typeface="Aptos"/>
              </a:rPr>
              <a:t>4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3675" y="653901"/>
            <a:ext cx="16014659" cy="94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F4F7FB"/>
                </a:solidFill>
                <a:latin typeface="Aptos Bold"/>
                <a:ea typeface="Aptos Bold"/>
                <a:cs typeface="Aptos Bold"/>
                <a:sym typeface="Aptos Bold"/>
              </a:rPr>
              <a:t>Các tầng được tách bằng contract rõ ràng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83840" y="2387879"/>
            <a:ext cx="3048476" cy="5244751"/>
            <a:chOff x="0" y="0"/>
            <a:chExt cx="4064635" cy="69930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64635" cy="6993001"/>
            </a:xfrm>
            <a:custGeom>
              <a:avLst/>
              <a:gdLst/>
              <a:ahLst/>
              <a:cxnLst/>
              <a:rect r="r" b="b" t="t" l="l"/>
              <a:pathLst>
                <a:path h="6993001" w="4064635">
                  <a:moveTo>
                    <a:pt x="0" y="677418"/>
                  </a:moveTo>
                  <a:cubicBezTo>
                    <a:pt x="0" y="303276"/>
                    <a:pt x="303276" y="0"/>
                    <a:pt x="677418" y="0"/>
                  </a:cubicBezTo>
                  <a:lnTo>
                    <a:pt x="3387217" y="0"/>
                  </a:lnTo>
                  <a:cubicBezTo>
                    <a:pt x="3761359" y="0"/>
                    <a:pt x="4064635" y="303276"/>
                    <a:pt x="4064635" y="677418"/>
                  </a:cubicBezTo>
                  <a:lnTo>
                    <a:pt x="4064635" y="6315583"/>
                  </a:lnTo>
                  <a:cubicBezTo>
                    <a:pt x="4064635" y="6689725"/>
                    <a:pt x="3761359" y="6993001"/>
                    <a:pt x="3387217" y="6993001"/>
                  </a:cubicBezTo>
                  <a:lnTo>
                    <a:pt x="677418" y="6993001"/>
                  </a:lnTo>
                  <a:cubicBezTo>
                    <a:pt x="303276" y="6993001"/>
                    <a:pt x="0" y="6689725"/>
                    <a:pt x="0" y="6315583"/>
                  </a:cubicBezTo>
                  <a:close/>
                </a:path>
              </a:pathLst>
            </a:custGeom>
            <a:solidFill>
              <a:srgbClr val="162033"/>
            </a:solidFill>
            <a:ln w="28597" cap="sq">
              <a:solidFill>
                <a:srgbClr val="35C2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4064635" cy="69930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LLM CLIENT</a:t>
              </a:r>
            </a:p>
            <a:p>
              <a:pPr algn="ctr">
                <a:lnSpc>
                  <a:spcPts val="3062"/>
                </a:lnSpc>
              </a:pPr>
            </a:p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GeminiClient</a:t>
              </a:r>
            </a:p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OllamaClient</a:t>
              </a:r>
            </a:p>
            <a:p>
              <a:pPr algn="ctr">
                <a:lnSpc>
                  <a:spcPts val="3062"/>
                </a:lnSpc>
              </a:pPr>
            </a:p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text + image</a:t>
              </a:r>
            </a:p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config + usage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314387" y="4451652"/>
            <a:ext cx="842667" cy="774030"/>
            <a:chOff x="0" y="0"/>
            <a:chExt cx="1123556" cy="1032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3569" cy="1032002"/>
            </a:xfrm>
            <a:custGeom>
              <a:avLst/>
              <a:gdLst/>
              <a:ahLst/>
              <a:cxnLst/>
              <a:rect r="r" b="b" t="t" l="l"/>
              <a:pathLst>
                <a:path h="1032002" w="1123569">
                  <a:moveTo>
                    <a:pt x="0" y="258064"/>
                  </a:moveTo>
                  <a:lnTo>
                    <a:pt x="607568" y="258064"/>
                  </a:lnTo>
                  <a:lnTo>
                    <a:pt x="607568" y="0"/>
                  </a:lnTo>
                  <a:lnTo>
                    <a:pt x="1123569" y="516001"/>
                  </a:lnTo>
                  <a:lnTo>
                    <a:pt x="607568" y="1032002"/>
                  </a:lnTo>
                  <a:lnTo>
                    <a:pt x="607568" y="774065"/>
                  </a:lnTo>
                  <a:lnTo>
                    <a:pt x="0" y="774065"/>
                  </a:lnTo>
                  <a:close/>
                </a:path>
              </a:pathLst>
            </a:custGeom>
            <a:solidFill>
              <a:srgbClr val="35C2FF"/>
            </a:solidFill>
            <a:ln w="19065" cap="sq">
              <a:solidFill>
                <a:srgbClr val="35C2F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5339124" y="2387879"/>
            <a:ext cx="3048476" cy="5244751"/>
            <a:chOff x="0" y="0"/>
            <a:chExt cx="4064635" cy="69930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635" cy="6993001"/>
            </a:xfrm>
            <a:custGeom>
              <a:avLst/>
              <a:gdLst/>
              <a:ahLst/>
              <a:cxnLst/>
              <a:rect r="r" b="b" t="t" l="l"/>
              <a:pathLst>
                <a:path h="6993001" w="4064635">
                  <a:moveTo>
                    <a:pt x="0" y="677418"/>
                  </a:moveTo>
                  <a:cubicBezTo>
                    <a:pt x="0" y="303276"/>
                    <a:pt x="303276" y="0"/>
                    <a:pt x="677418" y="0"/>
                  </a:cubicBezTo>
                  <a:lnTo>
                    <a:pt x="3387217" y="0"/>
                  </a:lnTo>
                  <a:cubicBezTo>
                    <a:pt x="3761359" y="0"/>
                    <a:pt x="4064635" y="303276"/>
                    <a:pt x="4064635" y="677418"/>
                  </a:cubicBezTo>
                  <a:lnTo>
                    <a:pt x="4064635" y="6315583"/>
                  </a:lnTo>
                  <a:cubicBezTo>
                    <a:pt x="4064635" y="6689725"/>
                    <a:pt x="3761359" y="6993001"/>
                    <a:pt x="3387217" y="6993001"/>
                  </a:cubicBezTo>
                  <a:lnTo>
                    <a:pt x="677418" y="6993001"/>
                  </a:lnTo>
                  <a:cubicBezTo>
                    <a:pt x="303276" y="6993001"/>
                    <a:pt x="0" y="6689725"/>
                    <a:pt x="0" y="6315583"/>
                  </a:cubicBezTo>
                  <a:close/>
                </a:path>
              </a:pathLst>
            </a:custGeom>
            <a:solidFill>
              <a:srgbClr val="162033"/>
            </a:solidFill>
            <a:ln w="28597" cap="sq">
              <a:solidFill>
                <a:srgbClr val="33D6A6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4064635" cy="69930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AGENT CORE</a:t>
              </a:r>
            </a:p>
            <a:p>
              <a:pPr algn="ctr">
                <a:lnSpc>
                  <a:spcPts val="3062"/>
                </a:lnSpc>
              </a:pPr>
            </a:p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AgentLoop</a:t>
              </a:r>
            </a:p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LoopDetector</a:t>
              </a:r>
            </a:p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SkillLoader</a:t>
              </a:r>
            </a:p>
            <a:p>
              <a:pPr algn="ctr">
                <a:lnSpc>
                  <a:spcPts val="3062"/>
                </a:lnSpc>
              </a:pPr>
            </a:p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ReAct + history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569671" y="4451652"/>
            <a:ext cx="842667" cy="774030"/>
            <a:chOff x="0" y="0"/>
            <a:chExt cx="1123556" cy="1032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23569" cy="1032002"/>
            </a:xfrm>
            <a:custGeom>
              <a:avLst/>
              <a:gdLst/>
              <a:ahLst/>
              <a:cxnLst/>
              <a:rect r="r" b="b" t="t" l="l"/>
              <a:pathLst>
                <a:path h="1032002" w="1123569">
                  <a:moveTo>
                    <a:pt x="0" y="258064"/>
                  </a:moveTo>
                  <a:lnTo>
                    <a:pt x="607568" y="258064"/>
                  </a:lnTo>
                  <a:lnTo>
                    <a:pt x="607568" y="0"/>
                  </a:lnTo>
                  <a:lnTo>
                    <a:pt x="1123569" y="516001"/>
                  </a:lnTo>
                  <a:lnTo>
                    <a:pt x="607568" y="1032002"/>
                  </a:lnTo>
                  <a:lnTo>
                    <a:pt x="607568" y="774065"/>
                  </a:lnTo>
                  <a:lnTo>
                    <a:pt x="0" y="774065"/>
                  </a:lnTo>
                  <a:close/>
                </a:path>
              </a:pathLst>
            </a:custGeom>
            <a:solidFill>
              <a:srgbClr val="33D6A6"/>
            </a:solidFill>
            <a:ln w="19065" cap="sq">
              <a:solidFill>
                <a:srgbClr val="33D6A6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594409" y="2387879"/>
            <a:ext cx="3048476" cy="5244751"/>
            <a:chOff x="0" y="0"/>
            <a:chExt cx="4064635" cy="69930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635" cy="6993001"/>
            </a:xfrm>
            <a:custGeom>
              <a:avLst/>
              <a:gdLst/>
              <a:ahLst/>
              <a:cxnLst/>
              <a:rect r="r" b="b" t="t" l="l"/>
              <a:pathLst>
                <a:path h="6993001" w="4064635">
                  <a:moveTo>
                    <a:pt x="0" y="677418"/>
                  </a:moveTo>
                  <a:cubicBezTo>
                    <a:pt x="0" y="303276"/>
                    <a:pt x="303276" y="0"/>
                    <a:pt x="677418" y="0"/>
                  </a:cubicBezTo>
                  <a:lnTo>
                    <a:pt x="3387217" y="0"/>
                  </a:lnTo>
                  <a:cubicBezTo>
                    <a:pt x="3761359" y="0"/>
                    <a:pt x="4064635" y="303276"/>
                    <a:pt x="4064635" y="677418"/>
                  </a:cubicBezTo>
                  <a:lnTo>
                    <a:pt x="4064635" y="6315583"/>
                  </a:lnTo>
                  <a:cubicBezTo>
                    <a:pt x="4064635" y="6689725"/>
                    <a:pt x="3761359" y="6993001"/>
                    <a:pt x="3387217" y="6993001"/>
                  </a:cubicBezTo>
                  <a:lnTo>
                    <a:pt x="677418" y="6993001"/>
                  </a:lnTo>
                  <a:cubicBezTo>
                    <a:pt x="303276" y="6993001"/>
                    <a:pt x="0" y="6689725"/>
                    <a:pt x="0" y="6315583"/>
                  </a:cubicBezTo>
                  <a:close/>
                </a:path>
              </a:pathLst>
            </a:custGeom>
            <a:solidFill>
              <a:srgbClr val="162033"/>
            </a:solidFill>
            <a:ln w="28597" cap="sq">
              <a:solidFill>
                <a:srgbClr val="F5B94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4064635" cy="69930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TOOLS</a:t>
              </a:r>
            </a:p>
            <a:p>
              <a:pPr algn="ctr">
                <a:lnSpc>
                  <a:spcPts val="3062"/>
                </a:lnSpc>
              </a:pPr>
            </a:p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ToolRegistry</a:t>
              </a:r>
            </a:p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Factory + policy</a:t>
              </a:r>
            </a:p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Concrete tools</a:t>
              </a:r>
            </a:p>
            <a:p>
              <a:pPr algn="ctr">
                <a:lnSpc>
                  <a:spcPts val="3062"/>
                </a:lnSpc>
              </a:pPr>
            </a:p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ToolError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824955" y="4451652"/>
            <a:ext cx="842667" cy="774030"/>
            <a:chOff x="0" y="0"/>
            <a:chExt cx="1123556" cy="1032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23569" cy="1032002"/>
            </a:xfrm>
            <a:custGeom>
              <a:avLst/>
              <a:gdLst/>
              <a:ahLst/>
              <a:cxnLst/>
              <a:rect r="r" b="b" t="t" l="l"/>
              <a:pathLst>
                <a:path h="1032002" w="1123569">
                  <a:moveTo>
                    <a:pt x="0" y="258064"/>
                  </a:moveTo>
                  <a:lnTo>
                    <a:pt x="607568" y="258064"/>
                  </a:lnTo>
                  <a:lnTo>
                    <a:pt x="607568" y="0"/>
                  </a:lnTo>
                  <a:lnTo>
                    <a:pt x="1123569" y="516001"/>
                  </a:lnTo>
                  <a:lnTo>
                    <a:pt x="607568" y="1032002"/>
                  </a:lnTo>
                  <a:lnTo>
                    <a:pt x="607568" y="774065"/>
                  </a:lnTo>
                  <a:lnTo>
                    <a:pt x="0" y="774065"/>
                  </a:lnTo>
                  <a:close/>
                </a:path>
              </a:pathLst>
            </a:custGeom>
            <a:solidFill>
              <a:srgbClr val="F5B942"/>
            </a:solidFill>
            <a:ln w="19065" cap="sq">
              <a:solidFill>
                <a:srgbClr val="F5B942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3849693" y="2387879"/>
            <a:ext cx="3323015" cy="5244751"/>
            <a:chOff x="0" y="0"/>
            <a:chExt cx="4430687" cy="69930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30776" cy="6993001"/>
            </a:xfrm>
            <a:custGeom>
              <a:avLst/>
              <a:gdLst/>
              <a:ahLst/>
              <a:cxnLst/>
              <a:rect r="r" b="b" t="t" l="l"/>
              <a:pathLst>
                <a:path h="6993001" w="4430776">
                  <a:moveTo>
                    <a:pt x="0" y="738505"/>
                  </a:moveTo>
                  <a:cubicBezTo>
                    <a:pt x="0" y="330581"/>
                    <a:pt x="330581" y="0"/>
                    <a:pt x="738505" y="0"/>
                  </a:cubicBezTo>
                  <a:lnTo>
                    <a:pt x="3692271" y="0"/>
                  </a:lnTo>
                  <a:cubicBezTo>
                    <a:pt x="4100068" y="0"/>
                    <a:pt x="4430776" y="330581"/>
                    <a:pt x="4430776" y="738505"/>
                  </a:cubicBezTo>
                  <a:lnTo>
                    <a:pt x="4430776" y="6254496"/>
                  </a:lnTo>
                  <a:cubicBezTo>
                    <a:pt x="4430776" y="6662293"/>
                    <a:pt x="4100195" y="6993001"/>
                    <a:pt x="3692271" y="6993001"/>
                  </a:cubicBezTo>
                  <a:lnTo>
                    <a:pt x="738505" y="6993001"/>
                  </a:lnTo>
                  <a:cubicBezTo>
                    <a:pt x="330581" y="6993001"/>
                    <a:pt x="0" y="6662420"/>
                    <a:pt x="0" y="6254496"/>
                  </a:cubicBezTo>
                  <a:close/>
                </a:path>
              </a:pathLst>
            </a:custGeom>
            <a:solidFill>
              <a:srgbClr val="162033"/>
            </a:solidFill>
            <a:ln w="28597" cap="sq">
              <a:solidFill>
                <a:srgbClr val="35C2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4430687" cy="69930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EVALUATION</a:t>
              </a:r>
            </a:p>
            <a:p>
              <a:pPr algn="ctr">
                <a:lnSpc>
                  <a:spcPts val="3062"/>
                </a:lnSpc>
              </a:pPr>
            </a:p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HarnessRunner</a:t>
              </a:r>
            </a:p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Evaluator Strategy</a:t>
              </a:r>
            </a:p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Trajectory export</a:t>
              </a:r>
            </a:p>
            <a:p>
              <a:pPr algn="ctr">
                <a:lnSpc>
                  <a:spcPts val="3062"/>
                </a:lnSpc>
              </a:pPr>
            </a:p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StepHook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219087" y="8117034"/>
            <a:ext cx="13818375" cy="567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2"/>
              </a:lnSpc>
            </a:pPr>
            <a:r>
              <a:rPr lang="en-US" sz="2852">
                <a:solidFill>
                  <a:srgbClr val="A9B5C7"/>
                </a:solidFill>
                <a:latin typeface="Aptos"/>
                <a:ea typeface="Aptos"/>
                <a:cs typeface="Aptos"/>
                <a:sym typeface="Aptos"/>
              </a:rPr>
              <a:t>Agent phát sự kiện; Harness quan sát mà không tạo dependency ngược.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4861" y="9448524"/>
            <a:ext cx="448420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9B5C7"/>
                </a:solidFill>
                <a:latin typeface="Aptos"/>
                <a:ea typeface="Aptos"/>
                <a:cs typeface="Aptos"/>
                <a:sym typeface="Aptos"/>
              </a:rPr>
              <a:t>Role A · Systems / Core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700773" y="9448524"/>
            <a:ext cx="503453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A9B5C7"/>
                </a:solidFill>
                <a:latin typeface="Aptos"/>
                <a:ea typeface="Aptos"/>
                <a:cs typeface="Aptos"/>
                <a:sym typeface="Aptos"/>
              </a:rPr>
              <a:t>5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3675" y="653901"/>
            <a:ext cx="16151924" cy="94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F4F7FB"/>
                </a:solidFill>
                <a:latin typeface="Aptos Bold"/>
                <a:ea typeface="Aptos Bold"/>
                <a:cs typeface="Aptos Bold"/>
                <a:sym typeface="Aptos Bold"/>
              </a:rPr>
              <a:t>AgentLoop điều phối LLM, tool và history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15203" y="2250615"/>
            <a:ext cx="7646927" cy="6480158"/>
            <a:chOff x="0" y="0"/>
            <a:chExt cx="10195903" cy="8640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195941" cy="8640185"/>
            </a:xfrm>
            <a:custGeom>
              <a:avLst/>
              <a:gdLst/>
              <a:ahLst/>
              <a:cxnLst/>
              <a:rect r="r" b="b" t="t" l="l"/>
              <a:pathLst>
                <a:path h="8640185" w="10195941">
                  <a:moveTo>
                    <a:pt x="0" y="1440052"/>
                  </a:moveTo>
                  <a:cubicBezTo>
                    <a:pt x="0" y="644779"/>
                    <a:pt x="644779" y="0"/>
                    <a:pt x="1440053" y="0"/>
                  </a:cubicBezTo>
                  <a:lnTo>
                    <a:pt x="8755888" y="0"/>
                  </a:lnTo>
                  <a:cubicBezTo>
                    <a:pt x="9551162" y="0"/>
                    <a:pt x="10195941" y="644779"/>
                    <a:pt x="10195941" y="1440052"/>
                  </a:cubicBezTo>
                  <a:lnTo>
                    <a:pt x="10195941" y="7200133"/>
                  </a:lnTo>
                  <a:cubicBezTo>
                    <a:pt x="10195941" y="7995407"/>
                    <a:pt x="9551162" y="8640185"/>
                    <a:pt x="8755888" y="8640185"/>
                  </a:cubicBezTo>
                  <a:lnTo>
                    <a:pt x="1440053" y="8640185"/>
                  </a:lnTo>
                  <a:cubicBezTo>
                    <a:pt x="644779" y="8640185"/>
                    <a:pt x="0" y="7995407"/>
                    <a:pt x="0" y="7200133"/>
                  </a:cubicBezTo>
                  <a:close/>
                </a:path>
              </a:pathLst>
            </a:custGeom>
            <a:solidFill>
              <a:srgbClr val="162033"/>
            </a:solidFill>
            <a:ln w="28597" cap="sq">
              <a:solidFill>
                <a:srgbClr val="35C2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0195903" cy="8640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2"/>
                </a:lnSpc>
              </a:pPr>
              <a:r>
                <a:rPr lang="en-US" sz="285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LLM CLIENT</a:t>
              </a:r>
            </a:p>
            <a:p>
              <a:pPr algn="ctr">
                <a:lnSpc>
                  <a:spcPts val="3422"/>
                </a:lnSpc>
              </a:pPr>
            </a:p>
            <a:p>
              <a:pPr algn="ctr">
                <a:lnSpc>
                  <a:spcPts val="3422"/>
                </a:lnSpc>
              </a:pPr>
              <a:r>
                <a:rPr lang="en-US" sz="285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• Text và ảnh base64 trong một interface</a:t>
              </a:r>
            </a:p>
            <a:p>
              <a:pPr algn="ctr">
                <a:lnSpc>
                  <a:spcPts val="3422"/>
                </a:lnSpc>
              </a:pPr>
              <a:r>
                <a:rPr lang="en-US" sz="285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• Endpoint, model, temperature</a:t>
              </a:r>
            </a:p>
            <a:p>
              <a:pPr algn="ctr">
                <a:lnSpc>
                  <a:spcPts val="3422"/>
                </a:lnSpc>
              </a:pPr>
              <a:r>
                <a:rPr lang="en-US" sz="285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• Max tokens và timeout từ config</a:t>
              </a:r>
            </a:p>
            <a:p>
              <a:pPr algn="ctr">
                <a:lnSpc>
                  <a:spcPts val="3422"/>
                </a:lnSpc>
              </a:pPr>
              <a:r>
                <a:rPr lang="en-US" sz="285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• Gemini / Ollama cùng contract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51242" y="2250615"/>
            <a:ext cx="7990094" cy="6480158"/>
            <a:chOff x="0" y="0"/>
            <a:chExt cx="10653458" cy="86402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653395" cy="8640185"/>
            </a:xfrm>
            <a:custGeom>
              <a:avLst/>
              <a:gdLst/>
              <a:ahLst/>
              <a:cxnLst/>
              <a:rect r="r" b="b" t="t" l="l"/>
              <a:pathLst>
                <a:path h="8640185" w="10653395">
                  <a:moveTo>
                    <a:pt x="0" y="1440052"/>
                  </a:moveTo>
                  <a:cubicBezTo>
                    <a:pt x="0" y="644779"/>
                    <a:pt x="644779" y="0"/>
                    <a:pt x="1440053" y="0"/>
                  </a:cubicBezTo>
                  <a:lnTo>
                    <a:pt x="9213342" y="0"/>
                  </a:lnTo>
                  <a:cubicBezTo>
                    <a:pt x="10008616" y="0"/>
                    <a:pt x="10653395" y="644779"/>
                    <a:pt x="10653395" y="1440052"/>
                  </a:cubicBezTo>
                  <a:lnTo>
                    <a:pt x="10653395" y="7200133"/>
                  </a:lnTo>
                  <a:cubicBezTo>
                    <a:pt x="10653395" y="7995407"/>
                    <a:pt x="10008616" y="8640185"/>
                    <a:pt x="9213342" y="8640185"/>
                  </a:cubicBezTo>
                  <a:lnTo>
                    <a:pt x="1440053" y="8640185"/>
                  </a:lnTo>
                  <a:cubicBezTo>
                    <a:pt x="644779" y="8640185"/>
                    <a:pt x="0" y="7995407"/>
                    <a:pt x="0" y="7200133"/>
                  </a:cubicBezTo>
                  <a:close/>
                </a:path>
              </a:pathLst>
            </a:custGeom>
            <a:solidFill>
              <a:srgbClr val="162033"/>
            </a:solidFill>
            <a:ln w="28597" cap="sq">
              <a:solidFill>
                <a:srgbClr val="33D6A6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0653458" cy="8640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2"/>
                </a:lnSpc>
              </a:pPr>
              <a:r>
                <a:rPr lang="en-US" sz="285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PARSER + HISTORY</a:t>
              </a:r>
            </a:p>
            <a:p>
              <a:pPr algn="ctr">
                <a:lnSpc>
                  <a:spcPts val="3422"/>
                </a:lnSpc>
              </a:pPr>
            </a:p>
            <a:p>
              <a:pPr algn="ctr">
                <a:lnSpc>
                  <a:spcPts val="3422"/>
                </a:lnSpc>
              </a:pPr>
              <a:r>
                <a:rPr lang="en-US" sz="285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• JSON và fenced JSON</a:t>
              </a:r>
            </a:p>
            <a:p>
              <a:pPr algn="ctr">
                <a:lnSpc>
                  <a:spcPts val="3422"/>
                </a:lnSpc>
              </a:pPr>
              <a:r>
                <a:rPr lang="en-US" sz="285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• Escaped arguments không bị cắt</a:t>
              </a:r>
            </a:p>
            <a:p>
              <a:pPr algn="ctr">
                <a:lnSpc>
                  <a:spcPts val="3422"/>
                </a:lnSpc>
              </a:pPr>
              <a:r>
                <a:rPr lang="en-US" sz="285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• Role: system → user → assistant → tool</a:t>
              </a:r>
            </a:p>
            <a:p>
              <a:pPr algn="ctr">
                <a:lnSpc>
                  <a:spcPts val="3422"/>
                </a:lnSpc>
              </a:pPr>
              <a:r>
                <a:rPr lang="en-US" sz="285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• JSON hỏng → PARSE_ERROR, không chạy tool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4861" y="9448524"/>
            <a:ext cx="4484208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9B5C7"/>
                </a:solidFill>
                <a:latin typeface="Aptos"/>
                <a:ea typeface="Aptos"/>
                <a:cs typeface="Aptos"/>
                <a:sym typeface="Aptos"/>
              </a:rPr>
              <a:t>Role A · Systems / Core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700773" y="9448524"/>
            <a:ext cx="503453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A9B5C7"/>
                </a:solidFill>
                <a:latin typeface="Aptos"/>
                <a:ea typeface="Aptos"/>
                <a:cs typeface="Aptos"/>
                <a:sym typeface="Aptos"/>
              </a:rPr>
              <a:t>6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3675" y="653901"/>
            <a:ext cx="16289188" cy="94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4"/>
              </a:lnSpc>
            </a:pPr>
            <a:r>
              <a:rPr lang="en-US" sz="4953" b="true">
                <a:solidFill>
                  <a:srgbClr val="F4F7FB"/>
                </a:solidFill>
                <a:latin typeface="Aptos Bold"/>
                <a:ea typeface="Aptos Bold"/>
                <a:cs typeface="Aptos Bold"/>
                <a:sym typeface="Aptos Bold"/>
              </a:rPr>
              <a:t>Loop Detector và Skill System giữ Agent đúng hướng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53607" y="2863548"/>
            <a:ext cx="2783472" cy="2783472"/>
            <a:chOff x="0" y="0"/>
            <a:chExt cx="3711296" cy="37112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11321" cy="3711321"/>
            </a:xfrm>
            <a:custGeom>
              <a:avLst/>
              <a:gdLst/>
              <a:ahLst/>
              <a:cxnLst/>
              <a:rect r="r" b="b" t="t" l="l"/>
              <a:pathLst>
                <a:path h="3711321" w="3711321">
                  <a:moveTo>
                    <a:pt x="0" y="1855597"/>
                  </a:moveTo>
                  <a:cubicBezTo>
                    <a:pt x="0" y="830834"/>
                    <a:pt x="830834" y="0"/>
                    <a:pt x="1855597" y="0"/>
                  </a:cubicBezTo>
                  <a:cubicBezTo>
                    <a:pt x="2880360" y="0"/>
                    <a:pt x="3711321" y="830834"/>
                    <a:pt x="3711321" y="1855597"/>
                  </a:cubicBezTo>
                  <a:cubicBezTo>
                    <a:pt x="3711321" y="2880360"/>
                    <a:pt x="2880487" y="3711321"/>
                    <a:pt x="1855597" y="3711321"/>
                  </a:cubicBezTo>
                  <a:cubicBezTo>
                    <a:pt x="830707" y="3711321"/>
                    <a:pt x="0" y="2880487"/>
                    <a:pt x="0" y="1855597"/>
                  </a:cubicBezTo>
                  <a:close/>
                </a:path>
              </a:pathLst>
            </a:custGeom>
            <a:solidFill>
              <a:srgbClr val="162033"/>
            </a:solidFill>
            <a:ln w="38130" cap="sq">
              <a:solidFill>
                <a:srgbClr val="35C2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3711296" cy="3711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Action</a:t>
              </a:r>
            </a:p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history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383014" y="3806495"/>
            <a:ext cx="1254471" cy="774030"/>
            <a:chOff x="0" y="0"/>
            <a:chExt cx="1672628" cy="1032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72590" cy="1032002"/>
            </a:xfrm>
            <a:custGeom>
              <a:avLst/>
              <a:gdLst/>
              <a:ahLst/>
              <a:cxnLst/>
              <a:rect r="r" b="b" t="t" l="l"/>
              <a:pathLst>
                <a:path h="1032002" w="1672590">
                  <a:moveTo>
                    <a:pt x="0" y="258064"/>
                  </a:moveTo>
                  <a:lnTo>
                    <a:pt x="1156589" y="258064"/>
                  </a:lnTo>
                  <a:lnTo>
                    <a:pt x="1156589" y="0"/>
                  </a:lnTo>
                  <a:lnTo>
                    <a:pt x="1672590" y="516001"/>
                  </a:lnTo>
                  <a:lnTo>
                    <a:pt x="1156589" y="1032002"/>
                  </a:lnTo>
                  <a:lnTo>
                    <a:pt x="1156589" y="774065"/>
                  </a:lnTo>
                  <a:lnTo>
                    <a:pt x="0" y="774065"/>
                  </a:lnTo>
                  <a:close/>
                </a:path>
              </a:pathLst>
            </a:custGeom>
            <a:solidFill>
              <a:srgbClr val="35C2FF"/>
            </a:solidFill>
            <a:ln w="19065" cap="sq">
              <a:solidFill>
                <a:srgbClr val="35C2F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5888193" y="2387879"/>
            <a:ext cx="4146614" cy="3803447"/>
            <a:chOff x="0" y="0"/>
            <a:chExt cx="5528818" cy="50712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28818" cy="5071237"/>
            </a:xfrm>
            <a:custGeom>
              <a:avLst/>
              <a:gdLst/>
              <a:ahLst/>
              <a:cxnLst/>
              <a:rect r="r" b="b" t="t" l="l"/>
              <a:pathLst>
                <a:path h="5071237" w="5528818">
                  <a:moveTo>
                    <a:pt x="0" y="845185"/>
                  </a:moveTo>
                  <a:cubicBezTo>
                    <a:pt x="0" y="378460"/>
                    <a:pt x="378460" y="0"/>
                    <a:pt x="845185" y="0"/>
                  </a:cubicBezTo>
                  <a:lnTo>
                    <a:pt x="4683633" y="0"/>
                  </a:lnTo>
                  <a:cubicBezTo>
                    <a:pt x="5150485" y="0"/>
                    <a:pt x="5528818" y="378460"/>
                    <a:pt x="5528818" y="845185"/>
                  </a:cubicBezTo>
                  <a:lnTo>
                    <a:pt x="5528818" y="4226052"/>
                  </a:lnTo>
                  <a:cubicBezTo>
                    <a:pt x="5528818" y="4692904"/>
                    <a:pt x="5150358" y="5071237"/>
                    <a:pt x="4683633" y="5071237"/>
                  </a:cubicBezTo>
                  <a:lnTo>
                    <a:pt x="845185" y="5071237"/>
                  </a:lnTo>
                  <a:cubicBezTo>
                    <a:pt x="378460" y="5071237"/>
                    <a:pt x="0" y="4692904"/>
                    <a:pt x="0" y="4226052"/>
                  </a:cubicBezTo>
                  <a:close/>
                </a:path>
              </a:pathLst>
            </a:custGeom>
            <a:solidFill>
              <a:srgbClr val="162033"/>
            </a:solidFill>
            <a:ln w="28597" cap="sq">
              <a:solidFill>
                <a:srgbClr val="F5B942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5528818" cy="5071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LOOP DETECTOR</a:t>
              </a:r>
            </a:p>
            <a:p>
              <a:pPr algn="ctr">
                <a:lnSpc>
                  <a:spcPts val="3242"/>
                </a:lnSpc>
              </a:pPr>
            </a:p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Generic repeat</a:t>
              </a:r>
            </a:p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Ping-pong A ↔ B</a:t>
              </a:r>
            </a:p>
            <a:p>
              <a:pPr algn="ctr">
                <a:lnSpc>
                  <a:spcPts val="3242"/>
                </a:lnSpc>
              </a:pPr>
            </a:p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Warning → Critical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5514" y="3806495"/>
            <a:ext cx="1254471" cy="774030"/>
            <a:chOff x="0" y="0"/>
            <a:chExt cx="1672628" cy="1032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72590" cy="1032002"/>
            </a:xfrm>
            <a:custGeom>
              <a:avLst/>
              <a:gdLst/>
              <a:ahLst/>
              <a:cxnLst/>
              <a:rect r="r" b="b" t="t" l="l"/>
              <a:pathLst>
                <a:path h="1032002" w="1672590">
                  <a:moveTo>
                    <a:pt x="0" y="258064"/>
                  </a:moveTo>
                  <a:lnTo>
                    <a:pt x="1156589" y="258064"/>
                  </a:lnTo>
                  <a:lnTo>
                    <a:pt x="1156589" y="0"/>
                  </a:lnTo>
                  <a:lnTo>
                    <a:pt x="1672590" y="516001"/>
                  </a:lnTo>
                  <a:lnTo>
                    <a:pt x="1156589" y="1032002"/>
                  </a:lnTo>
                  <a:lnTo>
                    <a:pt x="1156589" y="774065"/>
                  </a:lnTo>
                  <a:lnTo>
                    <a:pt x="0" y="774065"/>
                  </a:lnTo>
                  <a:close/>
                </a:path>
              </a:pathLst>
            </a:custGeom>
            <a:solidFill>
              <a:srgbClr val="F5B942"/>
            </a:solidFill>
            <a:ln w="19065" cap="sq">
              <a:solidFill>
                <a:srgbClr val="F5B942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1859320" y="2387879"/>
            <a:ext cx="5038849" cy="3803447"/>
            <a:chOff x="0" y="0"/>
            <a:chExt cx="6718465" cy="507126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18427" cy="5071237"/>
            </a:xfrm>
            <a:custGeom>
              <a:avLst/>
              <a:gdLst/>
              <a:ahLst/>
              <a:cxnLst/>
              <a:rect r="r" b="b" t="t" l="l"/>
              <a:pathLst>
                <a:path h="5071237" w="6718427">
                  <a:moveTo>
                    <a:pt x="0" y="845185"/>
                  </a:moveTo>
                  <a:cubicBezTo>
                    <a:pt x="0" y="378460"/>
                    <a:pt x="378460" y="0"/>
                    <a:pt x="845185" y="0"/>
                  </a:cubicBezTo>
                  <a:lnTo>
                    <a:pt x="5873242" y="0"/>
                  </a:lnTo>
                  <a:cubicBezTo>
                    <a:pt x="6340094" y="0"/>
                    <a:pt x="6718427" y="378460"/>
                    <a:pt x="6718427" y="845185"/>
                  </a:cubicBezTo>
                  <a:lnTo>
                    <a:pt x="6718427" y="4226052"/>
                  </a:lnTo>
                  <a:cubicBezTo>
                    <a:pt x="6718427" y="4692904"/>
                    <a:pt x="6339967" y="5071237"/>
                    <a:pt x="5873242" y="5071237"/>
                  </a:cubicBezTo>
                  <a:lnTo>
                    <a:pt x="845185" y="5071237"/>
                  </a:lnTo>
                  <a:cubicBezTo>
                    <a:pt x="378460" y="5071237"/>
                    <a:pt x="0" y="4692904"/>
                    <a:pt x="0" y="4226052"/>
                  </a:cubicBezTo>
                  <a:close/>
                </a:path>
              </a:pathLst>
            </a:custGeom>
            <a:solidFill>
              <a:srgbClr val="162033"/>
            </a:solidFill>
            <a:ln w="28597" cap="sq">
              <a:solidFill>
                <a:srgbClr val="33D6A6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6718465" cy="5071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SKILL LOADER</a:t>
              </a:r>
            </a:p>
            <a:p>
              <a:pPr algn="ctr">
                <a:lnSpc>
                  <a:spcPts val="3242"/>
                </a:lnSpc>
              </a:pPr>
            </a:p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error_recovery</a:t>
              </a:r>
            </a:p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step_verifier</a:t>
              </a:r>
            </a:p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task_planner</a:t>
              </a:r>
            </a:p>
            <a:p>
              <a:pPr algn="ctr">
                <a:lnSpc>
                  <a:spcPts val="3242"/>
                </a:lnSpc>
              </a:pPr>
            </a:p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Chọn theo keyword mỗi run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936948" y="7096144"/>
            <a:ext cx="5244751" cy="1126731"/>
            <a:chOff x="0" y="0"/>
            <a:chExt cx="6993001" cy="15023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93128" cy="1502410"/>
            </a:xfrm>
            <a:custGeom>
              <a:avLst/>
              <a:gdLst/>
              <a:ahLst/>
              <a:cxnLst/>
              <a:rect r="r" b="b" t="t" l="l"/>
              <a:pathLst>
                <a:path h="1502410" w="6993128">
                  <a:moveTo>
                    <a:pt x="0" y="250444"/>
                  </a:moveTo>
                  <a:cubicBezTo>
                    <a:pt x="0" y="112141"/>
                    <a:pt x="112141" y="0"/>
                    <a:pt x="250444" y="0"/>
                  </a:cubicBezTo>
                  <a:lnTo>
                    <a:pt x="6742684" y="0"/>
                  </a:lnTo>
                  <a:cubicBezTo>
                    <a:pt x="6880987" y="0"/>
                    <a:pt x="6993128" y="112141"/>
                    <a:pt x="6993128" y="250444"/>
                  </a:cubicBezTo>
                  <a:lnTo>
                    <a:pt x="6993128" y="1251966"/>
                  </a:lnTo>
                  <a:cubicBezTo>
                    <a:pt x="6993128" y="1390269"/>
                    <a:pt x="6880987" y="1502410"/>
                    <a:pt x="6742684" y="1502410"/>
                  </a:cubicBezTo>
                  <a:lnTo>
                    <a:pt x="250444" y="1502410"/>
                  </a:lnTo>
                  <a:cubicBezTo>
                    <a:pt x="112141" y="1502283"/>
                    <a:pt x="0" y="1390269"/>
                    <a:pt x="0" y="1251966"/>
                  </a:cubicBezTo>
                  <a:close/>
                </a:path>
              </a:pathLst>
            </a:custGeom>
            <a:solidFill>
              <a:srgbClr val="162033"/>
            </a:solidFill>
            <a:ln w="28597" cap="sq">
              <a:solidFill>
                <a:srgbClr val="FF6B6B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6993001" cy="15023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FF6B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Critical → dừng an toàn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143477" y="7096144"/>
            <a:ext cx="5244751" cy="1126731"/>
            <a:chOff x="0" y="0"/>
            <a:chExt cx="6993001" cy="150230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993128" cy="1502410"/>
            </a:xfrm>
            <a:custGeom>
              <a:avLst/>
              <a:gdLst/>
              <a:ahLst/>
              <a:cxnLst/>
              <a:rect r="r" b="b" t="t" l="l"/>
              <a:pathLst>
                <a:path h="1502410" w="6993128">
                  <a:moveTo>
                    <a:pt x="0" y="250444"/>
                  </a:moveTo>
                  <a:cubicBezTo>
                    <a:pt x="0" y="112141"/>
                    <a:pt x="112141" y="0"/>
                    <a:pt x="250444" y="0"/>
                  </a:cubicBezTo>
                  <a:lnTo>
                    <a:pt x="6742684" y="0"/>
                  </a:lnTo>
                  <a:cubicBezTo>
                    <a:pt x="6880987" y="0"/>
                    <a:pt x="6993128" y="112141"/>
                    <a:pt x="6993128" y="250444"/>
                  </a:cubicBezTo>
                  <a:lnTo>
                    <a:pt x="6993128" y="1251966"/>
                  </a:lnTo>
                  <a:cubicBezTo>
                    <a:pt x="6993128" y="1390269"/>
                    <a:pt x="6880987" y="1502410"/>
                    <a:pt x="6742684" y="1502410"/>
                  </a:cubicBezTo>
                  <a:lnTo>
                    <a:pt x="250444" y="1502410"/>
                  </a:lnTo>
                  <a:cubicBezTo>
                    <a:pt x="112141" y="1502283"/>
                    <a:pt x="0" y="1390269"/>
                    <a:pt x="0" y="1251966"/>
                  </a:cubicBezTo>
                  <a:close/>
                </a:path>
              </a:pathLst>
            </a:custGeom>
            <a:solidFill>
              <a:srgbClr val="162033"/>
            </a:solidFill>
            <a:ln w="28597" cap="sq">
              <a:solidFill>
                <a:srgbClr val="33D6A6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6993001" cy="15023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33D6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Không khớp → task_planner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24861" y="9448524"/>
            <a:ext cx="4484208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9B5C7"/>
                </a:solidFill>
                <a:latin typeface="Aptos"/>
                <a:ea typeface="Aptos"/>
                <a:cs typeface="Aptos"/>
                <a:sym typeface="Aptos"/>
              </a:rPr>
              <a:t>Role A · Systems / Core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700773" y="9448524"/>
            <a:ext cx="503453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A9B5C7"/>
                </a:solidFill>
                <a:latin typeface="Aptos"/>
                <a:ea typeface="Aptos"/>
                <a:cs typeface="Aptos"/>
                <a:sym typeface="Aptos"/>
              </a:rPr>
              <a:t>7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3675" y="653901"/>
            <a:ext cx="16151924" cy="94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F4F7FB"/>
                </a:solidFill>
                <a:latin typeface="Aptos Bold"/>
                <a:ea typeface="Aptos Bold"/>
                <a:cs typeface="Aptos Bold"/>
                <a:sym typeface="Aptos Bold"/>
              </a:rPr>
              <a:t>Bốn design pattern nằm trên production path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14251" y="2318290"/>
            <a:ext cx="3901440" cy="5383930"/>
            <a:chOff x="0" y="0"/>
            <a:chExt cx="5201920" cy="71785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01920" cy="7178548"/>
            </a:xfrm>
            <a:custGeom>
              <a:avLst/>
              <a:gdLst/>
              <a:ahLst/>
              <a:cxnLst/>
              <a:rect r="r" b="b" t="t" l="l"/>
              <a:pathLst>
                <a:path h="7178548" w="5201920">
                  <a:moveTo>
                    <a:pt x="0" y="867029"/>
                  </a:moveTo>
                  <a:cubicBezTo>
                    <a:pt x="0" y="388112"/>
                    <a:pt x="388112" y="0"/>
                    <a:pt x="867029" y="0"/>
                  </a:cubicBezTo>
                  <a:lnTo>
                    <a:pt x="4334891" y="0"/>
                  </a:lnTo>
                  <a:cubicBezTo>
                    <a:pt x="4813681" y="0"/>
                    <a:pt x="5201920" y="388112"/>
                    <a:pt x="5201920" y="867029"/>
                  </a:cubicBezTo>
                  <a:lnTo>
                    <a:pt x="5201920" y="6311519"/>
                  </a:lnTo>
                  <a:cubicBezTo>
                    <a:pt x="5201920" y="6790309"/>
                    <a:pt x="4813808" y="7178548"/>
                    <a:pt x="4334891" y="7178548"/>
                  </a:cubicBezTo>
                  <a:lnTo>
                    <a:pt x="867029" y="7178548"/>
                  </a:lnTo>
                  <a:cubicBezTo>
                    <a:pt x="388112" y="7178548"/>
                    <a:pt x="0" y="6790436"/>
                    <a:pt x="0" y="6311519"/>
                  </a:cubicBezTo>
                  <a:close/>
                </a:path>
              </a:pathLst>
            </a:custGeom>
            <a:solidFill>
              <a:srgbClr val="162033"/>
            </a:solidFill>
            <a:ln w="30504" cap="sq">
              <a:solidFill>
                <a:srgbClr val="35C2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5201920" cy="71785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STRATEGY</a:t>
              </a:r>
            </a:p>
            <a:p>
              <a:pPr algn="ctr">
                <a:lnSpc>
                  <a:spcPts val="3242"/>
                </a:lnSpc>
              </a:pPr>
            </a:p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Evaluator</a:t>
              </a:r>
            </a:p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Tool</a:t>
              </a:r>
            </a:p>
            <a:p>
              <a:pPr algn="ctr">
                <a:lnSpc>
                  <a:spcPts val="3242"/>
                </a:lnSpc>
              </a:pPr>
            </a:p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Đổi implementation</a:t>
              </a:r>
            </a:p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không đổi caller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132270" y="2318290"/>
            <a:ext cx="3901440" cy="5383930"/>
            <a:chOff x="0" y="0"/>
            <a:chExt cx="5201920" cy="71785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201920" cy="7178548"/>
            </a:xfrm>
            <a:custGeom>
              <a:avLst/>
              <a:gdLst/>
              <a:ahLst/>
              <a:cxnLst/>
              <a:rect r="r" b="b" t="t" l="l"/>
              <a:pathLst>
                <a:path h="7178548" w="5201920">
                  <a:moveTo>
                    <a:pt x="0" y="867029"/>
                  </a:moveTo>
                  <a:cubicBezTo>
                    <a:pt x="0" y="388112"/>
                    <a:pt x="388112" y="0"/>
                    <a:pt x="867029" y="0"/>
                  </a:cubicBezTo>
                  <a:lnTo>
                    <a:pt x="4334891" y="0"/>
                  </a:lnTo>
                  <a:cubicBezTo>
                    <a:pt x="4813681" y="0"/>
                    <a:pt x="5201920" y="388112"/>
                    <a:pt x="5201920" y="867029"/>
                  </a:cubicBezTo>
                  <a:lnTo>
                    <a:pt x="5201920" y="6311519"/>
                  </a:lnTo>
                  <a:cubicBezTo>
                    <a:pt x="5201920" y="6790309"/>
                    <a:pt x="4813808" y="7178548"/>
                    <a:pt x="4334891" y="7178548"/>
                  </a:cubicBezTo>
                  <a:lnTo>
                    <a:pt x="867029" y="7178548"/>
                  </a:lnTo>
                  <a:cubicBezTo>
                    <a:pt x="388112" y="7178548"/>
                    <a:pt x="0" y="6790436"/>
                    <a:pt x="0" y="6311519"/>
                  </a:cubicBezTo>
                  <a:close/>
                </a:path>
              </a:pathLst>
            </a:custGeom>
            <a:solidFill>
              <a:srgbClr val="162033"/>
            </a:solidFill>
            <a:ln w="30504" cap="sq">
              <a:solidFill>
                <a:srgbClr val="33D6A6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5201920" cy="71785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TEMPLATE METHOD</a:t>
              </a:r>
            </a:p>
            <a:p>
              <a:pPr algn="ctr">
                <a:lnSpc>
                  <a:spcPts val="3242"/>
                </a:lnSpc>
              </a:pPr>
            </a:p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AgentLoop::run()</a:t>
              </a:r>
            </a:p>
            <a:p>
              <a:pPr algn="ctr">
                <a:lnSpc>
                  <a:spcPts val="3242"/>
                </a:lnSpc>
              </a:pPr>
            </a:p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Skeleton cố định,</a:t>
              </a:r>
            </a:p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primitive có thể override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50289" y="2318290"/>
            <a:ext cx="3901440" cy="5383930"/>
            <a:chOff x="0" y="0"/>
            <a:chExt cx="5201920" cy="717857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201920" cy="7178548"/>
            </a:xfrm>
            <a:custGeom>
              <a:avLst/>
              <a:gdLst/>
              <a:ahLst/>
              <a:cxnLst/>
              <a:rect r="r" b="b" t="t" l="l"/>
              <a:pathLst>
                <a:path h="7178548" w="5201920">
                  <a:moveTo>
                    <a:pt x="0" y="867029"/>
                  </a:moveTo>
                  <a:cubicBezTo>
                    <a:pt x="0" y="388112"/>
                    <a:pt x="388112" y="0"/>
                    <a:pt x="867029" y="0"/>
                  </a:cubicBezTo>
                  <a:lnTo>
                    <a:pt x="4334891" y="0"/>
                  </a:lnTo>
                  <a:cubicBezTo>
                    <a:pt x="4813681" y="0"/>
                    <a:pt x="5201920" y="388112"/>
                    <a:pt x="5201920" y="867029"/>
                  </a:cubicBezTo>
                  <a:lnTo>
                    <a:pt x="5201920" y="6311519"/>
                  </a:lnTo>
                  <a:cubicBezTo>
                    <a:pt x="5201920" y="6790309"/>
                    <a:pt x="4813808" y="7178548"/>
                    <a:pt x="4334891" y="7178548"/>
                  </a:cubicBezTo>
                  <a:lnTo>
                    <a:pt x="867029" y="7178548"/>
                  </a:lnTo>
                  <a:cubicBezTo>
                    <a:pt x="388112" y="7178548"/>
                    <a:pt x="0" y="6790436"/>
                    <a:pt x="0" y="6311519"/>
                  </a:cubicBezTo>
                  <a:close/>
                </a:path>
              </a:pathLst>
            </a:custGeom>
            <a:solidFill>
              <a:srgbClr val="162033"/>
            </a:solidFill>
            <a:ln w="30504" cap="sq">
              <a:solidFill>
                <a:srgbClr val="F5B942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5201920" cy="71785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REGISTRY / FACTORY</a:t>
              </a:r>
            </a:p>
            <a:p>
              <a:pPr algn="ctr">
                <a:lnSpc>
                  <a:spcPts val="3242"/>
                </a:lnSpc>
              </a:pPr>
            </a:p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ToolRegistry</a:t>
              </a:r>
            </a:p>
            <a:p>
              <a:pPr algn="ctr">
                <a:lnSpc>
                  <a:spcPts val="3242"/>
                </a:lnSpc>
              </a:pPr>
            </a:p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Lookup instance</a:t>
              </a:r>
            </a:p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Tạo instance mới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368299" y="2318290"/>
            <a:ext cx="3901440" cy="5383930"/>
            <a:chOff x="0" y="0"/>
            <a:chExt cx="5201920" cy="717857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01920" cy="7178548"/>
            </a:xfrm>
            <a:custGeom>
              <a:avLst/>
              <a:gdLst/>
              <a:ahLst/>
              <a:cxnLst/>
              <a:rect r="r" b="b" t="t" l="l"/>
              <a:pathLst>
                <a:path h="7178548" w="5201920">
                  <a:moveTo>
                    <a:pt x="0" y="867029"/>
                  </a:moveTo>
                  <a:cubicBezTo>
                    <a:pt x="0" y="388112"/>
                    <a:pt x="388112" y="0"/>
                    <a:pt x="867029" y="0"/>
                  </a:cubicBezTo>
                  <a:lnTo>
                    <a:pt x="4334891" y="0"/>
                  </a:lnTo>
                  <a:cubicBezTo>
                    <a:pt x="4813681" y="0"/>
                    <a:pt x="5201920" y="388112"/>
                    <a:pt x="5201920" y="867029"/>
                  </a:cubicBezTo>
                  <a:lnTo>
                    <a:pt x="5201920" y="6311519"/>
                  </a:lnTo>
                  <a:cubicBezTo>
                    <a:pt x="5201920" y="6790309"/>
                    <a:pt x="4813808" y="7178548"/>
                    <a:pt x="4334891" y="7178548"/>
                  </a:cubicBezTo>
                  <a:lnTo>
                    <a:pt x="867029" y="7178548"/>
                  </a:lnTo>
                  <a:cubicBezTo>
                    <a:pt x="388112" y="7178548"/>
                    <a:pt x="0" y="6790436"/>
                    <a:pt x="0" y="6311519"/>
                  </a:cubicBezTo>
                  <a:close/>
                </a:path>
              </a:pathLst>
            </a:custGeom>
            <a:solidFill>
              <a:srgbClr val="162033"/>
            </a:solidFill>
            <a:ln w="30504" cap="sq">
              <a:solidFill>
                <a:srgbClr val="35C2F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5201920" cy="71785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OBSERVER / HOOK</a:t>
              </a:r>
            </a:p>
            <a:p>
              <a:pPr algn="ctr">
                <a:lnSpc>
                  <a:spcPts val="3242"/>
                </a:lnSpc>
              </a:pPr>
            </a:p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StepHook</a:t>
              </a:r>
            </a:p>
            <a:p>
              <a:pPr algn="ctr">
                <a:lnSpc>
                  <a:spcPts val="3242"/>
                </a:lnSpc>
              </a:pPr>
            </a:p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Harness ghi trace,</a:t>
              </a:r>
            </a:p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Agent không biết Harness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944548" y="8213122"/>
            <a:ext cx="14367443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>
                <a:solidFill>
                  <a:srgbClr val="A9B5C7"/>
                </a:solidFill>
                <a:latin typeface="Aptos"/>
                <a:ea typeface="Aptos"/>
                <a:cs typeface="Aptos"/>
                <a:sym typeface="Aptos"/>
              </a:rPr>
              <a:t>Pattern được chứng minh bằng luồng chạy và focused tests — không chỉ nằm trong sơ đồ.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4861" y="9448524"/>
            <a:ext cx="4484208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9B5C7"/>
                </a:solidFill>
                <a:latin typeface="Aptos"/>
                <a:ea typeface="Aptos"/>
                <a:cs typeface="Aptos"/>
                <a:sym typeface="Aptos"/>
              </a:rPr>
              <a:t>Role B · Tools / Data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700773" y="9448524"/>
            <a:ext cx="503453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A9B5C7"/>
                </a:solidFill>
                <a:latin typeface="Aptos"/>
                <a:ea typeface="Aptos"/>
                <a:cs typeface="Aptos"/>
                <a:sym typeface="Aptos"/>
              </a:rPr>
              <a:t>8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3675" y="653901"/>
            <a:ext cx="16151924" cy="94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F4F7FB"/>
                </a:solidFill>
                <a:latin typeface="Aptos Bold"/>
                <a:ea typeface="Aptos Bold"/>
                <a:cs typeface="Aptos Bold"/>
                <a:sym typeface="Aptos Bold"/>
              </a:rPr>
              <a:t>Modern C++ làm rõ ownership và contract</a:t>
            </a:r>
          </a:p>
        </p:txBody>
      </p:sp>
      <p:sp>
        <p:nvSpPr>
          <p:cNvPr name="AutoShape 3" id="3"/>
          <p:cNvSpPr/>
          <p:nvPr/>
        </p:nvSpPr>
        <p:spPr>
          <a:xfrm rot="15060">
            <a:off x="1559433" y="4328122"/>
            <a:ext cx="15000399" cy="0"/>
          </a:xfrm>
          <a:prstGeom prst="line">
            <a:avLst/>
          </a:prstGeom>
          <a:ln cap="rnd" w="19050">
            <a:solidFill>
              <a:srgbClr val="35C2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63142" y="3943760"/>
            <a:ext cx="774030" cy="774030"/>
            <a:chOff x="0" y="0"/>
            <a:chExt cx="1032040" cy="1032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32002" cy="1032002"/>
            </a:xfrm>
            <a:custGeom>
              <a:avLst/>
              <a:gdLst/>
              <a:ahLst/>
              <a:cxnLst/>
              <a:rect r="r" b="b" t="t" l="l"/>
              <a:pathLst>
                <a:path h="1032002" w="1032002">
                  <a:moveTo>
                    <a:pt x="0" y="516001"/>
                  </a:moveTo>
                  <a:cubicBezTo>
                    <a:pt x="0" y="231013"/>
                    <a:pt x="231013" y="0"/>
                    <a:pt x="516001" y="0"/>
                  </a:cubicBezTo>
                  <a:cubicBezTo>
                    <a:pt x="800989" y="0"/>
                    <a:pt x="1032002" y="231013"/>
                    <a:pt x="1032002" y="516001"/>
                  </a:cubicBezTo>
                  <a:cubicBezTo>
                    <a:pt x="1032002" y="800989"/>
                    <a:pt x="800989" y="1032002"/>
                    <a:pt x="516001" y="1032002"/>
                  </a:cubicBezTo>
                  <a:cubicBezTo>
                    <a:pt x="231013" y="1032002"/>
                    <a:pt x="0" y="800989"/>
                    <a:pt x="0" y="516001"/>
                  </a:cubicBezTo>
                  <a:close/>
                </a:path>
              </a:pathLst>
            </a:custGeom>
            <a:solidFill>
              <a:srgbClr val="35C2FF"/>
            </a:solidFill>
            <a:ln w="19065" cap="sq">
              <a:solidFill>
                <a:srgbClr val="35C2F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5961593" y="3943760"/>
            <a:ext cx="774030" cy="774030"/>
            <a:chOff x="0" y="0"/>
            <a:chExt cx="1032040" cy="1032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2002" cy="1032002"/>
            </a:xfrm>
            <a:custGeom>
              <a:avLst/>
              <a:gdLst/>
              <a:ahLst/>
              <a:cxnLst/>
              <a:rect r="r" b="b" t="t" l="l"/>
              <a:pathLst>
                <a:path h="1032002" w="1032002">
                  <a:moveTo>
                    <a:pt x="0" y="516001"/>
                  </a:moveTo>
                  <a:cubicBezTo>
                    <a:pt x="0" y="231013"/>
                    <a:pt x="231013" y="0"/>
                    <a:pt x="516001" y="0"/>
                  </a:cubicBezTo>
                  <a:cubicBezTo>
                    <a:pt x="800989" y="0"/>
                    <a:pt x="1032002" y="231013"/>
                    <a:pt x="1032002" y="516001"/>
                  </a:cubicBezTo>
                  <a:cubicBezTo>
                    <a:pt x="1032002" y="800989"/>
                    <a:pt x="800989" y="1032002"/>
                    <a:pt x="516001" y="1032002"/>
                  </a:cubicBezTo>
                  <a:cubicBezTo>
                    <a:pt x="231013" y="1032002"/>
                    <a:pt x="0" y="800989"/>
                    <a:pt x="0" y="516001"/>
                  </a:cubicBezTo>
                  <a:close/>
                </a:path>
              </a:pathLst>
            </a:custGeom>
            <a:solidFill>
              <a:srgbClr val="33D6A6"/>
            </a:solidFill>
            <a:ln w="19065" cap="sq">
              <a:solidFill>
                <a:srgbClr val="33D6A6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560044" y="3943760"/>
            <a:ext cx="774030" cy="774030"/>
            <a:chOff x="0" y="0"/>
            <a:chExt cx="1032040" cy="1032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2002" cy="1032002"/>
            </a:xfrm>
            <a:custGeom>
              <a:avLst/>
              <a:gdLst/>
              <a:ahLst/>
              <a:cxnLst/>
              <a:rect r="r" b="b" t="t" l="l"/>
              <a:pathLst>
                <a:path h="1032002" w="1032002">
                  <a:moveTo>
                    <a:pt x="0" y="516001"/>
                  </a:moveTo>
                  <a:cubicBezTo>
                    <a:pt x="0" y="231013"/>
                    <a:pt x="231013" y="0"/>
                    <a:pt x="516001" y="0"/>
                  </a:cubicBezTo>
                  <a:cubicBezTo>
                    <a:pt x="800989" y="0"/>
                    <a:pt x="1032002" y="231013"/>
                    <a:pt x="1032002" y="516001"/>
                  </a:cubicBezTo>
                  <a:cubicBezTo>
                    <a:pt x="1032002" y="800989"/>
                    <a:pt x="800989" y="1032002"/>
                    <a:pt x="516001" y="1032002"/>
                  </a:cubicBezTo>
                  <a:cubicBezTo>
                    <a:pt x="231013" y="1032002"/>
                    <a:pt x="0" y="800989"/>
                    <a:pt x="0" y="516001"/>
                  </a:cubicBezTo>
                  <a:close/>
                </a:path>
              </a:pathLst>
            </a:custGeom>
            <a:solidFill>
              <a:srgbClr val="F5B942"/>
            </a:solidFill>
            <a:ln w="19065" cap="sq">
              <a:solidFill>
                <a:srgbClr val="F5B942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5158495" y="3943760"/>
            <a:ext cx="774030" cy="774030"/>
            <a:chOff x="0" y="0"/>
            <a:chExt cx="1032040" cy="1032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32002" cy="1032002"/>
            </a:xfrm>
            <a:custGeom>
              <a:avLst/>
              <a:gdLst/>
              <a:ahLst/>
              <a:cxnLst/>
              <a:rect r="r" b="b" t="t" l="l"/>
              <a:pathLst>
                <a:path h="1032002" w="1032002">
                  <a:moveTo>
                    <a:pt x="0" y="516001"/>
                  </a:moveTo>
                  <a:cubicBezTo>
                    <a:pt x="0" y="231013"/>
                    <a:pt x="231013" y="0"/>
                    <a:pt x="516001" y="0"/>
                  </a:cubicBezTo>
                  <a:cubicBezTo>
                    <a:pt x="800989" y="0"/>
                    <a:pt x="1032002" y="231013"/>
                    <a:pt x="1032002" y="516001"/>
                  </a:cubicBezTo>
                  <a:cubicBezTo>
                    <a:pt x="1032002" y="800989"/>
                    <a:pt x="800989" y="1032002"/>
                    <a:pt x="516001" y="1032002"/>
                  </a:cubicBezTo>
                  <a:cubicBezTo>
                    <a:pt x="231013" y="1032002"/>
                    <a:pt x="0" y="800989"/>
                    <a:pt x="0" y="516001"/>
                  </a:cubicBezTo>
                  <a:close/>
                </a:path>
              </a:pathLst>
            </a:custGeom>
            <a:solidFill>
              <a:srgbClr val="FF6B6B"/>
            </a:solidFill>
            <a:ln w="19065" cap="sq">
              <a:solidFill>
                <a:srgbClr val="FF6B6B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83675" y="2516534"/>
            <a:ext cx="1532963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true">
                <a:solidFill>
                  <a:srgbClr val="35C2FF"/>
                </a:solidFill>
                <a:latin typeface="Aptos Bold"/>
                <a:ea typeface="Aptos Bold"/>
                <a:cs typeface="Aptos Bold"/>
                <a:sym typeface="Aptos Bold"/>
              </a:rPr>
              <a:t>C++17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1871" y="5055975"/>
            <a:ext cx="2562463" cy="1830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>
                <a:solidFill>
                  <a:srgbClr val="F4F7FB"/>
                </a:solidFill>
                <a:latin typeface="Aptos"/>
                <a:ea typeface="Aptos"/>
                <a:cs typeface="Aptos"/>
                <a:sym typeface="Aptos"/>
              </a:rPr>
              <a:t>smart pointers</a:t>
            </a:r>
          </a:p>
          <a:p>
            <a:pPr algn="ctr">
              <a:lnSpc>
                <a:spcPts val="3062"/>
              </a:lnSpc>
            </a:pPr>
            <a:r>
              <a:rPr lang="en-US" sz="2551">
                <a:solidFill>
                  <a:srgbClr val="F4F7FB"/>
                </a:solidFill>
                <a:latin typeface="Aptos"/>
                <a:ea typeface="Aptos"/>
                <a:cs typeface="Aptos"/>
                <a:sym typeface="Aptos"/>
              </a:rPr>
              <a:t>filesystem</a:t>
            </a:r>
          </a:p>
          <a:p>
            <a:pPr algn="ctr">
              <a:lnSpc>
                <a:spcPts val="3062"/>
              </a:lnSpc>
            </a:pPr>
            <a:r>
              <a:rPr lang="en-US" sz="2551">
                <a:solidFill>
                  <a:srgbClr val="F4F7FB"/>
                </a:solidFill>
                <a:latin typeface="Aptos"/>
                <a:ea typeface="Aptos"/>
                <a:cs typeface="Aptos"/>
                <a:sym typeface="Aptos"/>
              </a:rPr>
              <a:t>variant · optional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82126" y="2516534"/>
            <a:ext cx="1532963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true">
                <a:solidFill>
                  <a:srgbClr val="33D6A6"/>
                </a:solidFill>
                <a:latin typeface="Aptos Bold"/>
                <a:ea typeface="Aptos Bold"/>
                <a:cs typeface="Aptos Bold"/>
                <a:sym typeface="Aptos Bold"/>
              </a:rPr>
              <a:t>C++20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01695" y="5055975"/>
            <a:ext cx="2562463" cy="141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>
                <a:solidFill>
                  <a:srgbClr val="F4F7FB"/>
                </a:solidFill>
                <a:latin typeface="Aptos"/>
                <a:ea typeface="Aptos"/>
                <a:cs typeface="Aptos"/>
                <a:sym typeface="Aptos"/>
              </a:rPr>
              <a:t>ranges</a:t>
            </a:r>
          </a:p>
          <a:p>
            <a:pPr algn="ctr">
              <a:lnSpc>
                <a:spcPts val="3062"/>
              </a:lnSpc>
            </a:pPr>
            <a:r>
              <a:rPr lang="en-US" sz="2551">
                <a:solidFill>
                  <a:srgbClr val="F4F7FB"/>
                </a:solidFill>
                <a:latin typeface="Aptos"/>
                <a:ea typeface="Aptos"/>
                <a:cs typeface="Aptos"/>
                <a:sym typeface="Aptos"/>
              </a:rPr>
              <a:t>views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80587" y="2516534"/>
            <a:ext cx="1532963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true">
                <a:solidFill>
                  <a:srgbClr val="F5B942"/>
                </a:solidFill>
                <a:latin typeface="Aptos Bold"/>
                <a:ea typeface="Aptos Bold"/>
                <a:cs typeface="Aptos Bold"/>
                <a:sym typeface="Aptos Bold"/>
              </a:rPr>
              <a:t>C++23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00146" y="5055975"/>
            <a:ext cx="2562463" cy="141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>
                <a:solidFill>
                  <a:srgbClr val="F4F7FB"/>
                </a:solidFill>
                <a:latin typeface="Aptos"/>
                <a:ea typeface="Aptos"/>
                <a:cs typeface="Aptos"/>
                <a:sym typeface="Aptos"/>
              </a:rPr>
              <a:t>std::expected</a:t>
            </a:r>
          </a:p>
          <a:p>
            <a:pPr algn="ctr">
              <a:lnSpc>
                <a:spcPts val="3062"/>
              </a:lnSpc>
            </a:pPr>
            <a:r>
              <a:rPr lang="en-US" sz="2551">
                <a:solidFill>
                  <a:srgbClr val="F4F7FB"/>
                </a:solidFill>
                <a:latin typeface="Aptos"/>
                <a:ea typeface="Aptos"/>
                <a:cs typeface="Aptos"/>
                <a:sym typeface="Aptos"/>
              </a:rPr>
              <a:t>std::println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779038" y="2516534"/>
            <a:ext cx="1532963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true">
                <a:solidFill>
                  <a:srgbClr val="FF6B6B"/>
                </a:solidFill>
                <a:latin typeface="Aptos Bold"/>
                <a:ea typeface="Aptos Bold"/>
                <a:cs typeface="Aptos Bold"/>
                <a:sym typeface="Aptos Bold"/>
              </a:rPr>
              <a:t>C++26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371166" y="4997863"/>
            <a:ext cx="4485970" cy="1877892"/>
            <a:chOff x="0" y="0"/>
            <a:chExt cx="5981294" cy="25038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981319" cy="2503805"/>
            </a:xfrm>
            <a:custGeom>
              <a:avLst/>
              <a:gdLst/>
              <a:ahLst/>
              <a:cxnLst/>
              <a:rect r="r" b="b" t="t" l="l"/>
              <a:pathLst>
                <a:path h="2503805" w="5981319">
                  <a:moveTo>
                    <a:pt x="0" y="417322"/>
                  </a:moveTo>
                  <a:cubicBezTo>
                    <a:pt x="0" y="186817"/>
                    <a:pt x="186817" y="0"/>
                    <a:pt x="417322" y="0"/>
                  </a:cubicBezTo>
                  <a:lnTo>
                    <a:pt x="5563997" y="0"/>
                  </a:lnTo>
                  <a:cubicBezTo>
                    <a:pt x="5794502" y="0"/>
                    <a:pt x="5981319" y="186817"/>
                    <a:pt x="5981319" y="417322"/>
                  </a:cubicBezTo>
                  <a:lnTo>
                    <a:pt x="5981319" y="2086483"/>
                  </a:lnTo>
                  <a:cubicBezTo>
                    <a:pt x="5981319" y="2316988"/>
                    <a:pt x="5794502" y="2503805"/>
                    <a:pt x="5563997" y="2503805"/>
                  </a:cubicBezTo>
                  <a:lnTo>
                    <a:pt x="417322" y="2503805"/>
                  </a:lnTo>
                  <a:cubicBezTo>
                    <a:pt x="186817" y="2503805"/>
                    <a:pt x="0" y="2316988"/>
                    <a:pt x="0" y="2086483"/>
                  </a:cubicBezTo>
                  <a:close/>
                </a:path>
              </a:pathLst>
            </a:custGeom>
            <a:solidFill>
              <a:srgbClr val="162033"/>
            </a:solidFill>
            <a:ln w="24784" cap="sq">
              <a:solidFill>
                <a:srgbClr val="FF6B6B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5981294" cy="25133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2"/>
                </a:lnSpc>
              </a:pPr>
              <a:r>
                <a:rPr lang="en-US" sz="2401">
                  <a:solidFill>
                    <a:srgbClr val="F4F7FB"/>
                  </a:solidFill>
                  <a:latin typeface="Arimo"/>
                  <a:ea typeface="Arimo"/>
                  <a:cs typeface="Arimo"/>
                  <a:sym typeface="Arimo"/>
                </a:rPr>
                <a:t>= delete("owns worker threads")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680900" y="7242724"/>
            <a:ext cx="3866502" cy="43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A9B5C7"/>
                </a:solidFill>
                <a:latin typeface="Aptos"/>
                <a:ea typeface="Aptos"/>
                <a:cs typeface="Aptos"/>
                <a:sym typeface="Aptos"/>
              </a:rPr>
              <a:t>Không claim std::inplace_vector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4861" y="9448524"/>
            <a:ext cx="4484208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9B5C7"/>
                </a:solidFill>
                <a:latin typeface="Aptos"/>
                <a:ea typeface="Aptos"/>
                <a:cs typeface="Aptos"/>
                <a:sym typeface="Aptos"/>
              </a:rPr>
              <a:t>Role B · Tools / Data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700773" y="9448524"/>
            <a:ext cx="503453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A9B5C7"/>
                </a:solidFill>
                <a:latin typeface="Aptos"/>
                <a:ea typeface="Aptos"/>
                <a:cs typeface="Aptos"/>
                <a:sym typeface="Aptos"/>
              </a:rPr>
              <a:t>9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3675" y="653901"/>
            <a:ext cx="16289188" cy="94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4"/>
              </a:lnSpc>
            </a:pPr>
            <a:r>
              <a:rPr lang="en-US" sz="4953" b="true">
                <a:solidFill>
                  <a:srgbClr val="F4F7FB"/>
                </a:solidFill>
                <a:latin typeface="Aptos Bold"/>
                <a:ea typeface="Aptos Bold"/>
                <a:cs typeface="Aptos Bold"/>
                <a:sym typeface="Aptos Bold"/>
              </a:rPr>
              <a:t>ToolRegistry mở rộng tool mà không sửa Agent Core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981568" y="3275352"/>
            <a:ext cx="4293413" cy="2920746"/>
            <a:chOff x="0" y="0"/>
            <a:chExt cx="5724550" cy="38943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24525" cy="3894328"/>
            </a:xfrm>
            <a:custGeom>
              <a:avLst/>
              <a:gdLst/>
              <a:ahLst/>
              <a:cxnLst/>
              <a:rect r="r" b="b" t="t" l="l"/>
              <a:pathLst>
                <a:path h="3894328" w="5724525">
                  <a:moveTo>
                    <a:pt x="0" y="1947164"/>
                  </a:moveTo>
                  <a:cubicBezTo>
                    <a:pt x="0" y="871728"/>
                    <a:pt x="1281430" y="0"/>
                    <a:pt x="2862326" y="0"/>
                  </a:cubicBezTo>
                  <a:cubicBezTo>
                    <a:pt x="4443222" y="0"/>
                    <a:pt x="5724525" y="871728"/>
                    <a:pt x="5724525" y="1947164"/>
                  </a:cubicBezTo>
                  <a:cubicBezTo>
                    <a:pt x="5724525" y="3022600"/>
                    <a:pt x="4443095" y="3894328"/>
                    <a:pt x="2862326" y="3894328"/>
                  </a:cubicBezTo>
                  <a:cubicBezTo>
                    <a:pt x="1281557" y="3894328"/>
                    <a:pt x="0" y="3022600"/>
                    <a:pt x="0" y="1947164"/>
                  </a:cubicBezTo>
                  <a:close/>
                </a:path>
              </a:pathLst>
            </a:custGeom>
            <a:solidFill>
              <a:srgbClr val="162033"/>
            </a:solidFill>
            <a:ln w="38130" cap="sq">
              <a:solidFill>
                <a:srgbClr val="35C2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5724550" cy="3894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ToolRegistry</a:t>
              </a:r>
            </a:p>
            <a:p>
              <a:pPr algn="ctr">
                <a:lnSpc>
                  <a:spcPts val="3602"/>
                </a:lnSpc>
              </a:pPr>
            </a:p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lookup · create · catalog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628053" y="4039848"/>
            <a:ext cx="2352608" cy="774030"/>
            <a:chOff x="0" y="0"/>
            <a:chExt cx="3136811" cy="1032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36773" cy="1032002"/>
            </a:xfrm>
            <a:custGeom>
              <a:avLst/>
              <a:gdLst/>
              <a:ahLst/>
              <a:cxnLst/>
              <a:rect r="r" b="b" t="t" l="l"/>
              <a:pathLst>
                <a:path h="1032002" w="3136773">
                  <a:moveTo>
                    <a:pt x="0" y="258064"/>
                  </a:moveTo>
                  <a:lnTo>
                    <a:pt x="2620772" y="258064"/>
                  </a:lnTo>
                  <a:lnTo>
                    <a:pt x="2620772" y="0"/>
                  </a:lnTo>
                  <a:lnTo>
                    <a:pt x="3136773" y="516001"/>
                  </a:lnTo>
                  <a:lnTo>
                    <a:pt x="2620772" y="1032002"/>
                  </a:lnTo>
                  <a:lnTo>
                    <a:pt x="2620772" y="774065"/>
                  </a:lnTo>
                  <a:lnTo>
                    <a:pt x="0" y="774065"/>
                  </a:lnTo>
                  <a:close/>
                </a:path>
              </a:pathLst>
            </a:custGeom>
            <a:solidFill>
              <a:srgbClr val="35C2FF"/>
            </a:solidFill>
            <a:ln w="19065" cap="sq">
              <a:solidFill>
                <a:srgbClr val="35C2FF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4072195" y="3642122"/>
            <a:ext cx="1258424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35C2FF"/>
                </a:solidFill>
                <a:latin typeface="Aptos"/>
                <a:ea typeface="Aptos"/>
                <a:cs typeface="Aptos"/>
                <a:sym typeface="Aptos"/>
              </a:rPr>
              <a:t>register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77938" y="3280115"/>
            <a:ext cx="3117113" cy="2293506"/>
            <a:chOff x="0" y="0"/>
            <a:chExt cx="4156151" cy="30580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56075" cy="3058033"/>
            </a:xfrm>
            <a:custGeom>
              <a:avLst/>
              <a:gdLst/>
              <a:ahLst/>
              <a:cxnLst/>
              <a:rect r="r" b="b" t="t" l="l"/>
              <a:pathLst>
                <a:path h="3058033" w="4156075">
                  <a:moveTo>
                    <a:pt x="0" y="509651"/>
                  </a:moveTo>
                  <a:cubicBezTo>
                    <a:pt x="0" y="228219"/>
                    <a:pt x="228219" y="0"/>
                    <a:pt x="509651" y="0"/>
                  </a:cubicBezTo>
                  <a:lnTo>
                    <a:pt x="3646424" y="0"/>
                  </a:lnTo>
                  <a:cubicBezTo>
                    <a:pt x="3927856" y="0"/>
                    <a:pt x="4156075" y="228219"/>
                    <a:pt x="4156075" y="509651"/>
                  </a:cubicBezTo>
                  <a:lnTo>
                    <a:pt x="4156075" y="2548382"/>
                  </a:lnTo>
                  <a:cubicBezTo>
                    <a:pt x="4156075" y="2829814"/>
                    <a:pt x="3927856" y="3058033"/>
                    <a:pt x="3646424" y="3058033"/>
                  </a:cubicBezTo>
                  <a:lnTo>
                    <a:pt x="509651" y="3058033"/>
                  </a:lnTo>
                  <a:cubicBezTo>
                    <a:pt x="228219" y="3058033"/>
                    <a:pt x="0" y="2829814"/>
                    <a:pt x="0" y="2548382"/>
                  </a:cubicBezTo>
                  <a:close/>
                </a:path>
              </a:pathLst>
            </a:custGeom>
            <a:solidFill>
              <a:srgbClr val="162033"/>
            </a:solidFill>
            <a:ln w="28597" cap="sq">
              <a:solidFill>
                <a:srgbClr val="35C2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4156151" cy="3058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2"/>
                </a:lnSpc>
              </a:pPr>
              <a:r>
                <a:rPr lang="en-US" sz="240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Concrete Tool</a:t>
              </a:r>
            </a:p>
            <a:p>
              <a:pPr algn="ctr">
                <a:lnSpc>
                  <a:spcPts val="2882"/>
                </a:lnSpc>
              </a:pPr>
              <a:r>
                <a:rPr lang="en-US" sz="240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name · description</a:t>
              </a:r>
            </a:p>
            <a:p>
              <a:pPr algn="ctr">
                <a:lnSpc>
                  <a:spcPts val="2882"/>
                </a:lnSpc>
              </a:pPr>
              <a:r>
                <a:rPr lang="en-US" sz="240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execute(arguments)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543724" y="4169042"/>
            <a:ext cx="2352608" cy="774030"/>
            <a:chOff x="0" y="0"/>
            <a:chExt cx="3136811" cy="10320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36773" cy="1032002"/>
            </a:xfrm>
            <a:custGeom>
              <a:avLst/>
              <a:gdLst/>
              <a:ahLst/>
              <a:cxnLst/>
              <a:rect r="r" b="b" t="t" l="l"/>
              <a:pathLst>
                <a:path h="1032002" w="3136773">
                  <a:moveTo>
                    <a:pt x="0" y="258064"/>
                  </a:moveTo>
                  <a:lnTo>
                    <a:pt x="2620772" y="258064"/>
                  </a:lnTo>
                  <a:lnTo>
                    <a:pt x="2620772" y="0"/>
                  </a:lnTo>
                  <a:lnTo>
                    <a:pt x="3136773" y="516001"/>
                  </a:lnTo>
                  <a:lnTo>
                    <a:pt x="2620772" y="1032002"/>
                  </a:lnTo>
                  <a:lnTo>
                    <a:pt x="2620772" y="774065"/>
                  </a:lnTo>
                  <a:lnTo>
                    <a:pt x="0" y="774065"/>
                  </a:lnTo>
                  <a:close/>
                </a:path>
              </a:pathLst>
            </a:custGeom>
            <a:solidFill>
              <a:srgbClr val="33D6A6"/>
            </a:solidFill>
            <a:ln w="19065" cap="sq">
              <a:solidFill>
                <a:srgbClr val="33D6A6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1917394" y="3788578"/>
            <a:ext cx="1258424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33D6A6"/>
                </a:solidFill>
                <a:latin typeface="Aptos"/>
                <a:ea typeface="Aptos"/>
                <a:cs typeface="Aptos"/>
                <a:sym typeface="Aptos"/>
              </a:rPr>
              <a:t>catalog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4261497" y="3280115"/>
            <a:ext cx="3117113" cy="2293506"/>
            <a:chOff x="0" y="0"/>
            <a:chExt cx="4156151" cy="305800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56075" cy="3058033"/>
            </a:xfrm>
            <a:custGeom>
              <a:avLst/>
              <a:gdLst/>
              <a:ahLst/>
              <a:cxnLst/>
              <a:rect r="r" b="b" t="t" l="l"/>
              <a:pathLst>
                <a:path h="3058033" w="4156075">
                  <a:moveTo>
                    <a:pt x="0" y="509651"/>
                  </a:moveTo>
                  <a:cubicBezTo>
                    <a:pt x="0" y="228219"/>
                    <a:pt x="228219" y="0"/>
                    <a:pt x="509651" y="0"/>
                  </a:cubicBezTo>
                  <a:lnTo>
                    <a:pt x="3646424" y="0"/>
                  </a:lnTo>
                  <a:cubicBezTo>
                    <a:pt x="3927856" y="0"/>
                    <a:pt x="4156075" y="228219"/>
                    <a:pt x="4156075" y="509651"/>
                  </a:cubicBezTo>
                  <a:lnTo>
                    <a:pt x="4156075" y="2548382"/>
                  </a:lnTo>
                  <a:cubicBezTo>
                    <a:pt x="4156075" y="2829814"/>
                    <a:pt x="3927856" y="3058033"/>
                    <a:pt x="3646424" y="3058033"/>
                  </a:cubicBezTo>
                  <a:lnTo>
                    <a:pt x="509651" y="3058033"/>
                  </a:lnTo>
                  <a:cubicBezTo>
                    <a:pt x="228219" y="3058033"/>
                    <a:pt x="0" y="2829814"/>
                    <a:pt x="0" y="2548382"/>
                  </a:cubicBezTo>
                  <a:close/>
                </a:path>
              </a:pathLst>
            </a:custGeom>
            <a:solidFill>
              <a:srgbClr val="162033"/>
            </a:solidFill>
            <a:ln w="28597" cap="sq">
              <a:solidFill>
                <a:srgbClr val="33D6A6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4156151" cy="3058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2"/>
                </a:lnSpc>
              </a:pPr>
              <a:r>
                <a:rPr lang="en-US" sz="240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System Prompt</a:t>
              </a:r>
            </a:p>
            <a:p>
              <a:pPr algn="ctr">
                <a:lnSpc>
                  <a:spcPts val="2882"/>
                </a:lnSpc>
              </a:pPr>
              <a:r>
                <a:rPr lang="en-US" sz="240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Tên và mô tả</a:t>
              </a:r>
            </a:p>
            <a:p>
              <a:pPr algn="ctr">
                <a:lnSpc>
                  <a:spcPts val="2882"/>
                </a:lnSpc>
              </a:pPr>
              <a:r>
                <a:rPr lang="en-US" sz="240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khớp runtime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27959" y="6987283"/>
            <a:ext cx="4350610" cy="1056199"/>
            <a:chOff x="0" y="0"/>
            <a:chExt cx="5800814" cy="140826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800852" cy="1408303"/>
            </a:xfrm>
            <a:custGeom>
              <a:avLst/>
              <a:gdLst/>
              <a:ahLst/>
              <a:cxnLst/>
              <a:rect r="r" b="b" t="t" l="l"/>
              <a:pathLst>
                <a:path h="1408303" w="5800852">
                  <a:moveTo>
                    <a:pt x="0" y="234696"/>
                  </a:moveTo>
                  <a:cubicBezTo>
                    <a:pt x="0" y="105029"/>
                    <a:pt x="105029" y="0"/>
                    <a:pt x="234696" y="0"/>
                  </a:cubicBezTo>
                  <a:lnTo>
                    <a:pt x="5566156" y="0"/>
                  </a:lnTo>
                  <a:cubicBezTo>
                    <a:pt x="5695823" y="0"/>
                    <a:pt x="5800852" y="105029"/>
                    <a:pt x="5800852" y="234696"/>
                  </a:cubicBezTo>
                  <a:lnTo>
                    <a:pt x="5800852" y="1173607"/>
                  </a:lnTo>
                  <a:cubicBezTo>
                    <a:pt x="5800852" y="1303274"/>
                    <a:pt x="5695823" y="1408303"/>
                    <a:pt x="5566156" y="1408303"/>
                  </a:cubicBezTo>
                  <a:lnTo>
                    <a:pt x="234696" y="1408303"/>
                  </a:lnTo>
                  <a:cubicBezTo>
                    <a:pt x="105029" y="1408303"/>
                    <a:pt x="0" y="1303147"/>
                    <a:pt x="0" y="1173607"/>
                  </a:cubicBezTo>
                  <a:close/>
                </a:path>
              </a:pathLst>
            </a:custGeom>
            <a:solidFill>
              <a:srgbClr val="162033"/>
            </a:solidFill>
            <a:ln w="26691" cap="sq">
              <a:solidFill>
                <a:srgbClr val="F5B942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5800814" cy="14082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F5B94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Alias normalization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987283" y="6987283"/>
            <a:ext cx="4350610" cy="1056199"/>
            <a:chOff x="0" y="0"/>
            <a:chExt cx="5800814" cy="140826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800852" cy="1408303"/>
            </a:xfrm>
            <a:custGeom>
              <a:avLst/>
              <a:gdLst/>
              <a:ahLst/>
              <a:cxnLst/>
              <a:rect r="r" b="b" t="t" l="l"/>
              <a:pathLst>
                <a:path h="1408303" w="5800852">
                  <a:moveTo>
                    <a:pt x="0" y="234696"/>
                  </a:moveTo>
                  <a:cubicBezTo>
                    <a:pt x="0" y="105029"/>
                    <a:pt x="105029" y="0"/>
                    <a:pt x="234696" y="0"/>
                  </a:cubicBezTo>
                  <a:lnTo>
                    <a:pt x="5566156" y="0"/>
                  </a:lnTo>
                  <a:cubicBezTo>
                    <a:pt x="5695823" y="0"/>
                    <a:pt x="5800852" y="105029"/>
                    <a:pt x="5800852" y="234696"/>
                  </a:cubicBezTo>
                  <a:lnTo>
                    <a:pt x="5800852" y="1173607"/>
                  </a:lnTo>
                  <a:cubicBezTo>
                    <a:pt x="5800852" y="1303274"/>
                    <a:pt x="5695823" y="1408303"/>
                    <a:pt x="5566156" y="1408303"/>
                  </a:cubicBezTo>
                  <a:lnTo>
                    <a:pt x="234696" y="1408303"/>
                  </a:lnTo>
                  <a:cubicBezTo>
                    <a:pt x="105029" y="1408303"/>
                    <a:pt x="0" y="1303147"/>
                    <a:pt x="0" y="1173607"/>
                  </a:cubicBezTo>
                  <a:close/>
                </a:path>
              </a:pathLst>
            </a:custGeom>
            <a:solidFill>
              <a:srgbClr val="162033"/>
            </a:solidFill>
            <a:ln w="26691" cap="sq">
              <a:solidFill>
                <a:srgbClr val="FF6B6B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5800814" cy="14082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FF6B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Allow / deny policy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546606" y="6987283"/>
            <a:ext cx="4350610" cy="1056199"/>
            <a:chOff x="0" y="0"/>
            <a:chExt cx="5800814" cy="140826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800852" cy="1408303"/>
            </a:xfrm>
            <a:custGeom>
              <a:avLst/>
              <a:gdLst/>
              <a:ahLst/>
              <a:cxnLst/>
              <a:rect r="r" b="b" t="t" l="l"/>
              <a:pathLst>
                <a:path h="1408303" w="5800852">
                  <a:moveTo>
                    <a:pt x="0" y="234696"/>
                  </a:moveTo>
                  <a:cubicBezTo>
                    <a:pt x="0" y="105029"/>
                    <a:pt x="105029" y="0"/>
                    <a:pt x="234696" y="0"/>
                  </a:cubicBezTo>
                  <a:lnTo>
                    <a:pt x="5566156" y="0"/>
                  </a:lnTo>
                  <a:cubicBezTo>
                    <a:pt x="5695823" y="0"/>
                    <a:pt x="5800852" y="105029"/>
                    <a:pt x="5800852" y="234696"/>
                  </a:cubicBezTo>
                  <a:lnTo>
                    <a:pt x="5800852" y="1173607"/>
                  </a:lnTo>
                  <a:cubicBezTo>
                    <a:pt x="5800852" y="1303274"/>
                    <a:pt x="5695823" y="1408303"/>
                    <a:pt x="5566156" y="1408303"/>
                  </a:cubicBezTo>
                  <a:lnTo>
                    <a:pt x="234696" y="1408303"/>
                  </a:lnTo>
                  <a:cubicBezTo>
                    <a:pt x="105029" y="1408303"/>
                    <a:pt x="0" y="1303147"/>
                    <a:pt x="0" y="1173607"/>
                  </a:cubicBezTo>
                  <a:close/>
                </a:path>
              </a:pathLst>
            </a:custGeom>
            <a:solidFill>
              <a:srgbClr val="162033"/>
            </a:solidFill>
            <a:ln w="26691" cap="sq">
              <a:solidFill>
                <a:srgbClr val="35C2FF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5800814" cy="14082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35C2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Fresh-instance factory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24861" y="9448524"/>
            <a:ext cx="4484208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9B5C7"/>
                </a:solidFill>
                <a:latin typeface="Aptos"/>
                <a:ea typeface="Aptos"/>
                <a:cs typeface="Aptos"/>
                <a:sym typeface="Aptos"/>
              </a:rPr>
              <a:t>Role B · Tools / Data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700773" y="9448524"/>
            <a:ext cx="503453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A9B5C7"/>
                </a:solidFill>
                <a:latin typeface="Aptos"/>
                <a:ea typeface="Aptos"/>
                <a:cs typeface="Aptos"/>
                <a:sym typeface="Aptos"/>
              </a:rPr>
              <a:t>10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3675" y="653901"/>
            <a:ext cx="16014659" cy="94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F4F7FB"/>
                </a:solidFill>
                <a:latin typeface="Aptos Bold"/>
                <a:ea typeface="Aptos Bold"/>
                <a:cs typeface="Aptos Bold"/>
                <a:sym typeface="Aptos Bold"/>
              </a:rPr>
              <a:t>Bộ tool đáp ứng requirement bắt buộc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20940" y="2045618"/>
            <a:ext cx="3935139" cy="516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35C2FF"/>
                </a:solidFill>
                <a:latin typeface="Aptos Bold"/>
                <a:ea typeface="Aptos Bold"/>
                <a:cs typeface="Aptos Bold"/>
                <a:sym typeface="Aptos Bold"/>
              </a:rPr>
              <a:t>5 nhóm bắt buộc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17108" y="2801588"/>
            <a:ext cx="2907392" cy="1740627"/>
            <a:chOff x="0" y="0"/>
            <a:chExt cx="3876523" cy="23208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76548" cy="2320925"/>
            </a:xfrm>
            <a:custGeom>
              <a:avLst/>
              <a:gdLst/>
              <a:ahLst/>
              <a:cxnLst/>
              <a:rect r="r" b="b" t="t" l="l"/>
              <a:pathLst>
                <a:path h="2320925" w="3876548">
                  <a:moveTo>
                    <a:pt x="0" y="386842"/>
                  </a:moveTo>
                  <a:cubicBezTo>
                    <a:pt x="0" y="173228"/>
                    <a:pt x="173228" y="0"/>
                    <a:pt x="386842" y="0"/>
                  </a:cubicBezTo>
                  <a:lnTo>
                    <a:pt x="3489706" y="0"/>
                  </a:lnTo>
                  <a:cubicBezTo>
                    <a:pt x="3703320" y="0"/>
                    <a:pt x="3876548" y="173228"/>
                    <a:pt x="3876548" y="386842"/>
                  </a:cubicBezTo>
                  <a:lnTo>
                    <a:pt x="3876548" y="1934083"/>
                  </a:lnTo>
                  <a:cubicBezTo>
                    <a:pt x="3876548" y="2147697"/>
                    <a:pt x="3703320" y="2320925"/>
                    <a:pt x="3489706" y="2320925"/>
                  </a:cubicBezTo>
                  <a:lnTo>
                    <a:pt x="386842" y="2320925"/>
                  </a:lnTo>
                  <a:cubicBezTo>
                    <a:pt x="173228" y="2320798"/>
                    <a:pt x="0" y="2147697"/>
                    <a:pt x="0" y="1934083"/>
                  </a:cubicBezTo>
                  <a:close/>
                </a:path>
              </a:pathLst>
            </a:custGeom>
            <a:solidFill>
              <a:srgbClr val="162033"/>
            </a:solidFill>
            <a:ln w="24784" cap="sq">
              <a:solidFill>
                <a:srgbClr val="35C2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3876523" cy="2320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Shell</a:t>
              </a:r>
            </a:p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execute_shell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174255" y="2801588"/>
            <a:ext cx="2907392" cy="1740627"/>
            <a:chOff x="0" y="0"/>
            <a:chExt cx="3876523" cy="23208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76548" cy="2320925"/>
            </a:xfrm>
            <a:custGeom>
              <a:avLst/>
              <a:gdLst/>
              <a:ahLst/>
              <a:cxnLst/>
              <a:rect r="r" b="b" t="t" l="l"/>
              <a:pathLst>
                <a:path h="2320925" w="3876548">
                  <a:moveTo>
                    <a:pt x="0" y="386842"/>
                  </a:moveTo>
                  <a:cubicBezTo>
                    <a:pt x="0" y="173228"/>
                    <a:pt x="173228" y="0"/>
                    <a:pt x="386842" y="0"/>
                  </a:cubicBezTo>
                  <a:lnTo>
                    <a:pt x="3489706" y="0"/>
                  </a:lnTo>
                  <a:cubicBezTo>
                    <a:pt x="3703320" y="0"/>
                    <a:pt x="3876548" y="173228"/>
                    <a:pt x="3876548" y="386842"/>
                  </a:cubicBezTo>
                  <a:lnTo>
                    <a:pt x="3876548" y="1934083"/>
                  </a:lnTo>
                  <a:cubicBezTo>
                    <a:pt x="3876548" y="2147697"/>
                    <a:pt x="3703320" y="2320925"/>
                    <a:pt x="3489706" y="2320925"/>
                  </a:cubicBezTo>
                  <a:lnTo>
                    <a:pt x="386842" y="2320925"/>
                  </a:lnTo>
                  <a:cubicBezTo>
                    <a:pt x="173228" y="2320798"/>
                    <a:pt x="0" y="2147697"/>
                    <a:pt x="0" y="1934083"/>
                  </a:cubicBezTo>
                  <a:close/>
                </a:path>
              </a:pathLst>
            </a:custGeom>
            <a:solidFill>
              <a:srgbClr val="162033"/>
            </a:solidFill>
            <a:ln w="24784" cap="sq">
              <a:solidFill>
                <a:srgbClr val="35C2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876523" cy="2320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File</a:t>
              </a:r>
            </a:p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read · write · append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331402" y="2801588"/>
            <a:ext cx="2907392" cy="1740627"/>
            <a:chOff x="0" y="0"/>
            <a:chExt cx="3876523" cy="23208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76548" cy="2320925"/>
            </a:xfrm>
            <a:custGeom>
              <a:avLst/>
              <a:gdLst/>
              <a:ahLst/>
              <a:cxnLst/>
              <a:rect r="r" b="b" t="t" l="l"/>
              <a:pathLst>
                <a:path h="2320925" w="3876548">
                  <a:moveTo>
                    <a:pt x="0" y="386842"/>
                  </a:moveTo>
                  <a:cubicBezTo>
                    <a:pt x="0" y="173228"/>
                    <a:pt x="173228" y="0"/>
                    <a:pt x="386842" y="0"/>
                  </a:cubicBezTo>
                  <a:lnTo>
                    <a:pt x="3489706" y="0"/>
                  </a:lnTo>
                  <a:cubicBezTo>
                    <a:pt x="3703320" y="0"/>
                    <a:pt x="3876548" y="173228"/>
                    <a:pt x="3876548" y="386842"/>
                  </a:cubicBezTo>
                  <a:lnTo>
                    <a:pt x="3876548" y="1934083"/>
                  </a:lnTo>
                  <a:cubicBezTo>
                    <a:pt x="3876548" y="2147697"/>
                    <a:pt x="3703320" y="2320925"/>
                    <a:pt x="3489706" y="2320925"/>
                  </a:cubicBezTo>
                  <a:lnTo>
                    <a:pt x="386842" y="2320925"/>
                  </a:lnTo>
                  <a:cubicBezTo>
                    <a:pt x="173228" y="2320798"/>
                    <a:pt x="0" y="2147697"/>
                    <a:pt x="0" y="1934083"/>
                  </a:cubicBezTo>
                  <a:close/>
                </a:path>
              </a:pathLst>
            </a:custGeom>
            <a:solidFill>
              <a:srgbClr val="162033"/>
            </a:solidFill>
            <a:ln w="24784" cap="sq">
              <a:solidFill>
                <a:srgbClr val="35C2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3876523" cy="2320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Web Search</a:t>
              </a:r>
            </a:p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DuckDuckGo / Wiki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488549" y="2801588"/>
            <a:ext cx="2907392" cy="1740627"/>
            <a:chOff x="0" y="0"/>
            <a:chExt cx="3876523" cy="23208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76548" cy="2320925"/>
            </a:xfrm>
            <a:custGeom>
              <a:avLst/>
              <a:gdLst/>
              <a:ahLst/>
              <a:cxnLst/>
              <a:rect r="r" b="b" t="t" l="l"/>
              <a:pathLst>
                <a:path h="2320925" w="3876548">
                  <a:moveTo>
                    <a:pt x="0" y="386842"/>
                  </a:moveTo>
                  <a:cubicBezTo>
                    <a:pt x="0" y="173228"/>
                    <a:pt x="173228" y="0"/>
                    <a:pt x="386842" y="0"/>
                  </a:cubicBezTo>
                  <a:lnTo>
                    <a:pt x="3489706" y="0"/>
                  </a:lnTo>
                  <a:cubicBezTo>
                    <a:pt x="3703320" y="0"/>
                    <a:pt x="3876548" y="173228"/>
                    <a:pt x="3876548" y="386842"/>
                  </a:cubicBezTo>
                  <a:lnTo>
                    <a:pt x="3876548" y="1934083"/>
                  </a:lnTo>
                  <a:cubicBezTo>
                    <a:pt x="3876548" y="2147697"/>
                    <a:pt x="3703320" y="2320925"/>
                    <a:pt x="3489706" y="2320925"/>
                  </a:cubicBezTo>
                  <a:lnTo>
                    <a:pt x="386842" y="2320925"/>
                  </a:lnTo>
                  <a:cubicBezTo>
                    <a:pt x="173228" y="2320798"/>
                    <a:pt x="0" y="2147697"/>
                    <a:pt x="0" y="1934083"/>
                  </a:cubicBezTo>
                  <a:close/>
                </a:path>
              </a:pathLst>
            </a:custGeom>
            <a:solidFill>
              <a:srgbClr val="162033"/>
            </a:solidFill>
            <a:ln w="24784" cap="sq">
              <a:solidFill>
                <a:srgbClr val="33D6A6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3876523" cy="2320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2"/>
                </a:lnSpc>
              </a:pPr>
              <a:r>
                <a:rPr lang="en-US" sz="240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Memory</a:t>
              </a:r>
            </a:p>
            <a:p>
              <a:pPr algn="ctr">
                <a:lnSpc>
                  <a:spcPts val="2882"/>
                </a:lnSpc>
              </a:pPr>
              <a:r>
                <a:rPr lang="en-US" sz="240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memory_save</a:t>
              </a:r>
            </a:p>
            <a:p>
              <a:pPr algn="ctr">
                <a:lnSpc>
                  <a:spcPts val="2882"/>
                </a:lnSpc>
              </a:pPr>
              <a:r>
                <a:rPr lang="en-US" sz="240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memory_search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645696" y="2801588"/>
            <a:ext cx="2907392" cy="1740627"/>
            <a:chOff x="0" y="0"/>
            <a:chExt cx="3876523" cy="23208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76548" cy="2320925"/>
            </a:xfrm>
            <a:custGeom>
              <a:avLst/>
              <a:gdLst/>
              <a:ahLst/>
              <a:cxnLst/>
              <a:rect r="r" b="b" t="t" l="l"/>
              <a:pathLst>
                <a:path h="2320925" w="3876548">
                  <a:moveTo>
                    <a:pt x="0" y="386842"/>
                  </a:moveTo>
                  <a:cubicBezTo>
                    <a:pt x="0" y="173228"/>
                    <a:pt x="173228" y="0"/>
                    <a:pt x="386842" y="0"/>
                  </a:cubicBezTo>
                  <a:lnTo>
                    <a:pt x="3489706" y="0"/>
                  </a:lnTo>
                  <a:cubicBezTo>
                    <a:pt x="3703320" y="0"/>
                    <a:pt x="3876548" y="173228"/>
                    <a:pt x="3876548" y="386842"/>
                  </a:cubicBezTo>
                  <a:lnTo>
                    <a:pt x="3876548" y="1934083"/>
                  </a:lnTo>
                  <a:cubicBezTo>
                    <a:pt x="3876548" y="2147697"/>
                    <a:pt x="3703320" y="2320925"/>
                    <a:pt x="3489706" y="2320925"/>
                  </a:cubicBezTo>
                  <a:lnTo>
                    <a:pt x="386842" y="2320925"/>
                  </a:lnTo>
                  <a:cubicBezTo>
                    <a:pt x="173228" y="2320798"/>
                    <a:pt x="0" y="2147697"/>
                    <a:pt x="0" y="1934083"/>
                  </a:cubicBezTo>
                  <a:close/>
                </a:path>
              </a:pathLst>
            </a:custGeom>
            <a:solidFill>
              <a:srgbClr val="162033"/>
            </a:solidFill>
            <a:ln w="24784" cap="sq">
              <a:solidFill>
                <a:srgbClr val="35C2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3876523" cy="2320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Calculator</a:t>
              </a:r>
            </a:p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biểu thức số học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20940" y="5545931"/>
            <a:ext cx="3935139" cy="516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F5B942"/>
                </a:solidFill>
                <a:latin typeface="Aptos Bold"/>
                <a:ea typeface="Aptos Bold"/>
                <a:cs typeface="Aptos Bold"/>
                <a:sym typeface="Aptos Bold"/>
              </a:rPr>
              <a:t>3 tool bổ sung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17108" y="6370539"/>
            <a:ext cx="3662362" cy="1397460"/>
            <a:chOff x="0" y="0"/>
            <a:chExt cx="4883150" cy="1863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83150" cy="1863217"/>
            </a:xfrm>
            <a:custGeom>
              <a:avLst/>
              <a:gdLst/>
              <a:ahLst/>
              <a:cxnLst/>
              <a:rect r="r" b="b" t="t" l="l"/>
              <a:pathLst>
                <a:path h="1863217" w="4883150">
                  <a:moveTo>
                    <a:pt x="0" y="310515"/>
                  </a:moveTo>
                  <a:cubicBezTo>
                    <a:pt x="0" y="139065"/>
                    <a:pt x="139065" y="0"/>
                    <a:pt x="310515" y="0"/>
                  </a:cubicBezTo>
                  <a:lnTo>
                    <a:pt x="4572635" y="0"/>
                  </a:lnTo>
                  <a:cubicBezTo>
                    <a:pt x="4744085" y="0"/>
                    <a:pt x="4883150" y="139065"/>
                    <a:pt x="4883150" y="310515"/>
                  </a:cubicBezTo>
                  <a:lnTo>
                    <a:pt x="4883150" y="1552702"/>
                  </a:lnTo>
                  <a:cubicBezTo>
                    <a:pt x="4883150" y="1724152"/>
                    <a:pt x="4744085" y="1863217"/>
                    <a:pt x="4572635" y="1863217"/>
                  </a:cubicBezTo>
                  <a:lnTo>
                    <a:pt x="310515" y="1863217"/>
                  </a:lnTo>
                  <a:cubicBezTo>
                    <a:pt x="139065" y="1863217"/>
                    <a:pt x="0" y="1724279"/>
                    <a:pt x="0" y="1552702"/>
                  </a:cubicBezTo>
                  <a:close/>
                </a:path>
              </a:pathLst>
            </a:custGeom>
            <a:solidFill>
              <a:srgbClr val="162033"/>
            </a:solidFill>
            <a:ln w="24784" cap="sq">
              <a:solidFill>
                <a:srgbClr val="F5B942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4883150" cy="1863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2"/>
                </a:lnSpc>
              </a:pPr>
              <a:r>
                <a:rPr lang="en-US" sz="2852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Time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135128" y="6370539"/>
            <a:ext cx="3662362" cy="1397460"/>
            <a:chOff x="0" y="0"/>
            <a:chExt cx="4883150" cy="1863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83150" cy="1863217"/>
            </a:xfrm>
            <a:custGeom>
              <a:avLst/>
              <a:gdLst/>
              <a:ahLst/>
              <a:cxnLst/>
              <a:rect r="r" b="b" t="t" l="l"/>
              <a:pathLst>
                <a:path h="1863217" w="4883150">
                  <a:moveTo>
                    <a:pt x="0" y="310515"/>
                  </a:moveTo>
                  <a:cubicBezTo>
                    <a:pt x="0" y="139065"/>
                    <a:pt x="139065" y="0"/>
                    <a:pt x="310515" y="0"/>
                  </a:cubicBezTo>
                  <a:lnTo>
                    <a:pt x="4572635" y="0"/>
                  </a:lnTo>
                  <a:cubicBezTo>
                    <a:pt x="4744085" y="0"/>
                    <a:pt x="4883150" y="139065"/>
                    <a:pt x="4883150" y="310515"/>
                  </a:cubicBezTo>
                  <a:lnTo>
                    <a:pt x="4883150" y="1552702"/>
                  </a:lnTo>
                  <a:cubicBezTo>
                    <a:pt x="4883150" y="1724152"/>
                    <a:pt x="4744085" y="1863217"/>
                    <a:pt x="4572635" y="1863217"/>
                  </a:cubicBezTo>
                  <a:lnTo>
                    <a:pt x="310515" y="1863217"/>
                  </a:lnTo>
                  <a:cubicBezTo>
                    <a:pt x="139065" y="1863217"/>
                    <a:pt x="0" y="1724279"/>
                    <a:pt x="0" y="1552702"/>
                  </a:cubicBezTo>
                  <a:close/>
                </a:path>
              </a:pathLst>
            </a:custGeom>
            <a:solidFill>
              <a:srgbClr val="162033"/>
            </a:solidFill>
            <a:ln w="24784" cap="sq">
              <a:solidFill>
                <a:srgbClr val="F5B942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4883150" cy="1863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2"/>
                </a:lnSpc>
              </a:pPr>
              <a:r>
                <a:rPr lang="en-US" sz="2852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JSON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253147" y="6370539"/>
            <a:ext cx="3662362" cy="1397460"/>
            <a:chOff x="0" y="0"/>
            <a:chExt cx="4883150" cy="1863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883150" cy="1863217"/>
            </a:xfrm>
            <a:custGeom>
              <a:avLst/>
              <a:gdLst/>
              <a:ahLst/>
              <a:cxnLst/>
              <a:rect r="r" b="b" t="t" l="l"/>
              <a:pathLst>
                <a:path h="1863217" w="4883150">
                  <a:moveTo>
                    <a:pt x="0" y="310515"/>
                  </a:moveTo>
                  <a:cubicBezTo>
                    <a:pt x="0" y="139065"/>
                    <a:pt x="139065" y="0"/>
                    <a:pt x="310515" y="0"/>
                  </a:cubicBezTo>
                  <a:lnTo>
                    <a:pt x="4572635" y="0"/>
                  </a:lnTo>
                  <a:cubicBezTo>
                    <a:pt x="4744085" y="0"/>
                    <a:pt x="4883150" y="139065"/>
                    <a:pt x="4883150" y="310515"/>
                  </a:cubicBezTo>
                  <a:lnTo>
                    <a:pt x="4883150" y="1552702"/>
                  </a:lnTo>
                  <a:cubicBezTo>
                    <a:pt x="4883150" y="1724152"/>
                    <a:pt x="4744085" y="1863217"/>
                    <a:pt x="4572635" y="1863217"/>
                  </a:cubicBezTo>
                  <a:lnTo>
                    <a:pt x="310515" y="1863217"/>
                  </a:lnTo>
                  <a:cubicBezTo>
                    <a:pt x="139065" y="1863217"/>
                    <a:pt x="0" y="1724279"/>
                    <a:pt x="0" y="1552702"/>
                  </a:cubicBezTo>
                  <a:close/>
                </a:path>
              </a:pathLst>
            </a:custGeom>
            <a:solidFill>
              <a:srgbClr val="162033"/>
            </a:solidFill>
            <a:ln w="24784" cap="sq">
              <a:solidFill>
                <a:srgbClr val="F5B942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4883150" cy="1863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22"/>
                </a:lnSpc>
              </a:pPr>
              <a:r>
                <a:rPr lang="en-US" sz="2852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Git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371166" y="6370539"/>
            <a:ext cx="3250568" cy="1397460"/>
            <a:chOff x="0" y="0"/>
            <a:chExt cx="4334091" cy="1863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334002" cy="1863217"/>
            </a:xfrm>
            <a:custGeom>
              <a:avLst/>
              <a:gdLst/>
              <a:ahLst/>
              <a:cxnLst/>
              <a:rect r="r" b="b" t="t" l="l"/>
              <a:pathLst>
                <a:path h="1863217" w="4334002">
                  <a:moveTo>
                    <a:pt x="0" y="310515"/>
                  </a:moveTo>
                  <a:cubicBezTo>
                    <a:pt x="0" y="139065"/>
                    <a:pt x="139065" y="0"/>
                    <a:pt x="310515" y="0"/>
                  </a:cubicBezTo>
                  <a:lnTo>
                    <a:pt x="4023487" y="0"/>
                  </a:lnTo>
                  <a:cubicBezTo>
                    <a:pt x="4194937" y="0"/>
                    <a:pt x="4334002" y="139065"/>
                    <a:pt x="4334002" y="310515"/>
                  </a:cubicBezTo>
                  <a:lnTo>
                    <a:pt x="4334002" y="1552702"/>
                  </a:lnTo>
                  <a:cubicBezTo>
                    <a:pt x="4334002" y="1724152"/>
                    <a:pt x="4194937" y="1863217"/>
                    <a:pt x="4023487" y="1863217"/>
                  </a:cubicBezTo>
                  <a:lnTo>
                    <a:pt x="310515" y="1863217"/>
                  </a:lnTo>
                  <a:cubicBezTo>
                    <a:pt x="139065" y="1863217"/>
                    <a:pt x="0" y="1724279"/>
                    <a:pt x="0" y="1552702"/>
                  </a:cubicBezTo>
                  <a:close/>
                </a:path>
              </a:pathLst>
            </a:custGeom>
            <a:solidFill>
              <a:srgbClr val="162033"/>
            </a:solidFill>
            <a:ln w="24784" cap="sq">
              <a:solidFill>
                <a:srgbClr val="FF6B6B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4334091" cy="1863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2"/>
                </a:lnSpc>
              </a:pPr>
              <a:r>
                <a:rPr lang="en-US" sz="2551" b="true">
                  <a:solidFill>
                    <a:srgbClr val="FF6B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Failure → ToolError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024861" y="9448524"/>
            <a:ext cx="4484208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9B5C7"/>
                </a:solidFill>
                <a:latin typeface="Aptos"/>
                <a:ea typeface="Aptos"/>
                <a:cs typeface="Aptos"/>
                <a:sym typeface="Aptos"/>
              </a:rPr>
              <a:t>Role B · Tools / Data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700773" y="9448524"/>
            <a:ext cx="503453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A9B5C7"/>
                </a:solidFill>
                <a:latin typeface="Aptos"/>
                <a:ea typeface="Aptos"/>
                <a:cs typeface="Aptos"/>
                <a:sym typeface="Aptos"/>
              </a:rPr>
              <a:t>11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3675" y="653901"/>
            <a:ext cx="14367443" cy="94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F4F7FB"/>
                </a:solidFill>
                <a:latin typeface="Aptos Bold"/>
                <a:ea typeface="Aptos Bold"/>
                <a:cs typeface="Aptos Bold"/>
                <a:sym typeface="Aptos Bold"/>
              </a:rPr>
              <a:t>Vector Search thay thế tìm kiếm từ khóa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09301" y="2731046"/>
            <a:ext cx="2705310" cy="3048476"/>
            <a:chOff x="0" y="0"/>
            <a:chExt cx="3607079" cy="406463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07054" cy="4064635"/>
            </a:xfrm>
            <a:custGeom>
              <a:avLst/>
              <a:gdLst/>
              <a:ahLst/>
              <a:cxnLst/>
              <a:rect r="r" b="b" t="t" l="l"/>
              <a:pathLst>
                <a:path h="4064635" w="3607054">
                  <a:moveTo>
                    <a:pt x="0" y="601218"/>
                  </a:moveTo>
                  <a:cubicBezTo>
                    <a:pt x="0" y="269113"/>
                    <a:pt x="269113" y="0"/>
                    <a:pt x="601218" y="0"/>
                  </a:cubicBezTo>
                  <a:lnTo>
                    <a:pt x="3005836" y="0"/>
                  </a:lnTo>
                  <a:cubicBezTo>
                    <a:pt x="3337814" y="0"/>
                    <a:pt x="3607054" y="269113"/>
                    <a:pt x="3607054" y="601218"/>
                  </a:cubicBezTo>
                  <a:lnTo>
                    <a:pt x="3607054" y="3463417"/>
                  </a:lnTo>
                  <a:cubicBezTo>
                    <a:pt x="3607054" y="3795395"/>
                    <a:pt x="3337941" y="4064635"/>
                    <a:pt x="3005836" y="4064635"/>
                  </a:cubicBezTo>
                  <a:lnTo>
                    <a:pt x="601218" y="4064635"/>
                  </a:lnTo>
                  <a:cubicBezTo>
                    <a:pt x="269113" y="4064635"/>
                    <a:pt x="0" y="3795522"/>
                    <a:pt x="0" y="3463417"/>
                  </a:cubicBezTo>
                  <a:close/>
                </a:path>
              </a:pathLst>
            </a:custGeom>
            <a:solidFill>
              <a:srgbClr val="162033"/>
            </a:solidFill>
            <a:ln w="28597" cap="sq">
              <a:solidFill>
                <a:srgbClr val="35C2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3607079" cy="4064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Văn bản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586867" y="3806495"/>
            <a:ext cx="732854" cy="774030"/>
            <a:chOff x="0" y="0"/>
            <a:chExt cx="977138" cy="1032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7138" cy="1032002"/>
            </a:xfrm>
            <a:custGeom>
              <a:avLst/>
              <a:gdLst/>
              <a:ahLst/>
              <a:cxnLst/>
              <a:rect r="r" b="b" t="t" l="l"/>
              <a:pathLst>
                <a:path h="1032002" w="977138">
                  <a:moveTo>
                    <a:pt x="0" y="258064"/>
                  </a:moveTo>
                  <a:lnTo>
                    <a:pt x="488569" y="258064"/>
                  </a:lnTo>
                  <a:lnTo>
                    <a:pt x="488569" y="0"/>
                  </a:lnTo>
                  <a:lnTo>
                    <a:pt x="977138" y="516001"/>
                  </a:lnTo>
                  <a:lnTo>
                    <a:pt x="488569" y="1032002"/>
                  </a:lnTo>
                  <a:lnTo>
                    <a:pt x="488569" y="774065"/>
                  </a:lnTo>
                  <a:lnTo>
                    <a:pt x="0" y="774065"/>
                  </a:lnTo>
                  <a:close/>
                </a:path>
              </a:pathLst>
            </a:custGeom>
            <a:solidFill>
              <a:srgbClr val="35C2FF"/>
            </a:solidFill>
            <a:ln w="19065" cap="sq">
              <a:solidFill>
                <a:srgbClr val="35C2F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4378252" y="2731046"/>
            <a:ext cx="2842574" cy="3048476"/>
            <a:chOff x="0" y="0"/>
            <a:chExt cx="3790099" cy="40646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90061" cy="4064635"/>
            </a:xfrm>
            <a:custGeom>
              <a:avLst/>
              <a:gdLst/>
              <a:ahLst/>
              <a:cxnLst/>
              <a:rect r="r" b="b" t="t" l="l"/>
              <a:pathLst>
                <a:path h="4064635" w="3790061">
                  <a:moveTo>
                    <a:pt x="0" y="631698"/>
                  </a:moveTo>
                  <a:cubicBezTo>
                    <a:pt x="0" y="282829"/>
                    <a:pt x="282829" y="0"/>
                    <a:pt x="631698" y="0"/>
                  </a:cubicBezTo>
                  <a:lnTo>
                    <a:pt x="3158363" y="0"/>
                  </a:lnTo>
                  <a:cubicBezTo>
                    <a:pt x="3507232" y="0"/>
                    <a:pt x="3790061" y="282829"/>
                    <a:pt x="3790061" y="631698"/>
                  </a:cubicBezTo>
                  <a:lnTo>
                    <a:pt x="3790061" y="3432937"/>
                  </a:lnTo>
                  <a:cubicBezTo>
                    <a:pt x="3790061" y="3781806"/>
                    <a:pt x="3507232" y="4064635"/>
                    <a:pt x="3158363" y="4064635"/>
                  </a:cubicBezTo>
                  <a:lnTo>
                    <a:pt x="631698" y="4064635"/>
                  </a:lnTo>
                  <a:cubicBezTo>
                    <a:pt x="282829" y="4064635"/>
                    <a:pt x="0" y="3781806"/>
                    <a:pt x="0" y="3432937"/>
                  </a:cubicBezTo>
                  <a:close/>
                </a:path>
              </a:pathLst>
            </a:custGeom>
            <a:solidFill>
              <a:srgbClr val="162033"/>
            </a:solidFill>
            <a:ln w="28597" cap="sq">
              <a:solidFill>
                <a:srgbClr val="35C2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3790099" cy="4064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Ollama</a:t>
              </a:r>
            </a:p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nomic-embed-text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293083" y="3806495"/>
            <a:ext cx="732854" cy="774030"/>
            <a:chOff x="0" y="0"/>
            <a:chExt cx="977138" cy="1032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77138" cy="1032002"/>
            </a:xfrm>
            <a:custGeom>
              <a:avLst/>
              <a:gdLst/>
              <a:ahLst/>
              <a:cxnLst/>
              <a:rect r="r" b="b" t="t" l="l"/>
              <a:pathLst>
                <a:path h="1032002" w="977138">
                  <a:moveTo>
                    <a:pt x="0" y="258064"/>
                  </a:moveTo>
                  <a:lnTo>
                    <a:pt x="488569" y="258064"/>
                  </a:lnTo>
                  <a:lnTo>
                    <a:pt x="488569" y="0"/>
                  </a:lnTo>
                  <a:lnTo>
                    <a:pt x="977138" y="516001"/>
                  </a:lnTo>
                  <a:lnTo>
                    <a:pt x="488569" y="1032002"/>
                  </a:lnTo>
                  <a:lnTo>
                    <a:pt x="488569" y="774065"/>
                  </a:lnTo>
                  <a:lnTo>
                    <a:pt x="0" y="774065"/>
                  </a:lnTo>
                  <a:close/>
                </a:path>
              </a:pathLst>
            </a:custGeom>
            <a:solidFill>
              <a:srgbClr val="35C2FF"/>
            </a:solidFill>
            <a:ln w="19065" cap="sq">
              <a:solidFill>
                <a:srgbClr val="35C2F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8084468" y="2731046"/>
            <a:ext cx="2705310" cy="3048476"/>
            <a:chOff x="0" y="0"/>
            <a:chExt cx="3607079" cy="406463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07054" cy="4064635"/>
            </a:xfrm>
            <a:custGeom>
              <a:avLst/>
              <a:gdLst/>
              <a:ahLst/>
              <a:cxnLst/>
              <a:rect r="r" b="b" t="t" l="l"/>
              <a:pathLst>
                <a:path h="4064635" w="3607054">
                  <a:moveTo>
                    <a:pt x="0" y="601218"/>
                  </a:moveTo>
                  <a:cubicBezTo>
                    <a:pt x="0" y="269113"/>
                    <a:pt x="269113" y="0"/>
                    <a:pt x="601218" y="0"/>
                  </a:cubicBezTo>
                  <a:lnTo>
                    <a:pt x="3005836" y="0"/>
                  </a:lnTo>
                  <a:cubicBezTo>
                    <a:pt x="3337814" y="0"/>
                    <a:pt x="3607054" y="269113"/>
                    <a:pt x="3607054" y="601218"/>
                  </a:cubicBezTo>
                  <a:lnTo>
                    <a:pt x="3607054" y="3463417"/>
                  </a:lnTo>
                  <a:cubicBezTo>
                    <a:pt x="3607054" y="3795395"/>
                    <a:pt x="3337941" y="4064635"/>
                    <a:pt x="3005836" y="4064635"/>
                  </a:cubicBezTo>
                  <a:lnTo>
                    <a:pt x="601218" y="4064635"/>
                  </a:lnTo>
                  <a:cubicBezTo>
                    <a:pt x="269113" y="4064635"/>
                    <a:pt x="0" y="3795522"/>
                    <a:pt x="0" y="3463417"/>
                  </a:cubicBezTo>
                  <a:close/>
                </a:path>
              </a:pathLst>
            </a:custGeom>
            <a:solidFill>
              <a:srgbClr val="162033"/>
            </a:solidFill>
            <a:ln w="28597" cap="sq">
              <a:solidFill>
                <a:srgbClr val="35C2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3607079" cy="4064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Embedding</a:t>
              </a:r>
            </a:p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vector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862034" y="3806495"/>
            <a:ext cx="732854" cy="774030"/>
            <a:chOff x="0" y="0"/>
            <a:chExt cx="977138" cy="1032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77138" cy="1032002"/>
            </a:xfrm>
            <a:custGeom>
              <a:avLst/>
              <a:gdLst/>
              <a:ahLst/>
              <a:cxnLst/>
              <a:rect r="r" b="b" t="t" l="l"/>
              <a:pathLst>
                <a:path h="1032002" w="977138">
                  <a:moveTo>
                    <a:pt x="0" y="258064"/>
                  </a:moveTo>
                  <a:lnTo>
                    <a:pt x="488569" y="258064"/>
                  </a:lnTo>
                  <a:lnTo>
                    <a:pt x="488569" y="0"/>
                  </a:lnTo>
                  <a:lnTo>
                    <a:pt x="977138" y="516001"/>
                  </a:lnTo>
                  <a:lnTo>
                    <a:pt x="488569" y="1032002"/>
                  </a:lnTo>
                  <a:lnTo>
                    <a:pt x="488569" y="774065"/>
                  </a:lnTo>
                  <a:lnTo>
                    <a:pt x="0" y="774065"/>
                  </a:lnTo>
                  <a:close/>
                </a:path>
              </a:pathLst>
            </a:custGeom>
            <a:solidFill>
              <a:srgbClr val="33D6A6"/>
            </a:solidFill>
            <a:ln w="19065" cap="sq">
              <a:solidFill>
                <a:srgbClr val="33D6A6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1653418" y="2731046"/>
            <a:ext cx="2705310" cy="3048476"/>
            <a:chOff x="0" y="0"/>
            <a:chExt cx="3607079" cy="40646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07054" cy="4064635"/>
            </a:xfrm>
            <a:custGeom>
              <a:avLst/>
              <a:gdLst/>
              <a:ahLst/>
              <a:cxnLst/>
              <a:rect r="r" b="b" t="t" l="l"/>
              <a:pathLst>
                <a:path h="4064635" w="3607054">
                  <a:moveTo>
                    <a:pt x="0" y="601218"/>
                  </a:moveTo>
                  <a:cubicBezTo>
                    <a:pt x="0" y="269113"/>
                    <a:pt x="269113" y="0"/>
                    <a:pt x="601218" y="0"/>
                  </a:cubicBezTo>
                  <a:lnTo>
                    <a:pt x="3005836" y="0"/>
                  </a:lnTo>
                  <a:cubicBezTo>
                    <a:pt x="3337814" y="0"/>
                    <a:pt x="3607054" y="269113"/>
                    <a:pt x="3607054" y="601218"/>
                  </a:cubicBezTo>
                  <a:lnTo>
                    <a:pt x="3607054" y="3463417"/>
                  </a:lnTo>
                  <a:cubicBezTo>
                    <a:pt x="3607054" y="3795395"/>
                    <a:pt x="3337941" y="4064635"/>
                    <a:pt x="3005836" y="4064635"/>
                  </a:cubicBezTo>
                  <a:lnTo>
                    <a:pt x="601218" y="4064635"/>
                  </a:lnTo>
                  <a:cubicBezTo>
                    <a:pt x="269113" y="4064635"/>
                    <a:pt x="0" y="3795522"/>
                    <a:pt x="0" y="3463417"/>
                  </a:cubicBezTo>
                  <a:close/>
                </a:path>
              </a:pathLst>
            </a:custGeom>
            <a:solidFill>
              <a:srgbClr val="162033"/>
            </a:solidFill>
            <a:ln w="28597" cap="sq">
              <a:solidFill>
                <a:srgbClr val="33D6A6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3607079" cy="4064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SQLite</a:t>
              </a:r>
            </a:p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text + vector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430985" y="3806495"/>
            <a:ext cx="732854" cy="774030"/>
            <a:chOff x="0" y="0"/>
            <a:chExt cx="977138" cy="10320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77138" cy="1032002"/>
            </a:xfrm>
            <a:custGeom>
              <a:avLst/>
              <a:gdLst/>
              <a:ahLst/>
              <a:cxnLst/>
              <a:rect r="r" b="b" t="t" l="l"/>
              <a:pathLst>
                <a:path h="1032002" w="977138">
                  <a:moveTo>
                    <a:pt x="0" y="258064"/>
                  </a:moveTo>
                  <a:lnTo>
                    <a:pt x="488569" y="258064"/>
                  </a:lnTo>
                  <a:lnTo>
                    <a:pt x="488569" y="0"/>
                  </a:lnTo>
                  <a:lnTo>
                    <a:pt x="977138" y="516001"/>
                  </a:lnTo>
                  <a:lnTo>
                    <a:pt x="488569" y="1032002"/>
                  </a:lnTo>
                  <a:lnTo>
                    <a:pt x="488569" y="774065"/>
                  </a:lnTo>
                  <a:lnTo>
                    <a:pt x="0" y="774065"/>
                  </a:lnTo>
                  <a:close/>
                </a:path>
              </a:pathLst>
            </a:custGeom>
            <a:solidFill>
              <a:srgbClr val="33D6A6"/>
            </a:solidFill>
            <a:ln w="19065" cap="sq">
              <a:solidFill>
                <a:srgbClr val="33D6A6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5222369" y="2731046"/>
            <a:ext cx="2293506" cy="3048476"/>
            <a:chOff x="0" y="0"/>
            <a:chExt cx="3058008" cy="406463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058033" cy="4064635"/>
            </a:xfrm>
            <a:custGeom>
              <a:avLst/>
              <a:gdLst/>
              <a:ahLst/>
              <a:cxnLst/>
              <a:rect r="r" b="b" t="t" l="l"/>
              <a:pathLst>
                <a:path h="4064635" w="3058033">
                  <a:moveTo>
                    <a:pt x="0" y="509651"/>
                  </a:moveTo>
                  <a:cubicBezTo>
                    <a:pt x="0" y="228219"/>
                    <a:pt x="228219" y="0"/>
                    <a:pt x="509651" y="0"/>
                  </a:cubicBezTo>
                  <a:lnTo>
                    <a:pt x="2548382" y="0"/>
                  </a:lnTo>
                  <a:cubicBezTo>
                    <a:pt x="2829814" y="0"/>
                    <a:pt x="3058033" y="228219"/>
                    <a:pt x="3058033" y="509651"/>
                  </a:cubicBezTo>
                  <a:lnTo>
                    <a:pt x="3058033" y="3554984"/>
                  </a:lnTo>
                  <a:cubicBezTo>
                    <a:pt x="3058033" y="3836416"/>
                    <a:pt x="2829814" y="4064635"/>
                    <a:pt x="2548382" y="4064635"/>
                  </a:cubicBezTo>
                  <a:lnTo>
                    <a:pt x="509651" y="4064635"/>
                  </a:lnTo>
                  <a:cubicBezTo>
                    <a:pt x="228219" y="4064635"/>
                    <a:pt x="0" y="3836416"/>
                    <a:pt x="0" y="3554984"/>
                  </a:cubicBezTo>
                  <a:close/>
                </a:path>
              </a:pathLst>
            </a:custGeom>
            <a:solidFill>
              <a:srgbClr val="162033"/>
            </a:solidFill>
            <a:ln w="28597" cap="sq">
              <a:solidFill>
                <a:srgbClr val="33D6A6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3058008" cy="4064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</a:t>
              </a:r>
            </a:p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Cosine</a:t>
              </a:r>
            </a:p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similarity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54382" y="6850971"/>
            <a:ext cx="7162676" cy="1191558"/>
            <a:chOff x="0" y="0"/>
            <a:chExt cx="9550235" cy="158874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550273" cy="1588770"/>
            </a:xfrm>
            <a:custGeom>
              <a:avLst/>
              <a:gdLst/>
              <a:ahLst/>
              <a:cxnLst/>
              <a:rect r="r" b="b" t="t" l="l"/>
              <a:pathLst>
                <a:path h="1588770" w="9550273">
                  <a:moveTo>
                    <a:pt x="0" y="264795"/>
                  </a:moveTo>
                  <a:cubicBezTo>
                    <a:pt x="0" y="118491"/>
                    <a:pt x="118491" y="0"/>
                    <a:pt x="264795" y="0"/>
                  </a:cubicBezTo>
                  <a:lnTo>
                    <a:pt x="9285478" y="0"/>
                  </a:lnTo>
                  <a:cubicBezTo>
                    <a:pt x="9431782" y="0"/>
                    <a:pt x="9550273" y="118491"/>
                    <a:pt x="9550273" y="264795"/>
                  </a:cubicBezTo>
                  <a:lnTo>
                    <a:pt x="9550273" y="1323975"/>
                  </a:lnTo>
                  <a:cubicBezTo>
                    <a:pt x="9550273" y="1470279"/>
                    <a:pt x="9431782" y="1588770"/>
                    <a:pt x="9285478" y="1588770"/>
                  </a:cubicBezTo>
                  <a:lnTo>
                    <a:pt x="264795" y="1588770"/>
                  </a:lnTo>
                  <a:cubicBezTo>
                    <a:pt x="118491" y="1588770"/>
                    <a:pt x="0" y="1470152"/>
                    <a:pt x="0" y="1323975"/>
                  </a:cubicBezTo>
                  <a:close/>
                </a:path>
              </a:pathLst>
            </a:custGeom>
            <a:solidFill>
              <a:srgbClr val="162033"/>
            </a:solidFill>
            <a:ln w="24784" cap="sq">
              <a:solidFill>
                <a:srgbClr val="33D6A6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9550235" cy="1588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82"/>
                </a:lnSpc>
              </a:pPr>
              <a:r>
                <a:rPr lang="en-US" sz="3152" b="true">
                  <a:solidFill>
                    <a:srgbClr val="33D6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Production: OllamaEmbedder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96314" y="6507804"/>
            <a:ext cx="7505852" cy="1877892"/>
            <a:chOff x="0" y="0"/>
            <a:chExt cx="10007803" cy="25038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007854" cy="2503805"/>
            </a:xfrm>
            <a:custGeom>
              <a:avLst/>
              <a:gdLst/>
              <a:ahLst/>
              <a:cxnLst/>
              <a:rect r="r" b="b" t="t" l="l"/>
              <a:pathLst>
                <a:path h="2503805" w="10007854">
                  <a:moveTo>
                    <a:pt x="0" y="417322"/>
                  </a:moveTo>
                  <a:cubicBezTo>
                    <a:pt x="0" y="186817"/>
                    <a:pt x="186817" y="0"/>
                    <a:pt x="417322" y="0"/>
                  </a:cubicBezTo>
                  <a:lnTo>
                    <a:pt x="9590532" y="0"/>
                  </a:lnTo>
                  <a:cubicBezTo>
                    <a:pt x="9821037" y="0"/>
                    <a:pt x="10007854" y="186817"/>
                    <a:pt x="10007854" y="417322"/>
                  </a:cubicBezTo>
                  <a:lnTo>
                    <a:pt x="10007854" y="2086483"/>
                  </a:lnTo>
                  <a:cubicBezTo>
                    <a:pt x="10007854" y="2316988"/>
                    <a:pt x="9821037" y="2503805"/>
                    <a:pt x="9590532" y="2503805"/>
                  </a:cubicBezTo>
                  <a:lnTo>
                    <a:pt x="417322" y="2503805"/>
                  </a:lnTo>
                  <a:cubicBezTo>
                    <a:pt x="186817" y="2503805"/>
                    <a:pt x="0" y="2316988"/>
                    <a:pt x="0" y="2086483"/>
                  </a:cubicBezTo>
                  <a:close/>
                </a:path>
              </a:pathLst>
            </a:custGeom>
            <a:solidFill>
              <a:srgbClr val="162033"/>
            </a:solidFill>
            <a:ln w="24784" cap="sq">
              <a:solidFill>
                <a:srgbClr val="F5B942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0007803" cy="25038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F5B94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Offline test: HashEmbedder</a:t>
              </a:r>
            </a:p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F5B94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Không tự fallback trong production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024861" y="9448524"/>
            <a:ext cx="4484208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9B5C7"/>
                </a:solidFill>
                <a:latin typeface="Aptos"/>
                <a:ea typeface="Aptos"/>
                <a:cs typeface="Aptos"/>
                <a:sym typeface="Aptos"/>
              </a:rPr>
              <a:t>Role B · Tools / Data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700773" y="9448524"/>
            <a:ext cx="503453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A9B5C7"/>
                </a:solidFill>
                <a:latin typeface="Aptos"/>
                <a:ea typeface="Aptos"/>
                <a:cs typeface="Aptos"/>
                <a:sym typeface="Aptos"/>
              </a:rPr>
              <a:t>12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3675" y="653901"/>
            <a:ext cx="16014659" cy="94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F4F7FB"/>
                </a:solidFill>
                <a:latin typeface="Aptos Bold"/>
                <a:ea typeface="Aptos Bold"/>
                <a:cs typeface="Aptos Bold"/>
                <a:sym typeface="Aptos Bold"/>
              </a:rPr>
              <a:t>Harness biến một lần chạy thành evidence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78891" y="2800636"/>
            <a:ext cx="2566130" cy="2017062"/>
            <a:chOff x="0" y="0"/>
            <a:chExt cx="3421507" cy="26894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21507" cy="2689352"/>
            </a:xfrm>
            <a:custGeom>
              <a:avLst/>
              <a:gdLst/>
              <a:ahLst/>
              <a:cxnLst/>
              <a:rect r="r" b="b" t="t" l="l"/>
              <a:pathLst>
                <a:path h="2689352" w="3421507">
                  <a:moveTo>
                    <a:pt x="0" y="448183"/>
                  </a:moveTo>
                  <a:cubicBezTo>
                    <a:pt x="0" y="200660"/>
                    <a:pt x="200660" y="0"/>
                    <a:pt x="448183" y="0"/>
                  </a:cubicBezTo>
                  <a:lnTo>
                    <a:pt x="2973324" y="0"/>
                  </a:lnTo>
                  <a:cubicBezTo>
                    <a:pt x="3220847" y="0"/>
                    <a:pt x="3421507" y="200660"/>
                    <a:pt x="3421507" y="448183"/>
                  </a:cubicBezTo>
                  <a:lnTo>
                    <a:pt x="3421507" y="2241169"/>
                  </a:lnTo>
                  <a:cubicBezTo>
                    <a:pt x="3421507" y="2488692"/>
                    <a:pt x="3220847" y="2689352"/>
                    <a:pt x="2973324" y="2689352"/>
                  </a:cubicBezTo>
                  <a:lnTo>
                    <a:pt x="448183" y="2689352"/>
                  </a:lnTo>
                  <a:cubicBezTo>
                    <a:pt x="200660" y="2689479"/>
                    <a:pt x="0" y="2488692"/>
                    <a:pt x="0" y="2241169"/>
                  </a:cubicBezTo>
                  <a:close/>
                </a:path>
              </a:pathLst>
            </a:custGeom>
            <a:solidFill>
              <a:srgbClr val="162033"/>
            </a:solidFill>
            <a:ln w="26691" cap="sq">
              <a:solidFill>
                <a:srgbClr val="35C2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3421507" cy="2689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2"/>
                </a:lnSpc>
              </a:pPr>
              <a:r>
                <a:rPr lang="en-US" sz="255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SETUP</a:t>
              </a:r>
            </a:p>
            <a:p>
              <a:pPr algn="ctr">
                <a:lnSpc>
                  <a:spcPts val="3062"/>
                </a:lnSpc>
              </a:pPr>
              <a:r>
                <a:rPr lang="en-US" sz="255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Dọn artifact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518240" y="3422152"/>
            <a:ext cx="774030" cy="774030"/>
            <a:chOff x="0" y="0"/>
            <a:chExt cx="1032040" cy="1032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2002" cy="1032002"/>
            </a:xfrm>
            <a:custGeom>
              <a:avLst/>
              <a:gdLst/>
              <a:ahLst/>
              <a:cxnLst/>
              <a:rect r="r" b="b" t="t" l="l"/>
              <a:pathLst>
                <a:path h="1032002" w="1032002">
                  <a:moveTo>
                    <a:pt x="0" y="258064"/>
                  </a:moveTo>
                  <a:lnTo>
                    <a:pt x="516001" y="258064"/>
                  </a:lnTo>
                  <a:lnTo>
                    <a:pt x="516001" y="0"/>
                  </a:lnTo>
                  <a:lnTo>
                    <a:pt x="1032002" y="516001"/>
                  </a:lnTo>
                  <a:lnTo>
                    <a:pt x="516001" y="1032002"/>
                  </a:lnTo>
                  <a:lnTo>
                    <a:pt x="516001" y="774065"/>
                  </a:lnTo>
                  <a:lnTo>
                    <a:pt x="0" y="774065"/>
                  </a:lnTo>
                  <a:close/>
                </a:path>
              </a:pathLst>
            </a:custGeom>
            <a:solidFill>
              <a:srgbClr val="35C2FF"/>
            </a:solidFill>
            <a:ln w="19065" cap="sq">
              <a:solidFill>
                <a:srgbClr val="35C2F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4351753" y="2800636"/>
            <a:ext cx="2566130" cy="2017062"/>
            <a:chOff x="0" y="0"/>
            <a:chExt cx="3421507" cy="26894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21507" cy="2689352"/>
            </a:xfrm>
            <a:custGeom>
              <a:avLst/>
              <a:gdLst/>
              <a:ahLst/>
              <a:cxnLst/>
              <a:rect r="r" b="b" t="t" l="l"/>
              <a:pathLst>
                <a:path h="2689352" w="3421507">
                  <a:moveTo>
                    <a:pt x="0" y="448183"/>
                  </a:moveTo>
                  <a:cubicBezTo>
                    <a:pt x="0" y="200660"/>
                    <a:pt x="200660" y="0"/>
                    <a:pt x="448183" y="0"/>
                  </a:cubicBezTo>
                  <a:lnTo>
                    <a:pt x="2973324" y="0"/>
                  </a:lnTo>
                  <a:cubicBezTo>
                    <a:pt x="3220847" y="0"/>
                    <a:pt x="3421507" y="200660"/>
                    <a:pt x="3421507" y="448183"/>
                  </a:cubicBezTo>
                  <a:lnTo>
                    <a:pt x="3421507" y="2241169"/>
                  </a:lnTo>
                  <a:cubicBezTo>
                    <a:pt x="3421507" y="2488692"/>
                    <a:pt x="3220847" y="2689352"/>
                    <a:pt x="2973324" y="2689352"/>
                  </a:cubicBezTo>
                  <a:lnTo>
                    <a:pt x="448183" y="2689352"/>
                  </a:lnTo>
                  <a:cubicBezTo>
                    <a:pt x="200660" y="2689479"/>
                    <a:pt x="0" y="2488692"/>
                    <a:pt x="0" y="2241169"/>
                  </a:cubicBezTo>
                  <a:close/>
                </a:path>
              </a:pathLst>
            </a:custGeom>
            <a:solidFill>
              <a:srgbClr val="162033"/>
            </a:solidFill>
            <a:ln w="26691" cap="sq">
              <a:solidFill>
                <a:srgbClr val="33D6A6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3421507" cy="2689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2"/>
                </a:lnSpc>
              </a:pPr>
              <a:r>
                <a:rPr lang="en-US" sz="255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RUN</a:t>
              </a:r>
            </a:p>
            <a:p>
              <a:pPr algn="ctr">
                <a:lnSpc>
                  <a:spcPts val="3062"/>
                </a:lnSpc>
              </a:pPr>
              <a:r>
                <a:rPr lang="en-US" sz="255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AgentLoop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91093" y="3422152"/>
            <a:ext cx="774030" cy="774030"/>
            <a:chOff x="0" y="0"/>
            <a:chExt cx="1032040" cy="1032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2002" cy="1032002"/>
            </a:xfrm>
            <a:custGeom>
              <a:avLst/>
              <a:gdLst/>
              <a:ahLst/>
              <a:cxnLst/>
              <a:rect r="r" b="b" t="t" l="l"/>
              <a:pathLst>
                <a:path h="1032002" w="1032002">
                  <a:moveTo>
                    <a:pt x="0" y="258064"/>
                  </a:moveTo>
                  <a:lnTo>
                    <a:pt x="516001" y="258064"/>
                  </a:lnTo>
                  <a:lnTo>
                    <a:pt x="516001" y="0"/>
                  </a:lnTo>
                  <a:lnTo>
                    <a:pt x="1032002" y="516001"/>
                  </a:lnTo>
                  <a:lnTo>
                    <a:pt x="516001" y="1032002"/>
                  </a:lnTo>
                  <a:lnTo>
                    <a:pt x="516001" y="774065"/>
                  </a:lnTo>
                  <a:lnTo>
                    <a:pt x="0" y="774065"/>
                  </a:lnTo>
                  <a:close/>
                </a:path>
              </a:pathLst>
            </a:custGeom>
            <a:solidFill>
              <a:srgbClr val="33D6A6"/>
            </a:solidFill>
            <a:ln w="19065" cap="sq">
              <a:solidFill>
                <a:srgbClr val="33D6A6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7824616" y="2800636"/>
            <a:ext cx="2566130" cy="2017062"/>
            <a:chOff x="0" y="0"/>
            <a:chExt cx="3421507" cy="26894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421507" cy="2689352"/>
            </a:xfrm>
            <a:custGeom>
              <a:avLst/>
              <a:gdLst/>
              <a:ahLst/>
              <a:cxnLst/>
              <a:rect r="r" b="b" t="t" l="l"/>
              <a:pathLst>
                <a:path h="2689352" w="3421507">
                  <a:moveTo>
                    <a:pt x="0" y="448183"/>
                  </a:moveTo>
                  <a:cubicBezTo>
                    <a:pt x="0" y="200660"/>
                    <a:pt x="200660" y="0"/>
                    <a:pt x="448183" y="0"/>
                  </a:cubicBezTo>
                  <a:lnTo>
                    <a:pt x="2973324" y="0"/>
                  </a:lnTo>
                  <a:cubicBezTo>
                    <a:pt x="3220847" y="0"/>
                    <a:pt x="3421507" y="200660"/>
                    <a:pt x="3421507" y="448183"/>
                  </a:cubicBezTo>
                  <a:lnTo>
                    <a:pt x="3421507" y="2241169"/>
                  </a:lnTo>
                  <a:cubicBezTo>
                    <a:pt x="3421507" y="2488692"/>
                    <a:pt x="3220847" y="2689352"/>
                    <a:pt x="2973324" y="2689352"/>
                  </a:cubicBezTo>
                  <a:lnTo>
                    <a:pt x="448183" y="2689352"/>
                  </a:lnTo>
                  <a:cubicBezTo>
                    <a:pt x="200660" y="2689479"/>
                    <a:pt x="0" y="2488692"/>
                    <a:pt x="0" y="2241169"/>
                  </a:cubicBezTo>
                  <a:close/>
                </a:path>
              </a:pathLst>
            </a:custGeom>
            <a:solidFill>
              <a:srgbClr val="162033"/>
            </a:solidFill>
            <a:ln w="26691" cap="sq">
              <a:solidFill>
                <a:srgbClr val="F5B94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3421507" cy="2689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2"/>
                </a:lnSpc>
              </a:pPr>
              <a:r>
                <a:rPr lang="en-US" sz="255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EVALUATE</a:t>
              </a:r>
            </a:p>
            <a:p>
              <a:pPr algn="ctr">
                <a:lnSpc>
                  <a:spcPts val="3062"/>
                </a:lnSpc>
              </a:pPr>
              <a:r>
                <a:rPr lang="en-US" sz="255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Hậu điều kiện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463955" y="3422152"/>
            <a:ext cx="774030" cy="774030"/>
            <a:chOff x="0" y="0"/>
            <a:chExt cx="1032040" cy="1032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32002" cy="1032002"/>
            </a:xfrm>
            <a:custGeom>
              <a:avLst/>
              <a:gdLst/>
              <a:ahLst/>
              <a:cxnLst/>
              <a:rect r="r" b="b" t="t" l="l"/>
              <a:pathLst>
                <a:path h="1032002" w="1032002">
                  <a:moveTo>
                    <a:pt x="0" y="258064"/>
                  </a:moveTo>
                  <a:lnTo>
                    <a:pt x="516001" y="258064"/>
                  </a:lnTo>
                  <a:lnTo>
                    <a:pt x="516001" y="0"/>
                  </a:lnTo>
                  <a:lnTo>
                    <a:pt x="1032002" y="516001"/>
                  </a:lnTo>
                  <a:lnTo>
                    <a:pt x="516001" y="1032002"/>
                  </a:lnTo>
                  <a:lnTo>
                    <a:pt x="516001" y="774065"/>
                  </a:lnTo>
                  <a:lnTo>
                    <a:pt x="0" y="774065"/>
                  </a:lnTo>
                  <a:close/>
                </a:path>
              </a:pathLst>
            </a:custGeom>
            <a:solidFill>
              <a:srgbClr val="F5B942"/>
            </a:solidFill>
            <a:ln w="19065" cap="sq">
              <a:solidFill>
                <a:srgbClr val="F5B942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1297479" y="2800636"/>
            <a:ext cx="2566130" cy="2017062"/>
            <a:chOff x="0" y="0"/>
            <a:chExt cx="3421507" cy="26894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421507" cy="2689352"/>
            </a:xfrm>
            <a:custGeom>
              <a:avLst/>
              <a:gdLst/>
              <a:ahLst/>
              <a:cxnLst/>
              <a:rect r="r" b="b" t="t" l="l"/>
              <a:pathLst>
                <a:path h="2689352" w="3421507">
                  <a:moveTo>
                    <a:pt x="0" y="448183"/>
                  </a:moveTo>
                  <a:cubicBezTo>
                    <a:pt x="0" y="200660"/>
                    <a:pt x="200660" y="0"/>
                    <a:pt x="448183" y="0"/>
                  </a:cubicBezTo>
                  <a:lnTo>
                    <a:pt x="2973324" y="0"/>
                  </a:lnTo>
                  <a:cubicBezTo>
                    <a:pt x="3220847" y="0"/>
                    <a:pt x="3421507" y="200660"/>
                    <a:pt x="3421507" y="448183"/>
                  </a:cubicBezTo>
                  <a:lnTo>
                    <a:pt x="3421507" y="2241169"/>
                  </a:lnTo>
                  <a:cubicBezTo>
                    <a:pt x="3421507" y="2488692"/>
                    <a:pt x="3220847" y="2689352"/>
                    <a:pt x="2973324" y="2689352"/>
                  </a:cubicBezTo>
                  <a:lnTo>
                    <a:pt x="448183" y="2689352"/>
                  </a:lnTo>
                  <a:cubicBezTo>
                    <a:pt x="200660" y="2689479"/>
                    <a:pt x="0" y="2488692"/>
                    <a:pt x="0" y="2241169"/>
                  </a:cubicBezTo>
                  <a:close/>
                </a:path>
              </a:pathLst>
            </a:custGeom>
            <a:solidFill>
              <a:srgbClr val="162033"/>
            </a:solidFill>
            <a:ln w="26691" cap="sq">
              <a:solidFill>
                <a:srgbClr val="35C2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3421507" cy="2689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2"/>
                </a:lnSpc>
              </a:pPr>
              <a:r>
                <a:rPr lang="en-US" sz="255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RECORD</a:t>
              </a:r>
            </a:p>
            <a:p>
              <a:pPr algn="ctr">
                <a:lnSpc>
                  <a:spcPts val="3062"/>
                </a:lnSpc>
              </a:pPr>
              <a:r>
                <a:rPr lang="en-US" sz="255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Trajectory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936818" y="3422152"/>
            <a:ext cx="774030" cy="774030"/>
            <a:chOff x="0" y="0"/>
            <a:chExt cx="1032040" cy="10320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32002" cy="1032002"/>
            </a:xfrm>
            <a:custGeom>
              <a:avLst/>
              <a:gdLst/>
              <a:ahLst/>
              <a:cxnLst/>
              <a:rect r="r" b="b" t="t" l="l"/>
              <a:pathLst>
                <a:path h="1032002" w="1032002">
                  <a:moveTo>
                    <a:pt x="0" y="258064"/>
                  </a:moveTo>
                  <a:lnTo>
                    <a:pt x="516001" y="258064"/>
                  </a:lnTo>
                  <a:lnTo>
                    <a:pt x="516001" y="0"/>
                  </a:lnTo>
                  <a:lnTo>
                    <a:pt x="1032002" y="516001"/>
                  </a:lnTo>
                  <a:lnTo>
                    <a:pt x="516001" y="1032002"/>
                  </a:lnTo>
                  <a:lnTo>
                    <a:pt x="516001" y="774065"/>
                  </a:lnTo>
                  <a:lnTo>
                    <a:pt x="0" y="774065"/>
                  </a:lnTo>
                  <a:close/>
                </a:path>
              </a:pathLst>
            </a:custGeom>
            <a:solidFill>
              <a:srgbClr val="35C2FF"/>
            </a:solidFill>
            <a:ln w="19065" cap="sq">
              <a:solidFill>
                <a:srgbClr val="35C2FF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4770332" y="2800636"/>
            <a:ext cx="2634767" cy="2017062"/>
            <a:chOff x="0" y="0"/>
            <a:chExt cx="3513023" cy="26894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512947" cy="2689352"/>
            </a:xfrm>
            <a:custGeom>
              <a:avLst/>
              <a:gdLst/>
              <a:ahLst/>
              <a:cxnLst/>
              <a:rect r="r" b="b" t="t" l="l"/>
              <a:pathLst>
                <a:path h="2689352" w="3512947">
                  <a:moveTo>
                    <a:pt x="0" y="448183"/>
                  </a:moveTo>
                  <a:cubicBezTo>
                    <a:pt x="0" y="200660"/>
                    <a:pt x="200660" y="0"/>
                    <a:pt x="448183" y="0"/>
                  </a:cubicBezTo>
                  <a:lnTo>
                    <a:pt x="3064764" y="0"/>
                  </a:lnTo>
                  <a:cubicBezTo>
                    <a:pt x="3312287" y="0"/>
                    <a:pt x="3512947" y="200660"/>
                    <a:pt x="3512947" y="448183"/>
                  </a:cubicBezTo>
                  <a:lnTo>
                    <a:pt x="3512947" y="2241169"/>
                  </a:lnTo>
                  <a:cubicBezTo>
                    <a:pt x="3512947" y="2488692"/>
                    <a:pt x="3312287" y="2689352"/>
                    <a:pt x="3064764" y="2689352"/>
                  </a:cubicBezTo>
                  <a:lnTo>
                    <a:pt x="448183" y="2689352"/>
                  </a:lnTo>
                  <a:cubicBezTo>
                    <a:pt x="200660" y="2689479"/>
                    <a:pt x="0" y="2488692"/>
                    <a:pt x="0" y="2241169"/>
                  </a:cubicBezTo>
                  <a:close/>
                </a:path>
              </a:pathLst>
            </a:custGeom>
            <a:solidFill>
              <a:srgbClr val="162033"/>
            </a:solidFill>
            <a:ln w="26691" cap="sq">
              <a:solidFill>
                <a:srgbClr val="33D6A6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3513023" cy="2689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2"/>
                </a:lnSpc>
              </a:pPr>
              <a:r>
                <a:rPr lang="en-US" sz="255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CLEANUP</a:t>
              </a:r>
            </a:p>
            <a:p>
              <a:pPr algn="ctr">
                <a:lnSpc>
                  <a:spcPts val="3062"/>
                </a:lnSpc>
              </a:pPr>
              <a:r>
                <a:rPr lang="en-US" sz="255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Kết thúc sạch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633861" y="6232312"/>
            <a:ext cx="4419238" cy="1467993"/>
            <a:chOff x="0" y="0"/>
            <a:chExt cx="5892317" cy="195732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892419" cy="1957324"/>
            </a:xfrm>
            <a:custGeom>
              <a:avLst/>
              <a:gdLst/>
              <a:ahLst/>
              <a:cxnLst/>
              <a:rect r="r" b="b" t="t" l="l"/>
              <a:pathLst>
                <a:path h="1957324" w="5892419">
                  <a:moveTo>
                    <a:pt x="0" y="326263"/>
                  </a:moveTo>
                  <a:cubicBezTo>
                    <a:pt x="0" y="146050"/>
                    <a:pt x="146050" y="0"/>
                    <a:pt x="326263" y="0"/>
                  </a:cubicBezTo>
                  <a:lnTo>
                    <a:pt x="5566156" y="0"/>
                  </a:lnTo>
                  <a:cubicBezTo>
                    <a:pt x="5746369" y="0"/>
                    <a:pt x="5892419" y="146050"/>
                    <a:pt x="5892419" y="326263"/>
                  </a:cubicBezTo>
                  <a:lnTo>
                    <a:pt x="5892419" y="1631061"/>
                  </a:lnTo>
                  <a:cubicBezTo>
                    <a:pt x="5892419" y="1811274"/>
                    <a:pt x="5746369" y="1957324"/>
                    <a:pt x="5566156" y="1957324"/>
                  </a:cubicBezTo>
                  <a:lnTo>
                    <a:pt x="326263" y="1957324"/>
                  </a:lnTo>
                  <a:cubicBezTo>
                    <a:pt x="146050" y="1957324"/>
                    <a:pt x="0" y="1811274"/>
                    <a:pt x="0" y="1631061"/>
                  </a:cubicBezTo>
                  <a:close/>
                </a:path>
              </a:pathLst>
            </a:custGeom>
            <a:solidFill>
              <a:srgbClr val="162033"/>
            </a:solidFill>
            <a:ln w="26691" cap="sq">
              <a:solidFill>
                <a:srgbClr val="35C2FF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5892317" cy="1957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503"/>
                </a:lnSpc>
              </a:pPr>
              <a:r>
                <a:rPr lang="en-US" sz="3752" b="true">
                  <a:solidFill>
                    <a:srgbClr val="35C2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 SIMPLE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918646" y="6232312"/>
            <a:ext cx="4419238" cy="1467993"/>
            <a:chOff x="0" y="0"/>
            <a:chExt cx="5892317" cy="195732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892419" cy="1957324"/>
            </a:xfrm>
            <a:custGeom>
              <a:avLst/>
              <a:gdLst/>
              <a:ahLst/>
              <a:cxnLst/>
              <a:rect r="r" b="b" t="t" l="l"/>
              <a:pathLst>
                <a:path h="1957324" w="5892419">
                  <a:moveTo>
                    <a:pt x="0" y="326263"/>
                  </a:moveTo>
                  <a:cubicBezTo>
                    <a:pt x="0" y="146050"/>
                    <a:pt x="146050" y="0"/>
                    <a:pt x="326263" y="0"/>
                  </a:cubicBezTo>
                  <a:lnTo>
                    <a:pt x="5566156" y="0"/>
                  </a:lnTo>
                  <a:cubicBezTo>
                    <a:pt x="5746369" y="0"/>
                    <a:pt x="5892419" y="146050"/>
                    <a:pt x="5892419" y="326263"/>
                  </a:cubicBezTo>
                  <a:lnTo>
                    <a:pt x="5892419" y="1631061"/>
                  </a:lnTo>
                  <a:cubicBezTo>
                    <a:pt x="5892419" y="1811274"/>
                    <a:pt x="5746369" y="1957324"/>
                    <a:pt x="5566156" y="1957324"/>
                  </a:cubicBezTo>
                  <a:lnTo>
                    <a:pt x="326263" y="1957324"/>
                  </a:lnTo>
                  <a:cubicBezTo>
                    <a:pt x="146050" y="1957324"/>
                    <a:pt x="0" y="1811274"/>
                    <a:pt x="0" y="1631061"/>
                  </a:cubicBezTo>
                  <a:close/>
                </a:path>
              </a:pathLst>
            </a:custGeom>
            <a:solidFill>
              <a:srgbClr val="162033"/>
            </a:solidFill>
            <a:ln w="26691" cap="sq">
              <a:solidFill>
                <a:srgbClr val="33D6A6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5892317" cy="1957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503"/>
                </a:lnSpc>
              </a:pPr>
              <a:r>
                <a:rPr lang="en-US" sz="3752" b="true">
                  <a:solidFill>
                    <a:srgbClr val="33D6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 MEDIUM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203440" y="6232312"/>
            <a:ext cx="4419238" cy="1467993"/>
            <a:chOff x="0" y="0"/>
            <a:chExt cx="5892317" cy="195732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892419" cy="1957324"/>
            </a:xfrm>
            <a:custGeom>
              <a:avLst/>
              <a:gdLst/>
              <a:ahLst/>
              <a:cxnLst/>
              <a:rect r="r" b="b" t="t" l="l"/>
              <a:pathLst>
                <a:path h="1957324" w="5892419">
                  <a:moveTo>
                    <a:pt x="0" y="326263"/>
                  </a:moveTo>
                  <a:cubicBezTo>
                    <a:pt x="0" y="146050"/>
                    <a:pt x="146050" y="0"/>
                    <a:pt x="326263" y="0"/>
                  </a:cubicBezTo>
                  <a:lnTo>
                    <a:pt x="5566156" y="0"/>
                  </a:lnTo>
                  <a:cubicBezTo>
                    <a:pt x="5746369" y="0"/>
                    <a:pt x="5892419" y="146050"/>
                    <a:pt x="5892419" y="326263"/>
                  </a:cubicBezTo>
                  <a:lnTo>
                    <a:pt x="5892419" y="1631061"/>
                  </a:lnTo>
                  <a:cubicBezTo>
                    <a:pt x="5892419" y="1811274"/>
                    <a:pt x="5746369" y="1957324"/>
                    <a:pt x="5566156" y="1957324"/>
                  </a:cubicBezTo>
                  <a:lnTo>
                    <a:pt x="326263" y="1957324"/>
                  </a:lnTo>
                  <a:cubicBezTo>
                    <a:pt x="146050" y="1957324"/>
                    <a:pt x="0" y="1811274"/>
                    <a:pt x="0" y="1631061"/>
                  </a:cubicBezTo>
                  <a:close/>
                </a:path>
              </a:pathLst>
            </a:custGeom>
            <a:solidFill>
              <a:srgbClr val="162033"/>
            </a:solidFill>
            <a:ln w="26691" cap="sq">
              <a:solidFill>
                <a:srgbClr val="F5B942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5892317" cy="1957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503"/>
                </a:lnSpc>
              </a:pPr>
              <a:r>
                <a:rPr lang="en-US" sz="3752" b="true">
                  <a:solidFill>
                    <a:srgbClr val="F5B94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 HARD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2905420" y="8213122"/>
            <a:ext cx="12445708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>
                <a:solidFill>
                  <a:srgbClr val="A9B5C7"/>
                </a:solidFill>
                <a:latin typeface="Aptos"/>
                <a:ea typeface="Aptos"/>
                <a:cs typeface="Aptos"/>
                <a:sym typeface="Aptos"/>
              </a:rPr>
              <a:t>Success rate đo model thật — không phải unit-test score.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4861" y="9448524"/>
            <a:ext cx="4484208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9B5C7"/>
                </a:solidFill>
                <a:latin typeface="Aptos"/>
                <a:ea typeface="Aptos"/>
                <a:cs typeface="Aptos"/>
                <a:sym typeface="Aptos"/>
              </a:rPr>
              <a:t>Role C · Eval / Infra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6700773" y="9448524"/>
            <a:ext cx="503453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A9B5C7"/>
                </a:solidFill>
                <a:latin typeface="Aptos"/>
                <a:ea typeface="Aptos"/>
                <a:cs typeface="Aptos"/>
                <a:sym typeface="Aptos"/>
              </a:rPr>
              <a:t>13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3675" y="653901"/>
            <a:ext cx="16289188" cy="94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4"/>
              </a:lnSpc>
            </a:pPr>
            <a:r>
              <a:rPr lang="en-US" sz="4953" b="true">
                <a:solidFill>
                  <a:srgbClr val="F4F7FB"/>
                </a:solidFill>
                <a:latin typeface="Aptos Bold"/>
                <a:ea typeface="Aptos Bold"/>
                <a:cs typeface="Aptos Bold"/>
                <a:sym typeface="Aptos Bold"/>
              </a:rPr>
              <a:t>Trajectory giải thích vì sao task PASS hoặc FAIL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2113337"/>
            <a:ext cx="4901584" cy="6274257"/>
            <a:chOff x="0" y="0"/>
            <a:chExt cx="6535445" cy="83656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535420" cy="8365740"/>
            </a:xfrm>
            <a:custGeom>
              <a:avLst/>
              <a:gdLst/>
              <a:ahLst/>
              <a:cxnLst/>
              <a:rect r="r" b="b" t="t" l="l"/>
              <a:pathLst>
                <a:path h="8365740" w="6535420">
                  <a:moveTo>
                    <a:pt x="0" y="1089278"/>
                  </a:moveTo>
                  <a:cubicBezTo>
                    <a:pt x="0" y="487680"/>
                    <a:pt x="487680" y="0"/>
                    <a:pt x="1089279" y="0"/>
                  </a:cubicBezTo>
                  <a:lnTo>
                    <a:pt x="5446141" y="0"/>
                  </a:lnTo>
                  <a:cubicBezTo>
                    <a:pt x="6047740" y="0"/>
                    <a:pt x="6535420" y="487680"/>
                    <a:pt x="6535420" y="1089278"/>
                  </a:cubicBezTo>
                  <a:lnTo>
                    <a:pt x="6535420" y="7276461"/>
                  </a:lnTo>
                  <a:cubicBezTo>
                    <a:pt x="6535420" y="7878059"/>
                    <a:pt x="6047740" y="8365740"/>
                    <a:pt x="5446141" y="8365740"/>
                  </a:cubicBezTo>
                  <a:lnTo>
                    <a:pt x="1089279" y="8365740"/>
                  </a:lnTo>
                  <a:cubicBezTo>
                    <a:pt x="487680" y="8365613"/>
                    <a:pt x="0" y="7877932"/>
                    <a:pt x="0" y="7276461"/>
                  </a:cubicBezTo>
                  <a:close/>
                </a:path>
              </a:pathLst>
            </a:custGeom>
            <a:solidFill>
              <a:srgbClr val="162033"/>
            </a:solidFill>
            <a:ln w="28597" cap="sq">
              <a:solidFill>
                <a:srgbClr val="35C2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6535445" cy="8365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EVALUATOR STRATEGY</a:t>
              </a:r>
            </a:p>
            <a:p>
              <a:pPr algn="ctr">
                <a:lnSpc>
                  <a:spcPts val="3242"/>
                </a:lnSpc>
              </a:pPr>
            </a:p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KeywordEvaluator</a:t>
              </a:r>
            </a:p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Nội dung có từ khóa đúng?</a:t>
              </a:r>
            </a:p>
            <a:p>
              <a:pPr algn="ctr">
                <a:lnSpc>
                  <a:spcPts val="3242"/>
                </a:lnSpc>
              </a:pPr>
            </a:p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FunctionalEvaluator</a:t>
              </a:r>
            </a:p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File và hậu điều kiện có thật?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236122" y="4451652"/>
            <a:ext cx="1185834" cy="842667"/>
            <a:chOff x="0" y="0"/>
            <a:chExt cx="1581112" cy="11235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81150" cy="1123569"/>
            </a:xfrm>
            <a:custGeom>
              <a:avLst/>
              <a:gdLst/>
              <a:ahLst/>
              <a:cxnLst/>
              <a:rect r="r" b="b" t="t" l="l"/>
              <a:pathLst>
                <a:path h="1123569" w="1581150">
                  <a:moveTo>
                    <a:pt x="0" y="280924"/>
                  </a:moveTo>
                  <a:lnTo>
                    <a:pt x="1019302" y="280924"/>
                  </a:lnTo>
                  <a:lnTo>
                    <a:pt x="1019302" y="0"/>
                  </a:lnTo>
                  <a:lnTo>
                    <a:pt x="1581150" y="561721"/>
                  </a:lnTo>
                  <a:lnTo>
                    <a:pt x="1019302" y="1123569"/>
                  </a:lnTo>
                  <a:lnTo>
                    <a:pt x="1019302" y="842645"/>
                  </a:lnTo>
                  <a:lnTo>
                    <a:pt x="0" y="842645"/>
                  </a:lnTo>
                  <a:close/>
                </a:path>
              </a:pathLst>
            </a:custGeom>
            <a:solidFill>
              <a:srgbClr val="35C2FF"/>
            </a:solidFill>
            <a:ln w="19065" cap="sq">
              <a:solidFill>
                <a:srgbClr val="35C2F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7741301" y="2113340"/>
            <a:ext cx="9500035" cy="6274257"/>
            <a:chOff x="0" y="0"/>
            <a:chExt cx="12666713" cy="83656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666726" cy="8365739"/>
            </a:xfrm>
            <a:custGeom>
              <a:avLst/>
              <a:gdLst/>
              <a:ahLst/>
              <a:cxnLst/>
              <a:rect r="r" b="b" t="t" l="l"/>
              <a:pathLst>
                <a:path h="8365739" w="12666726">
                  <a:moveTo>
                    <a:pt x="0" y="1394332"/>
                  </a:moveTo>
                  <a:cubicBezTo>
                    <a:pt x="0" y="624205"/>
                    <a:pt x="624205" y="0"/>
                    <a:pt x="1394333" y="0"/>
                  </a:cubicBezTo>
                  <a:lnTo>
                    <a:pt x="11272393" y="0"/>
                  </a:lnTo>
                  <a:cubicBezTo>
                    <a:pt x="12042394" y="0"/>
                    <a:pt x="12666726" y="624205"/>
                    <a:pt x="12666726" y="1394332"/>
                  </a:cubicBezTo>
                  <a:lnTo>
                    <a:pt x="12666726" y="6971407"/>
                  </a:lnTo>
                  <a:cubicBezTo>
                    <a:pt x="12666726" y="7741407"/>
                    <a:pt x="12042521" y="8365739"/>
                    <a:pt x="11272393" y="8365739"/>
                  </a:cubicBezTo>
                  <a:lnTo>
                    <a:pt x="1394333" y="8365739"/>
                  </a:lnTo>
                  <a:cubicBezTo>
                    <a:pt x="624205" y="8365613"/>
                    <a:pt x="0" y="7741407"/>
                    <a:pt x="0" y="6971407"/>
                  </a:cubicBezTo>
                  <a:close/>
                </a:path>
              </a:pathLst>
            </a:custGeom>
            <a:solidFill>
              <a:srgbClr val="162033"/>
            </a:solidFill>
            <a:ln w="28597" cap="sq">
              <a:solidFill>
                <a:srgbClr val="33D6A6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2666713" cy="8365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TRAJECTORY JSON</a:t>
              </a:r>
            </a:p>
            <a:p>
              <a:pPr algn="ctr">
                <a:lnSpc>
                  <a:spcPts val="3242"/>
                </a:lnSpc>
              </a:pPr>
            </a:p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✓ action và tool name</a:t>
              </a:r>
            </a:p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✓ arguments và result</a:t>
              </a:r>
            </a:p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✓ success và latency</a:t>
              </a:r>
            </a:p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✓ token usage khi provider cung cấp</a:t>
              </a:r>
            </a:p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✓ final answer</a:t>
              </a:r>
            </a:p>
            <a:p>
              <a:pPr algn="ctr">
                <a:lnSpc>
                  <a:spcPts val="3242"/>
                </a:lnSpc>
              </a:pPr>
            </a:p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Final answer được ghi lại nhưng không tính là tool step.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4861" y="9448524"/>
            <a:ext cx="4484208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9B5C7"/>
                </a:solidFill>
                <a:latin typeface="Aptos"/>
                <a:ea typeface="Aptos"/>
                <a:cs typeface="Aptos"/>
                <a:sym typeface="Aptos"/>
              </a:rPr>
              <a:t>Role C · Eval / Infra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700773" y="9448524"/>
            <a:ext cx="503453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A9B5C7"/>
                </a:solidFill>
                <a:latin typeface="Aptos"/>
                <a:ea typeface="Aptos"/>
                <a:cs typeface="Aptos"/>
                <a:sym typeface="Aptos"/>
              </a:rPr>
              <a:t>14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3675" y="653901"/>
            <a:ext cx="14367443" cy="94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F4F7FB"/>
                </a:solidFill>
                <a:latin typeface="Aptos Bold"/>
                <a:ea typeface="Aptos Bold"/>
                <a:cs typeface="Aptos Bold"/>
                <a:sym typeface="Aptos Bold"/>
              </a:rPr>
              <a:t>Hai worker phối hợp qua message queue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15203" y="3074213"/>
            <a:ext cx="3254378" cy="2773947"/>
            <a:chOff x="0" y="0"/>
            <a:chExt cx="4339171" cy="36985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39209" cy="3698621"/>
            </a:xfrm>
            <a:custGeom>
              <a:avLst/>
              <a:gdLst/>
              <a:ahLst/>
              <a:cxnLst/>
              <a:rect r="r" b="b" t="t" l="l"/>
              <a:pathLst>
                <a:path h="3698621" w="4339209">
                  <a:moveTo>
                    <a:pt x="0" y="616458"/>
                  </a:moveTo>
                  <a:cubicBezTo>
                    <a:pt x="0" y="275971"/>
                    <a:pt x="275971" y="0"/>
                    <a:pt x="616458" y="0"/>
                  </a:cubicBezTo>
                  <a:lnTo>
                    <a:pt x="3722751" y="0"/>
                  </a:lnTo>
                  <a:cubicBezTo>
                    <a:pt x="4063238" y="0"/>
                    <a:pt x="4339209" y="275971"/>
                    <a:pt x="4339209" y="616458"/>
                  </a:cubicBezTo>
                  <a:lnTo>
                    <a:pt x="4339209" y="3082163"/>
                  </a:lnTo>
                  <a:cubicBezTo>
                    <a:pt x="4339209" y="3422650"/>
                    <a:pt x="4063238" y="3698621"/>
                    <a:pt x="3722751" y="3698621"/>
                  </a:cubicBezTo>
                  <a:lnTo>
                    <a:pt x="616458" y="3698621"/>
                  </a:lnTo>
                  <a:cubicBezTo>
                    <a:pt x="275971" y="3698621"/>
                    <a:pt x="0" y="3422650"/>
                    <a:pt x="0" y="3082163"/>
                  </a:cubicBezTo>
                  <a:close/>
                </a:path>
              </a:pathLst>
            </a:custGeom>
            <a:solidFill>
              <a:srgbClr val="162033"/>
            </a:solidFill>
            <a:ln w="28597" cap="sq">
              <a:solidFill>
                <a:srgbClr val="35C2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4339171" cy="3698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HarnessRunner</a:t>
              </a:r>
            </a:p>
            <a:p>
              <a:pPr algn="ctr">
                <a:lnSpc>
                  <a:spcPts val="3242"/>
                </a:lnSpc>
              </a:pPr>
            </a:p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Chia task</a:t>
              </a:r>
            </a:p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Tổng hợp report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451652" y="4039848"/>
            <a:ext cx="1254471" cy="774030"/>
            <a:chOff x="0" y="0"/>
            <a:chExt cx="1672628" cy="1032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72590" cy="1032002"/>
            </a:xfrm>
            <a:custGeom>
              <a:avLst/>
              <a:gdLst/>
              <a:ahLst/>
              <a:cxnLst/>
              <a:rect r="r" b="b" t="t" l="l"/>
              <a:pathLst>
                <a:path h="1032002" w="1672590">
                  <a:moveTo>
                    <a:pt x="0" y="258064"/>
                  </a:moveTo>
                  <a:lnTo>
                    <a:pt x="1156589" y="258064"/>
                  </a:lnTo>
                  <a:lnTo>
                    <a:pt x="1156589" y="0"/>
                  </a:lnTo>
                  <a:lnTo>
                    <a:pt x="1672590" y="516001"/>
                  </a:lnTo>
                  <a:lnTo>
                    <a:pt x="1156589" y="1032002"/>
                  </a:lnTo>
                  <a:lnTo>
                    <a:pt x="1156589" y="774065"/>
                  </a:lnTo>
                  <a:lnTo>
                    <a:pt x="0" y="774065"/>
                  </a:lnTo>
                  <a:close/>
                </a:path>
              </a:pathLst>
            </a:custGeom>
            <a:solidFill>
              <a:srgbClr val="35C2FF"/>
            </a:solidFill>
            <a:ln w="19065" cap="sq">
              <a:solidFill>
                <a:srgbClr val="35C2F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5888193" y="2525144"/>
            <a:ext cx="4352515" cy="3872084"/>
            <a:chOff x="0" y="0"/>
            <a:chExt cx="5803354" cy="51627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803265" cy="5162677"/>
            </a:xfrm>
            <a:custGeom>
              <a:avLst/>
              <a:gdLst/>
              <a:ahLst/>
              <a:cxnLst/>
              <a:rect r="r" b="b" t="t" l="l"/>
              <a:pathLst>
                <a:path h="5162677" w="5803265">
                  <a:moveTo>
                    <a:pt x="0" y="860425"/>
                  </a:moveTo>
                  <a:cubicBezTo>
                    <a:pt x="0" y="385191"/>
                    <a:pt x="385191" y="0"/>
                    <a:pt x="860425" y="0"/>
                  </a:cubicBezTo>
                  <a:lnTo>
                    <a:pt x="4942840" y="0"/>
                  </a:lnTo>
                  <a:cubicBezTo>
                    <a:pt x="5418074" y="0"/>
                    <a:pt x="5803265" y="385191"/>
                    <a:pt x="5803265" y="860425"/>
                  </a:cubicBezTo>
                  <a:lnTo>
                    <a:pt x="5803265" y="4302252"/>
                  </a:lnTo>
                  <a:cubicBezTo>
                    <a:pt x="5803265" y="4777486"/>
                    <a:pt x="5418074" y="5162677"/>
                    <a:pt x="4942840" y="5162677"/>
                  </a:cubicBezTo>
                  <a:lnTo>
                    <a:pt x="860425" y="5162677"/>
                  </a:lnTo>
                  <a:cubicBezTo>
                    <a:pt x="385191" y="5162804"/>
                    <a:pt x="0" y="4777486"/>
                    <a:pt x="0" y="4302252"/>
                  </a:cubicBezTo>
                  <a:close/>
                </a:path>
              </a:pathLst>
            </a:custGeom>
            <a:solidFill>
              <a:srgbClr val="162033"/>
            </a:solidFill>
            <a:ln w="28597" cap="sq">
              <a:solidFill>
                <a:srgbClr val="F5B942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5803354" cy="5162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MultiAgentRunner</a:t>
              </a:r>
            </a:p>
            <a:p>
              <a:pPr algn="ctr">
                <a:lnSpc>
                  <a:spcPts val="3242"/>
                </a:lnSpc>
              </a:pPr>
            </a:p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std::queue</a:t>
              </a:r>
            </a:p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mutex</a:t>
              </a:r>
            </a:p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condition_variable</a:t>
              </a:r>
            </a:p>
            <a:p>
              <a:pPr algn="ctr">
                <a:lnSpc>
                  <a:spcPts val="3242"/>
                </a:lnSpc>
              </a:pPr>
            </a:p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stop + join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422779" y="3078985"/>
            <a:ext cx="1117206" cy="705402"/>
            <a:chOff x="0" y="0"/>
            <a:chExt cx="1489608" cy="94053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89583" cy="940562"/>
            </a:xfrm>
            <a:custGeom>
              <a:avLst/>
              <a:gdLst/>
              <a:ahLst/>
              <a:cxnLst/>
              <a:rect r="r" b="b" t="t" l="l"/>
              <a:pathLst>
                <a:path h="940562" w="1489583">
                  <a:moveTo>
                    <a:pt x="0" y="235077"/>
                  </a:moveTo>
                  <a:lnTo>
                    <a:pt x="1019302" y="235077"/>
                  </a:lnTo>
                  <a:lnTo>
                    <a:pt x="1019302" y="0"/>
                  </a:lnTo>
                  <a:lnTo>
                    <a:pt x="1489583" y="470281"/>
                  </a:lnTo>
                  <a:lnTo>
                    <a:pt x="1019302" y="940562"/>
                  </a:lnTo>
                  <a:lnTo>
                    <a:pt x="1019302" y="705358"/>
                  </a:lnTo>
                  <a:lnTo>
                    <a:pt x="0" y="705358"/>
                  </a:lnTo>
                  <a:close/>
                </a:path>
              </a:pathLst>
            </a:custGeom>
            <a:solidFill>
              <a:srgbClr val="33D6A6"/>
            </a:solidFill>
            <a:ln w="19065" cap="sq">
              <a:solidFill>
                <a:srgbClr val="33D6A6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0422779" y="5137985"/>
            <a:ext cx="1117206" cy="705402"/>
            <a:chOff x="0" y="0"/>
            <a:chExt cx="1489608" cy="94053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89583" cy="940562"/>
            </a:xfrm>
            <a:custGeom>
              <a:avLst/>
              <a:gdLst/>
              <a:ahLst/>
              <a:cxnLst/>
              <a:rect r="r" b="b" t="t" l="l"/>
              <a:pathLst>
                <a:path h="940562" w="1489583">
                  <a:moveTo>
                    <a:pt x="0" y="235077"/>
                  </a:moveTo>
                  <a:lnTo>
                    <a:pt x="1019302" y="235077"/>
                  </a:lnTo>
                  <a:lnTo>
                    <a:pt x="1019302" y="0"/>
                  </a:lnTo>
                  <a:lnTo>
                    <a:pt x="1489583" y="470281"/>
                  </a:lnTo>
                  <a:lnTo>
                    <a:pt x="1019302" y="940562"/>
                  </a:lnTo>
                  <a:lnTo>
                    <a:pt x="1019302" y="705358"/>
                  </a:lnTo>
                  <a:lnTo>
                    <a:pt x="0" y="705358"/>
                  </a:lnTo>
                  <a:close/>
                </a:path>
              </a:pathLst>
            </a:custGeom>
            <a:solidFill>
              <a:srgbClr val="35C2FF"/>
            </a:solidFill>
            <a:ln w="19065" cap="sq">
              <a:solidFill>
                <a:srgbClr val="35C2F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1722046" y="2044713"/>
            <a:ext cx="5382016" cy="2293506"/>
            <a:chOff x="0" y="0"/>
            <a:chExt cx="7176021" cy="305800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76008" cy="3058033"/>
            </a:xfrm>
            <a:custGeom>
              <a:avLst/>
              <a:gdLst/>
              <a:ahLst/>
              <a:cxnLst/>
              <a:rect r="r" b="b" t="t" l="l"/>
              <a:pathLst>
                <a:path h="3058033" w="7176008">
                  <a:moveTo>
                    <a:pt x="0" y="509651"/>
                  </a:moveTo>
                  <a:cubicBezTo>
                    <a:pt x="0" y="228219"/>
                    <a:pt x="228219" y="0"/>
                    <a:pt x="509651" y="0"/>
                  </a:cubicBezTo>
                  <a:lnTo>
                    <a:pt x="6666357" y="0"/>
                  </a:lnTo>
                  <a:cubicBezTo>
                    <a:pt x="6947788" y="0"/>
                    <a:pt x="7176008" y="228219"/>
                    <a:pt x="7176008" y="509651"/>
                  </a:cubicBezTo>
                  <a:lnTo>
                    <a:pt x="7176008" y="2548382"/>
                  </a:lnTo>
                  <a:cubicBezTo>
                    <a:pt x="7176008" y="2829814"/>
                    <a:pt x="6947788" y="3058033"/>
                    <a:pt x="6666357" y="3058033"/>
                  </a:cubicBezTo>
                  <a:lnTo>
                    <a:pt x="509651" y="3058033"/>
                  </a:lnTo>
                  <a:cubicBezTo>
                    <a:pt x="228219" y="3058033"/>
                    <a:pt x="0" y="2829814"/>
                    <a:pt x="0" y="2548382"/>
                  </a:cubicBezTo>
                  <a:close/>
                </a:path>
              </a:pathLst>
            </a:custGeom>
            <a:solidFill>
              <a:srgbClr val="162033"/>
            </a:solidFill>
            <a:ln w="28597" cap="sq">
              <a:solidFill>
                <a:srgbClr val="33D6A6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7176021" cy="3058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33D6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CALCULATOR WORKER</a:t>
              </a:r>
            </a:p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33D6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47 × 23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722046" y="4858693"/>
            <a:ext cx="5382016" cy="2293506"/>
            <a:chOff x="0" y="0"/>
            <a:chExt cx="7176021" cy="305800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76008" cy="3058033"/>
            </a:xfrm>
            <a:custGeom>
              <a:avLst/>
              <a:gdLst/>
              <a:ahLst/>
              <a:cxnLst/>
              <a:rect r="r" b="b" t="t" l="l"/>
              <a:pathLst>
                <a:path h="3058033" w="7176008">
                  <a:moveTo>
                    <a:pt x="0" y="509651"/>
                  </a:moveTo>
                  <a:cubicBezTo>
                    <a:pt x="0" y="228219"/>
                    <a:pt x="228219" y="0"/>
                    <a:pt x="509651" y="0"/>
                  </a:cubicBezTo>
                  <a:lnTo>
                    <a:pt x="6666357" y="0"/>
                  </a:lnTo>
                  <a:cubicBezTo>
                    <a:pt x="6947788" y="0"/>
                    <a:pt x="7176008" y="228219"/>
                    <a:pt x="7176008" y="509651"/>
                  </a:cubicBezTo>
                  <a:lnTo>
                    <a:pt x="7176008" y="2548382"/>
                  </a:lnTo>
                  <a:cubicBezTo>
                    <a:pt x="7176008" y="2829814"/>
                    <a:pt x="6947788" y="3058033"/>
                    <a:pt x="6666357" y="3058033"/>
                  </a:cubicBezTo>
                  <a:lnTo>
                    <a:pt x="509651" y="3058033"/>
                  </a:lnTo>
                  <a:cubicBezTo>
                    <a:pt x="228219" y="3058033"/>
                    <a:pt x="0" y="2829814"/>
                    <a:pt x="0" y="2548382"/>
                  </a:cubicBezTo>
                  <a:close/>
                </a:path>
              </a:pathLst>
            </a:custGeom>
            <a:solidFill>
              <a:srgbClr val="162033"/>
            </a:solidFill>
            <a:ln w="28597" cap="sq">
              <a:solidFill>
                <a:srgbClr val="35C2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7176021" cy="3058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35C2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RESEARCHER WORKER</a:t>
              </a:r>
            </a:p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35C2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Tìm thủ đô Nhật Bản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202812" y="7467724"/>
            <a:ext cx="7850924" cy="1056199"/>
            <a:chOff x="0" y="0"/>
            <a:chExt cx="10467899" cy="140826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67848" cy="1408303"/>
            </a:xfrm>
            <a:custGeom>
              <a:avLst/>
              <a:gdLst/>
              <a:ahLst/>
              <a:cxnLst/>
              <a:rect r="r" b="b" t="t" l="l"/>
              <a:pathLst>
                <a:path h="1408303" w="10467848">
                  <a:moveTo>
                    <a:pt x="0" y="234696"/>
                  </a:moveTo>
                  <a:cubicBezTo>
                    <a:pt x="0" y="105029"/>
                    <a:pt x="105029" y="0"/>
                    <a:pt x="234696" y="0"/>
                  </a:cubicBezTo>
                  <a:lnTo>
                    <a:pt x="10233152" y="0"/>
                  </a:lnTo>
                  <a:cubicBezTo>
                    <a:pt x="10362819" y="0"/>
                    <a:pt x="10467848" y="105029"/>
                    <a:pt x="10467848" y="234696"/>
                  </a:cubicBezTo>
                  <a:lnTo>
                    <a:pt x="10467848" y="1173607"/>
                  </a:lnTo>
                  <a:cubicBezTo>
                    <a:pt x="10467848" y="1303274"/>
                    <a:pt x="10362819" y="1408303"/>
                    <a:pt x="10233152" y="1408303"/>
                  </a:cubicBezTo>
                  <a:lnTo>
                    <a:pt x="234696" y="1408303"/>
                  </a:lnTo>
                  <a:cubicBezTo>
                    <a:pt x="105029" y="1408303"/>
                    <a:pt x="0" y="1303147"/>
                    <a:pt x="0" y="1173607"/>
                  </a:cubicBezTo>
                  <a:close/>
                </a:path>
              </a:pathLst>
            </a:custGeom>
            <a:solidFill>
              <a:srgbClr val="162033"/>
            </a:solidFill>
            <a:ln w="26691" cap="sq">
              <a:solidFill>
                <a:srgbClr val="33D6A6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0467899" cy="14082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33D6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Hai kết quả → report; worker failure không biến thành PASS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024861" y="9448524"/>
            <a:ext cx="4484208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9B5C7"/>
                </a:solidFill>
                <a:latin typeface="Aptos"/>
                <a:ea typeface="Aptos"/>
                <a:cs typeface="Aptos"/>
                <a:sym typeface="Aptos"/>
              </a:rPr>
              <a:t>Role C · Eval / Infra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700773" y="9448524"/>
            <a:ext cx="503453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A9B5C7"/>
                </a:solidFill>
                <a:latin typeface="Aptos"/>
                <a:ea typeface="Aptos"/>
                <a:cs typeface="Aptos"/>
                <a:sym typeface="Aptos"/>
              </a:rPr>
              <a:t>15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B1220">
                <a:alpha val="100000"/>
              </a:srgbClr>
            </a:gs>
            <a:gs pos="100000">
              <a:srgbClr val="121B2E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10441" y="559670"/>
            <a:ext cx="10112159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 b="true">
                <a:solidFill>
                  <a:srgbClr val="F4F7FB"/>
                </a:solidFill>
                <a:latin typeface="Aptos Bold"/>
                <a:ea typeface="Aptos Bold"/>
                <a:cs typeface="Aptos Bold"/>
                <a:sym typeface="Aptos Bold"/>
              </a:rPr>
              <a:t>Benchmark 7/10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415989" y="841867"/>
            <a:ext cx="5788247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42"/>
              </a:lnSpc>
            </a:pPr>
            <a:r>
              <a:rPr lang="en-US" sz="2702">
                <a:solidFill>
                  <a:srgbClr val="35C2FF"/>
                </a:solidFill>
                <a:latin typeface="Aptos"/>
                <a:ea typeface="Aptos"/>
                <a:cs typeface="Aptos"/>
                <a:sym typeface="Aptos"/>
              </a:rPr>
              <a:t>Gemini · gemma-4-31b-it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10441" y="2245843"/>
            <a:ext cx="5117020" cy="5048383"/>
            <a:chOff x="0" y="0"/>
            <a:chExt cx="6822694" cy="67311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22694" cy="6731254"/>
            </a:xfrm>
            <a:custGeom>
              <a:avLst/>
              <a:gdLst/>
              <a:ahLst/>
              <a:cxnLst/>
              <a:rect r="r" b="b" t="t" l="l"/>
              <a:pathLst>
                <a:path h="6731254" w="6822694">
                  <a:moveTo>
                    <a:pt x="0" y="1121918"/>
                  </a:moveTo>
                  <a:cubicBezTo>
                    <a:pt x="0" y="502285"/>
                    <a:pt x="502285" y="0"/>
                    <a:pt x="1121918" y="0"/>
                  </a:cubicBezTo>
                  <a:lnTo>
                    <a:pt x="5700776" y="0"/>
                  </a:lnTo>
                  <a:cubicBezTo>
                    <a:pt x="6320409" y="0"/>
                    <a:pt x="6822694" y="502285"/>
                    <a:pt x="6822694" y="1121918"/>
                  </a:cubicBezTo>
                  <a:lnTo>
                    <a:pt x="6822694" y="5609336"/>
                  </a:lnTo>
                  <a:cubicBezTo>
                    <a:pt x="6822694" y="6228969"/>
                    <a:pt x="6320409" y="6731254"/>
                    <a:pt x="5700776" y="6731254"/>
                  </a:cubicBezTo>
                  <a:lnTo>
                    <a:pt x="1121918" y="6731254"/>
                  </a:lnTo>
                  <a:cubicBezTo>
                    <a:pt x="502285" y="6731127"/>
                    <a:pt x="0" y="6228842"/>
                    <a:pt x="0" y="5609336"/>
                  </a:cubicBezTo>
                  <a:close/>
                </a:path>
              </a:pathLst>
            </a:custGeom>
            <a:solidFill>
              <a:srgbClr val="162033"/>
            </a:solidFill>
            <a:ln w="38130" cap="sq">
              <a:solidFill>
                <a:srgbClr val="33D6A6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6822694" cy="67311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404"/>
                </a:lnSpc>
              </a:pPr>
              <a:r>
                <a:rPr lang="en-US" sz="4503" b="true">
                  <a:solidFill>
                    <a:srgbClr val="33D6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7 / 10</a:t>
              </a:r>
            </a:p>
            <a:p>
              <a:pPr algn="ctr">
                <a:lnSpc>
                  <a:spcPts val="5404"/>
                </a:lnSpc>
              </a:pPr>
            </a:p>
            <a:p>
              <a:pPr algn="ctr">
                <a:lnSpc>
                  <a:spcPts val="5404"/>
                </a:lnSpc>
              </a:pPr>
              <a:r>
                <a:rPr lang="en-US" sz="4503" b="true">
                  <a:solidFill>
                    <a:srgbClr val="33D6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FINAL PASS</a:t>
              </a:r>
            </a:p>
            <a:p>
              <a:pPr algn="ctr">
                <a:lnSpc>
                  <a:spcPts val="5404"/>
                </a:lnSpc>
              </a:pPr>
              <a:r>
                <a:rPr lang="en-US" sz="4503" b="true">
                  <a:solidFill>
                    <a:srgbClr val="33D6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70%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569764" y="2245843"/>
            <a:ext cx="5117020" cy="5048383"/>
            <a:chOff x="0" y="0"/>
            <a:chExt cx="6822694" cy="67311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22694" cy="6731254"/>
            </a:xfrm>
            <a:custGeom>
              <a:avLst/>
              <a:gdLst/>
              <a:ahLst/>
              <a:cxnLst/>
              <a:rect r="r" b="b" t="t" l="l"/>
              <a:pathLst>
                <a:path h="6731254" w="6822694">
                  <a:moveTo>
                    <a:pt x="0" y="1121918"/>
                  </a:moveTo>
                  <a:cubicBezTo>
                    <a:pt x="0" y="502285"/>
                    <a:pt x="502285" y="0"/>
                    <a:pt x="1121918" y="0"/>
                  </a:cubicBezTo>
                  <a:lnTo>
                    <a:pt x="5700776" y="0"/>
                  </a:lnTo>
                  <a:cubicBezTo>
                    <a:pt x="6320409" y="0"/>
                    <a:pt x="6822694" y="502285"/>
                    <a:pt x="6822694" y="1121918"/>
                  </a:cubicBezTo>
                  <a:lnTo>
                    <a:pt x="6822694" y="5609336"/>
                  </a:lnTo>
                  <a:cubicBezTo>
                    <a:pt x="6822694" y="6228969"/>
                    <a:pt x="6320409" y="6731254"/>
                    <a:pt x="5700776" y="6731254"/>
                  </a:cubicBezTo>
                  <a:lnTo>
                    <a:pt x="1121918" y="6731254"/>
                  </a:lnTo>
                  <a:cubicBezTo>
                    <a:pt x="502285" y="6731127"/>
                    <a:pt x="0" y="6228842"/>
                    <a:pt x="0" y="5609336"/>
                  </a:cubicBezTo>
                  <a:close/>
                </a:path>
              </a:pathLst>
            </a:custGeom>
            <a:solidFill>
              <a:srgbClr val="162033"/>
            </a:solidFill>
            <a:ln w="38130" cap="sq">
              <a:solidFill>
                <a:srgbClr val="35C2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6822694" cy="67311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3"/>
                </a:lnSpc>
              </a:pPr>
              <a:r>
                <a:rPr lang="en-US" sz="4203" b="true">
                  <a:solidFill>
                    <a:srgbClr val="35C2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70%</a:t>
              </a:r>
            </a:p>
            <a:p>
              <a:pPr algn="ctr">
                <a:lnSpc>
                  <a:spcPts val="5043"/>
                </a:lnSpc>
              </a:pPr>
            </a:p>
            <a:p>
              <a:pPr algn="ctr">
                <a:lnSpc>
                  <a:spcPts val="5043"/>
                </a:lnSpc>
              </a:pPr>
              <a:r>
                <a:rPr lang="en-US" sz="4203" b="true">
                  <a:solidFill>
                    <a:srgbClr val="35C2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EVALUATOR</a:t>
              </a:r>
            </a:p>
            <a:p>
              <a:pPr algn="ctr">
                <a:lnSpc>
                  <a:spcPts val="5043"/>
                </a:lnSpc>
              </a:pPr>
              <a:r>
                <a:rPr lang="en-US" sz="4203" b="true">
                  <a:solidFill>
                    <a:srgbClr val="35C2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SCORE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129087" y="2245843"/>
            <a:ext cx="5117020" cy="5048383"/>
            <a:chOff x="0" y="0"/>
            <a:chExt cx="6822694" cy="673117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22694" cy="6731254"/>
            </a:xfrm>
            <a:custGeom>
              <a:avLst/>
              <a:gdLst/>
              <a:ahLst/>
              <a:cxnLst/>
              <a:rect r="r" b="b" t="t" l="l"/>
              <a:pathLst>
                <a:path h="6731254" w="6822694">
                  <a:moveTo>
                    <a:pt x="0" y="1121918"/>
                  </a:moveTo>
                  <a:cubicBezTo>
                    <a:pt x="0" y="502285"/>
                    <a:pt x="502285" y="0"/>
                    <a:pt x="1121918" y="0"/>
                  </a:cubicBezTo>
                  <a:lnTo>
                    <a:pt x="5700776" y="0"/>
                  </a:lnTo>
                  <a:cubicBezTo>
                    <a:pt x="6320409" y="0"/>
                    <a:pt x="6822694" y="502285"/>
                    <a:pt x="6822694" y="1121918"/>
                  </a:cubicBezTo>
                  <a:lnTo>
                    <a:pt x="6822694" y="5609336"/>
                  </a:lnTo>
                  <a:cubicBezTo>
                    <a:pt x="6822694" y="6228969"/>
                    <a:pt x="6320409" y="6731254"/>
                    <a:pt x="5700776" y="6731254"/>
                  </a:cubicBezTo>
                  <a:lnTo>
                    <a:pt x="1121918" y="6731254"/>
                  </a:lnTo>
                  <a:cubicBezTo>
                    <a:pt x="502285" y="6731127"/>
                    <a:pt x="0" y="6228842"/>
                    <a:pt x="0" y="5609336"/>
                  </a:cubicBezTo>
                  <a:close/>
                </a:path>
              </a:pathLst>
            </a:custGeom>
            <a:solidFill>
              <a:srgbClr val="162033"/>
            </a:solidFill>
            <a:ln w="38130" cap="sq">
              <a:solidFill>
                <a:srgbClr val="F5B94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6822694" cy="67311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3"/>
                </a:lnSpc>
              </a:pPr>
              <a:r>
                <a:rPr lang="en-US" sz="4203" b="true">
                  <a:solidFill>
                    <a:srgbClr val="F5B94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90%</a:t>
              </a:r>
            </a:p>
            <a:p>
              <a:pPr algn="ctr">
                <a:lnSpc>
                  <a:spcPts val="5043"/>
                </a:lnSpc>
              </a:pPr>
            </a:p>
            <a:p>
              <a:pPr algn="ctr">
                <a:lnSpc>
                  <a:spcPts val="5043"/>
                </a:lnSpc>
              </a:pPr>
              <a:r>
                <a:rPr lang="en-US" sz="4203" b="true">
                  <a:solidFill>
                    <a:srgbClr val="F5B94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ACTION-LEVEL</a:t>
              </a:r>
            </a:p>
            <a:p>
              <a:pPr algn="ctr">
                <a:lnSpc>
                  <a:spcPts val="5043"/>
                </a:lnSpc>
              </a:pPr>
              <a:r>
                <a:rPr lang="en-US" sz="4203" b="true">
                  <a:solidFill>
                    <a:srgbClr val="F5B94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SCORE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18070" y="7744158"/>
            <a:ext cx="16494947" cy="1011203"/>
            <a:chOff x="0" y="0"/>
            <a:chExt cx="21993263" cy="13482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93225" cy="1348232"/>
            </a:xfrm>
            <a:custGeom>
              <a:avLst/>
              <a:gdLst/>
              <a:ahLst/>
              <a:cxnLst/>
              <a:rect r="r" b="b" t="t" l="l"/>
              <a:pathLst>
                <a:path h="1348232" w="21993225">
                  <a:moveTo>
                    <a:pt x="0" y="224663"/>
                  </a:moveTo>
                  <a:cubicBezTo>
                    <a:pt x="0" y="100584"/>
                    <a:pt x="100584" y="0"/>
                    <a:pt x="224663" y="0"/>
                  </a:cubicBezTo>
                  <a:lnTo>
                    <a:pt x="21768563" y="0"/>
                  </a:lnTo>
                  <a:cubicBezTo>
                    <a:pt x="21892642" y="0"/>
                    <a:pt x="21993225" y="100584"/>
                    <a:pt x="21993225" y="224663"/>
                  </a:cubicBezTo>
                  <a:lnTo>
                    <a:pt x="21993225" y="1123569"/>
                  </a:lnTo>
                  <a:cubicBezTo>
                    <a:pt x="21993225" y="1247648"/>
                    <a:pt x="21892642" y="1348232"/>
                    <a:pt x="21768563" y="1348232"/>
                  </a:cubicBezTo>
                  <a:lnTo>
                    <a:pt x="224663" y="1348232"/>
                  </a:lnTo>
                  <a:cubicBezTo>
                    <a:pt x="100584" y="1348232"/>
                    <a:pt x="0" y="1247648"/>
                    <a:pt x="0" y="1123569"/>
                  </a:cubicBezTo>
                  <a:close/>
                </a:path>
              </a:pathLst>
            </a:custGeom>
            <a:solidFill>
              <a:srgbClr val="162033"/>
            </a:solidFill>
            <a:ln w="22878" cap="sq">
              <a:solidFill>
                <a:srgbClr val="35C2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1993263" cy="13482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run_20260820_002933_100  ·  source: llm  ·  không dùng fixture fallback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4861" y="9448524"/>
            <a:ext cx="4484208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9B5C7"/>
                </a:solidFill>
                <a:latin typeface="Aptos"/>
                <a:ea typeface="Aptos"/>
                <a:cs typeface="Aptos"/>
                <a:sym typeface="Aptos"/>
              </a:rPr>
              <a:t>Role C · Eval / Infra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700773" y="9448524"/>
            <a:ext cx="503453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A9B5C7"/>
                </a:solidFill>
                <a:latin typeface="Aptos"/>
                <a:ea typeface="Aptos"/>
                <a:cs typeface="Aptos"/>
                <a:sym typeface="Aptos"/>
              </a:rPr>
              <a:t>16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B1220">
                <a:alpha val="100000"/>
              </a:srgbClr>
            </a:gs>
            <a:gs pos="100000">
              <a:srgbClr val="162033">
                <a:alpha val="100000"/>
              </a:srgbClr>
            </a:gs>
          </a:gsLst>
          <a:lin ang="7161465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20940" y="937955"/>
            <a:ext cx="16014659" cy="107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5"/>
              </a:lnSpc>
            </a:pPr>
            <a:r>
              <a:rPr lang="en-US" sz="5404" b="true">
                <a:solidFill>
                  <a:srgbClr val="F4F7FB"/>
                </a:solidFill>
                <a:latin typeface="Aptos Bold"/>
                <a:ea typeface="Aptos Bold"/>
                <a:cs typeface="Aptos Bold"/>
                <a:sym typeface="Aptos Bold"/>
              </a:rPr>
              <a:t>Requirement kỹ thuật đã có bằng chứng kiểm thử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50563" y="2729141"/>
            <a:ext cx="5042668" cy="2160051"/>
            <a:chOff x="0" y="0"/>
            <a:chExt cx="6723558" cy="28800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23634" cy="2880106"/>
            </a:xfrm>
            <a:custGeom>
              <a:avLst/>
              <a:gdLst/>
              <a:ahLst/>
              <a:cxnLst/>
              <a:rect r="r" b="b" t="t" l="l"/>
              <a:pathLst>
                <a:path h="2880106" w="6723634">
                  <a:moveTo>
                    <a:pt x="0" y="480060"/>
                  </a:moveTo>
                  <a:cubicBezTo>
                    <a:pt x="0" y="214884"/>
                    <a:pt x="214884" y="0"/>
                    <a:pt x="480060" y="0"/>
                  </a:cubicBezTo>
                  <a:lnTo>
                    <a:pt x="6243574" y="0"/>
                  </a:lnTo>
                  <a:cubicBezTo>
                    <a:pt x="6508623" y="0"/>
                    <a:pt x="6723634" y="214884"/>
                    <a:pt x="6723634" y="480060"/>
                  </a:cubicBezTo>
                  <a:lnTo>
                    <a:pt x="6723634" y="2400046"/>
                  </a:lnTo>
                  <a:cubicBezTo>
                    <a:pt x="6723634" y="2665095"/>
                    <a:pt x="6508750" y="2880106"/>
                    <a:pt x="6243574" y="2880106"/>
                  </a:cubicBezTo>
                  <a:lnTo>
                    <a:pt x="480060" y="2880106"/>
                  </a:lnTo>
                  <a:cubicBezTo>
                    <a:pt x="215011" y="2880106"/>
                    <a:pt x="0" y="2665222"/>
                    <a:pt x="0" y="2400046"/>
                  </a:cubicBezTo>
                  <a:close/>
                </a:path>
              </a:pathLst>
            </a:custGeom>
            <a:solidFill>
              <a:srgbClr val="162033"/>
            </a:solidFill>
            <a:ln w="32410" cap="sq">
              <a:solidFill>
                <a:srgbClr val="33D6A6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6723558" cy="28800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503"/>
                </a:lnSpc>
              </a:pPr>
              <a:r>
                <a:rPr lang="en-US" sz="3752" b="true">
                  <a:solidFill>
                    <a:srgbClr val="33D6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CTest</a:t>
              </a:r>
            </a:p>
            <a:p>
              <a:pPr algn="ctr">
                <a:lnSpc>
                  <a:spcPts val="4503"/>
                </a:lnSpc>
              </a:pPr>
              <a:r>
                <a:rPr lang="en-US" sz="3752" b="true">
                  <a:solidFill>
                    <a:srgbClr val="33D6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 / 5 PASS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41259" y="2729141"/>
            <a:ext cx="5042668" cy="2160051"/>
            <a:chOff x="0" y="0"/>
            <a:chExt cx="6723558" cy="28800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723634" cy="2880106"/>
            </a:xfrm>
            <a:custGeom>
              <a:avLst/>
              <a:gdLst/>
              <a:ahLst/>
              <a:cxnLst/>
              <a:rect r="r" b="b" t="t" l="l"/>
              <a:pathLst>
                <a:path h="2880106" w="6723634">
                  <a:moveTo>
                    <a:pt x="0" y="480060"/>
                  </a:moveTo>
                  <a:cubicBezTo>
                    <a:pt x="0" y="214884"/>
                    <a:pt x="214884" y="0"/>
                    <a:pt x="480060" y="0"/>
                  </a:cubicBezTo>
                  <a:lnTo>
                    <a:pt x="6243574" y="0"/>
                  </a:lnTo>
                  <a:cubicBezTo>
                    <a:pt x="6508623" y="0"/>
                    <a:pt x="6723634" y="214884"/>
                    <a:pt x="6723634" y="480060"/>
                  </a:cubicBezTo>
                  <a:lnTo>
                    <a:pt x="6723634" y="2400046"/>
                  </a:lnTo>
                  <a:cubicBezTo>
                    <a:pt x="6723634" y="2665095"/>
                    <a:pt x="6508750" y="2880106"/>
                    <a:pt x="6243574" y="2880106"/>
                  </a:cubicBezTo>
                  <a:lnTo>
                    <a:pt x="480060" y="2880106"/>
                  </a:lnTo>
                  <a:cubicBezTo>
                    <a:pt x="215011" y="2880106"/>
                    <a:pt x="0" y="2665222"/>
                    <a:pt x="0" y="2400046"/>
                  </a:cubicBezTo>
                  <a:close/>
                </a:path>
              </a:pathLst>
            </a:custGeom>
            <a:solidFill>
              <a:srgbClr val="162033"/>
            </a:solidFill>
            <a:ln w="32410" cap="sq">
              <a:solidFill>
                <a:srgbClr val="35C2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6723558" cy="28800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43"/>
                </a:lnSpc>
              </a:pPr>
              <a:r>
                <a:rPr lang="en-US" sz="3452" b="true">
                  <a:solidFill>
                    <a:srgbClr val="35C2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Vector</a:t>
              </a:r>
            </a:p>
            <a:p>
              <a:pPr algn="ctr">
                <a:lnSpc>
                  <a:spcPts val="4143"/>
                </a:lnSpc>
              </a:pPr>
              <a:r>
                <a:rPr lang="en-US" sz="3452" b="true">
                  <a:solidFill>
                    <a:srgbClr val="35C2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Live acceptance PASS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31945" y="2729141"/>
            <a:ext cx="5042668" cy="2160051"/>
            <a:chOff x="0" y="0"/>
            <a:chExt cx="6723558" cy="28800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23634" cy="2880106"/>
            </a:xfrm>
            <a:custGeom>
              <a:avLst/>
              <a:gdLst/>
              <a:ahLst/>
              <a:cxnLst/>
              <a:rect r="r" b="b" t="t" l="l"/>
              <a:pathLst>
                <a:path h="2880106" w="6723634">
                  <a:moveTo>
                    <a:pt x="0" y="480060"/>
                  </a:moveTo>
                  <a:cubicBezTo>
                    <a:pt x="0" y="214884"/>
                    <a:pt x="214884" y="0"/>
                    <a:pt x="480060" y="0"/>
                  </a:cubicBezTo>
                  <a:lnTo>
                    <a:pt x="6243574" y="0"/>
                  </a:lnTo>
                  <a:cubicBezTo>
                    <a:pt x="6508623" y="0"/>
                    <a:pt x="6723634" y="214884"/>
                    <a:pt x="6723634" y="480060"/>
                  </a:cubicBezTo>
                  <a:lnTo>
                    <a:pt x="6723634" y="2400046"/>
                  </a:lnTo>
                  <a:cubicBezTo>
                    <a:pt x="6723634" y="2665095"/>
                    <a:pt x="6508750" y="2880106"/>
                    <a:pt x="6243574" y="2880106"/>
                  </a:cubicBezTo>
                  <a:lnTo>
                    <a:pt x="480060" y="2880106"/>
                  </a:lnTo>
                  <a:cubicBezTo>
                    <a:pt x="215011" y="2880106"/>
                    <a:pt x="0" y="2665222"/>
                    <a:pt x="0" y="2400046"/>
                  </a:cubicBezTo>
                  <a:close/>
                </a:path>
              </a:pathLst>
            </a:custGeom>
            <a:solidFill>
              <a:srgbClr val="162033"/>
            </a:solidFill>
            <a:ln w="32410" cap="sq">
              <a:solidFill>
                <a:srgbClr val="F5B942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6723558" cy="28800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43"/>
                </a:lnSpc>
              </a:pPr>
              <a:r>
                <a:rPr lang="en-US" sz="3452" b="true">
                  <a:solidFill>
                    <a:srgbClr val="F5B94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Multi-agent</a:t>
              </a:r>
            </a:p>
            <a:p>
              <a:pPr algn="ctr">
                <a:lnSpc>
                  <a:spcPts val="4143"/>
                </a:lnSpc>
              </a:pPr>
              <a:r>
                <a:rPr lang="en-US" sz="3452" b="true">
                  <a:solidFill>
                    <a:srgbClr val="F5B94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Focused test PASS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738646" y="6016847"/>
            <a:ext cx="14779247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3"/>
              </a:lnSpc>
            </a:pPr>
            <a:r>
              <a:rPr lang="en-US" sz="3452" b="true">
                <a:solidFill>
                  <a:srgbClr val="F4F7FB"/>
                </a:solidFill>
                <a:latin typeface="Aptos Bold"/>
                <a:ea typeface="Aptos Bold"/>
                <a:cs typeface="Aptos Bold"/>
                <a:sym typeface="Aptos Bold"/>
              </a:rPr>
              <a:t>4 design patterns  ·  4 Mermaid diagrams  ·  Benchmark thật 7/10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4861" y="9448524"/>
            <a:ext cx="4484208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9B5C7"/>
                </a:solidFill>
                <a:latin typeface="Aptos"/>
                <a:ea typeface="Aptos"/>
                <a:cs typeface="Aptos"/>
                <a:sym typeface="Aptos"/>
              </a:rPr>
              <a:t>Role C · Eval / Infra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700773" y="9448524"/>
            <a:ext cx="503453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A9B5C7"/>
                </a:solidFill>
                <a:latin typeface="Aptos"/>
                <a:ea typeface="Aptos"/>
                <a:cs typeface="Aptos"/>
                <a:sym typeface="Aptos"/>
              </a:rPr>
              <a:t>17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B1220">
                <a:alpha val="100000"/>
              </a:srgbClr>
            </a:gs>
            <a:gs pos="55000">
              <a:srgbClr val="162033">
                <a:alpha val="100000"/>
              </a:srgbClr>
            </a:gs>
            <a:gs pos="100000">
              <a:srgbClr val="0B1220">
                <a:alpha val="100000"/>
              </a:srgbClr>
            </a:gs>
          </a:gsLst>
          <a:lin ang="7161465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82201" y="6647926"/>
            <a:ext cx="4411618" cy="4411618"/>
            <a:chOff x="0" y="0"/>
            <a:chExt cx="5882157" cy="58821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82132" cy="5882132"/>
            </a:xfrm>
            <a:custGeom>
              <a:avLst/>
              <a:gdLst/>
              <a:ahLst/>
              <a:cxnLst/>
              <a:rect r="r" b="b" t="t" l="l"/>
              <a:pathLst>
                <a:path h="5882132" w="5882132">
                  <a:moveTo>
                    <a:pt x="0" y="2941066"/>
                  </a:moveTo>
                  <a:cubicBezTo>
                    <a:pt x="0" y="1316736"/>
                    <a:pt x="1316736" y="0"/>
                    <a:pt x="2941066" y="0"/>
                  </a:cubicBezTo>
                  <a:cubicBezTo>
                    <a:pt x="4565396" y="0"/>
                    <a:pt x="5882132" y="1316736"/>
                    <a:pt x="5882132" y="2941066"/>
                  </a:cubicBezTo>
                  <a:cubicBezTo>
                    <a:pt x="5882132" y="4565396"/>
                    <a:pt x="4565396" y="5882132"/>
                    <a:pt x="2941066" y="5882132"/>
                  </a:cubicBezTo>
                  <a:cubicBezTo>
                    <a:pt x="1316736" y="5882132"/>
                    <a:pt x="0" y="4565396"/>
                    <a:pt x="0" y="294106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5C2FF">
                    <a:alpha val="100000"/>
                  </a:srgbClr>
                </a:gs>
                <a:gs pos="100000">
                  <a:srgbClr val="33D6A6">
                    <a:alpha val="100000"/>
                  </a:srgbClr>
                </a:gs>
              </a:gsLst>
              <a:lin ang="2700000"/>
            </a:gradFill>
            <a:ln w="19065" cap="sq">
              <a:solidFill>
                <a:srgbClr val="35C2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5707563" y="-1588103"/>
            <a:ext cx="4274353" cy="4274353"/>
            <a:chOff x="0" y="0"/>
            <a:chExt cx="5699138" cy="56991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99125" cy="5699125"/>
            </a:xfrm>
            <a:custGeom>
              <a:avLst/>
              <a:gdLst/>
              <a:ahLst/>
              <a:cxnLst/>
              <a:rect r="r" b="b" t="t" l="l"/>
              <a:pathLst>
                <a:path h="5699125" w="5699125">
                  <a:moveTo>
                    <a:pt x="0" y="2849626"/>
                  </a:moveTo>
                  <a:cubicBezTo>
                    <a:pt x="0" y="1275842"/>
                    <a:pt x="1275842" y="0"/>
                    <a:pt x="2849626" y="0"/>
                  </a:cubicBezTo>
                  <a:cubicBezTo>
                    <a:pt x="4423410" y="0"/>
                    <a:pt x="5699125" y="1275842"/>
                    <a:pt x="5699125" y="2849626"/>
                  </a:cubicBezTo>
                  <a:cubicBezTo>
                    <a:pt x="5699125" y="4423410"/>
                    <a:pt x="4423283" y="5699125"/>
                    <a:pt x="2849626" y="5699125"/>
                  </a:cubicBezTo>
                  <a:cubicBezTo>
                    <a:pt x="1275969" y="5699125"/>
                    <a:pt x="0" y="4423283"/>
                    <a:pt x="0" y="284962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5B942">
                    <a:alpha val="100000"/>
                  </a:srgbClr>
                </a:gs>
                <a:gs pos="100000">
                  <a:srgbClr val="35C2FF">
                    <a:alpha val="100000"/>
                  </a:srgbClr>
                </a:gs>
              </a:gsLst>
              <a:lin ang="8100000"/>
            </a:gradFill>
            <a:ln w="19065" cap="sq">
              <a:solidFill>
                <a:srgbClr val="F5B942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994592" y="4529138"/>
            <a:ext cx="14298816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27"/>
              </a:lnSpc>
            </a:pPr>
            <a:r>
              <a:rPr lang="en-US" sz="8106" b="true">
                <a:solidFill>
                  <a:srgbClr val="F4F7FB"/>
                </a:solidFill>
                <a:latin typeface="Aptos Bold"/>
                <a:ea typeface="Aptos Bold"/>
                <a:cs typeface="Aptos Bold"/>
                <a:sym typeface="Aptos Bold"/>
              </a:rPr>
              <a:t>THANK YOU FOR LISTENING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00773" y="9448524"/>
            <a:ext cx="503453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A9B5C7"/>
                </a:solidFill>
                <a:latin typeface="Aptos"/>
                <a:ea typeface="Aptos"/>
                <a:cs typeface="Aptos"/>
                <a:sym typeface="Aptos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DAHS09mf6xs</dc:identifier>
  <dcterms:modified xsi:type="dcterms:W3CDTF">2011-08-01T06:04:30Z</dcterms:modified>
  <cp:revision>1</cp:revision>
  <dc:title>AI_Agent_Framework_Presentation.pptx</dc:title>
</cp:coreProperties>
</file>